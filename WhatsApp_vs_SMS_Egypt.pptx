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Monthly Cost (EGP)</c:v>
                </c:pt>
              </c:strCache>
            </c:strRef>
          </c:tx>
          <c:spPr>
            <a:solidFill>
              <a:srgbClr val="C0392B"/>
            </a:solidFill>
            <a:effectLst/>
          </c:spPr>
          <c:invertIfNegative val="0"/>
          <c:dLbls>
            <c:numFmt formatCode="#,##0" sourceLinked="0"/>
            <c:txPr>
              <a:bodyPr/>
              <a:lstStyle/>
              <a:p>
                <a:pPr>
                  <a:defRPr b="1" i="0" strike="noStrike" sz="1000" u="none">
                    <a:solidFill>
                      <a:srgbClr val="1A2B2C"/>
                    </a:solidFill>
                    <a:latin typeface="Arial"/>
                  </a:defRPr>
                </a:pPr>
              </a:p>
            </c:txPr>
            <c:showLegendKey val="0"/>
            <c:showVal val="1"/>
            <c:showCatName val="0"/>
            <c:showSerName val="0"/>
            <c:showPercent val="0"/>
            <c:showBubbleSize val="0"/>
            <c:showLeaderLines val="0"/>
          </c:dLbls>
          <c:dPt>
            <c:idx val="0"/>
            <c:invertIfNegative val="0"/>
            <c:bubble3D val="0"/>
            <c:spPr>
              <a:solidFill>
                <a:srgbClr val="C0392B"/>
              </a:solidFill>
              <a:effectLst/>
            </c:spPr>
          </c:dPt>
          <c:dPt>
            <c:idx val="1"/>
            <c:invertIfNegative val="0"/>
            <c:bubble3D val="0"/>
            <c:spPr>
              <a:solidFill>
                <a:srgbClr val="27AE60"/>
              </a:solidFill>
              <a:effectLst/>
            </c:spPr>
          </c:dPt>
          <c:dPt>
            <c:idx val="2"/>
            <c:invertIfNegative val="0"/>
            <c:bubble3D val="0"/>
            <c:spPr>
              <a:solidFill>
                <a:srgbClr val="028090"/>
              </a:solidFill>
              <a:effectLst/>
            </c:spPr>
          </c:dPt>
          <c:dPt>
            <c:idx val="3"/>
            <c:invertIfNegative val="0"/>
            <c:bubble3D val="0"/>
            <c:spPr>
              <a:solidFill>
                <a:srgbClr val="0E6B78"/>
              </a:solidFill>
              <a:effectLst/>
            </c:spPr>
          </c:dPt>
          <c:dPt>
            <c:idx val="4"/>
            <c:invertIfNegative val="0"/>
            <c:bubble3D val="0"/>
            <c:spPr>
              <a:solidFill>
                <a:srgbClr val="E67E22"/>
              </a:solidFill>
              <a:effectLst/>
            </c:spPr>
          </c:dPt>
          <c:dPt>
            <c:idx val="5"/>
            <c:invertIfNegative val="0"/>
            <c:bubble3D val="0"/>
            <c:spPr>
              <a:solidFill>
                <a:srgbClr val="64748B"/>
              </a:solidFill>
              <a:effectLst/>
            </c:spPr>
          </c:dPt>
          <c:cat>
            <c:multiLvlStrRef>
              <c:f>Sheet1!$A$2:$A$7</c:f>
              <c:multiLvlStrCache>
                <c:ptCount val="6"/>
                <c:lvl>
                  <c:pt idx="0">
                    <c:v>SMS Misr
(Current)</c:v>
                  </c:pt>
                  <c:pt idx="1">
                    <c:v>Meta Cloud
API ✓</c:v>
                  </c:pt>
                  <c:pt idx="2">
                    <c:v>360dialog</c:v>
                  </c:pt>
                  <c:pt idx="3">
                    <c:v>WATI</c:v>
                  </c:pt>
                  <c:pt idx="4">
                    <c:v>Twilio</c:v>
                  </c:pt>
                  <c:pt idx="5">
                    <c:v>Self-hosted
(Unofficial)</c:v>
                  </c:pt>
                </c:lvl>
              </c:multiLvlStrCache>
            </c:multiLvlStrRef>
          </c:cat>
          <c:val>
            <c:numRef>
              <c:f>Sheet1!$B$2:$B$7</c:f>
              <c:numCache>
                <c:formatCode>General</c:formatCode>
                <c:ptCount val="6"/>
                <c:pt idx="0">
                  <c:v>9000</c:v>
                </c:pt>
                <c:pt idx="1">
                  <c:v>3700</c:v>
                </c:pt>
                <c:pt idx="2">
                  <c:v>5650</c:v>
                </c:pt>
                <c:pt idx="3">
                  <c:v>5700</c:v>
                </c:pt>
                <c:pt idx="4">
                  <c:v>6450</c:v>
                </c:pt>
                <c:pt idx="5">
                  <c:v>1000</c:v>
                </c:pt>
              </c:numCache>
            </c:numRef>
          </c:val>
        </c:ser>
        <c:dLbls>
          <c:numFmt formatCode="#,##0" sourceLinked="0"/>
          <c:txPr>
            <a:bodyPr/>
            <a:lstStyle/>
            <a:p>
              <a:pPr>
                <a:defRPr b="1" i="0" strike="noStrike" sz="1000" u="none">
                  <a:solidFill>
                    <a:srgbClr val="1A2B2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0000"/>
        </c:scaling>
        <c:delete val="0"/>
        <c:axPos val="l"/>
        <c:majorGridlines>
          <c:spPr>
            <a:ln w="6350" cap="flat">
              <a:solidFill>
                <a:srgbClr val="E2E8F0"/>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EGP / Month</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1C1E"/>
        </a:solidFill>
      </p:bgPr>
    </p:bg>
    <p:spTree>
      <p:nvGrpSpPr>
        <p:cNvPr id="1" name=""/>
        <p:cNvGrpSpPr/>
        <p:nvPr/>
      </p:nvGrpSpPr>
      <p:grpSpPr>
        <a:xfrm>
          <a:off x="0" y="0"/>
          <a:ext cx="0" cy="0"/>
          <a:chOff x="0" y="0"/>
          <a:chExt cx="0" cy="0"/>
        </a:xfrm>
      </p:grpSpPr>
      <p:sp>
        <p:nvSpPr>
          <p:cNvPr id="2" name="Shape 0"/>
          <p:cNvSpPr/>
          <p:nvPr/>
        </p:nvSpPr>
        <p:spPr>
          <a:xfrm>
            <a:off x="6675120" y="0"/>
            <a:ext cx="1371600" cy="5143500"/>
          </a:xfrm>
          <a:prstGeom prst="rect">
            <a:avLst/>
          </a:prstGeom>
          <a:solidFill>
            <a:srgbClr val="028090">
              <a:alpha val="35000"/>
            </a:srgbClr>
          </a:solidFill>
          <a:ln w="12700">
            <a:solidFill>
              <a:srgbClr val="028090">
                <a:alpha val="35000"/>
              </a:srgbClr>
            </a:solidFill>
            <a:prstDash val="solid"/>
          </a:ln>
        </p:spPr>
      </p:sp>
      <p:sp>
        <p:nvSpPr>
          <p:cNvPr id="3" name="Shape 1"/>
          <p:cNvSpPr/>
          <p:nvPr/>
        </p:nvSpPr>
        <p:spPr>
          <a:xfrm>
            <a:off x="8046720" y="0"/>
            <a:ext cx="1097280" cy="5143500"/>
          </a:xfrm>
          <a:prstGeom prst="rect">
            <a:avLst/>
          </a:prstGeom>
          <a:solidFill>
            <a:srgbClr val="00A896">
              <a:alpha val="55000"/>
            </a:srgbClr>
          </a:solidFill>
          <a:ln w="12700">
            <a:solidFill>
              <a:srgbClr val="00A896">
                <a:alpha val="55000"/>
              </a:srgbClr>
            </a:solidFill>
            <a:prstDash val="solid"/>
          </a:ln>
        </p:spPr>
      </p:sp>
      <p:sp>
        <p:nvSpPr>
          <p:cNvPr id="4" name="Text 2"/>
          <p:cNvSpPr/>
          <p:nvPr/>
        </p:nvSpPr>
        <p:spPr>
          <a:xfrm>
            <a:off x="457200" y="256032"/>
            <a:ext cx="6035040" cy="256032"/>
          </a:xfrm>
          <a:prstGeom prst="rect">
            <a:avLst/>
          </a:prstGeom>
          <a:noFill/>
          <a:ln/>
        </p:spPr>
        <p:txBody>
          <a:bodyPr wrap="square" lIns="0" tIns="0" rIns="0" bIns="0" rtlCol="0" anchor="ctr"/>
          <a:lstStyle/>
          <a:p>
            <a:pPr indent="0" marL="0">
              <a:buNone/>
            </a:pPr>
            <a:r>
              <a:rPr lang="en-US" sz="900" b="1" spc="200" kern="0" dirty="0">
                <a:solidFill>
                  <a:srgbClr val="00A896"/>
                </a:solidFill>
                <a:latin typeface="Calibri" pitchFamily="34" charset="0"/>
                <a:ea typeface="Calibri" pitchFamily="34" charset="-122"/>
                <a:cs typeface="Calibri" pitchFamily="34" charset="-120"/>
              </a:rPr>
              <a:t>TECHNICAL &amp; BUSINESS ANALYSIS  ·  UPDATED MAY 2026</a:t>
            </a:r>
            <a:endParaRPr lang="en-US" sz="900" dirty="0"/>
          </a:p>
        </p:txBody>
      </p:sp>
      <p:sp>
        <p:nvSpPr>
          <p:cNvPr id="5" name="Text 3"/>
          <p:cNvSpPr/>
          <p:nvPr/>
        </p:nvSpPr>
        <p:spPr>
          <a:xfrm>
            <a:off x="457200" y="685800"/>
            <a:ext cx="6126480" cy="1005840"/>
          </a:xfrm>
          <a:prstGeom prst="rect">
            <a:avLst/>
          </a:prstGeom>
          <a:noFill/>
          <a:ln/>
        </p:spPr>
        <p:txBody>
          <a:bodyPr wrap="square" lIns="0" tIns="0" rIns="0" bIns="0"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WhatsApp vs SMS</a:t>
            </a:r>
            <a:endParaRPr lang="en-US" sz="4600" dirty="0"/>
          </a:p>
        </p:txBody>
      </p:sp>
      <p:sp>
        <p:nvSpPr>
          <p:cNvPr id="6" name="Text 4"/>
          <p:cNvSpPr/>
          <p:nvPr/>
        </p:nvSpPr>
        <p:spPr>
          <a:xfrm>
            <a:off x="457200" y="1627632"/>
            <a:ext cx="6126480" cy="566928"/>
          </a:xfrm>
          <a:prstGeom prst="rect">
            <a:avLst/>
          </a:prstGeom>
          <a:noFill/>
          <a:ln/>
        </p:spPr>
        <p:txBody>
          <a:bodyPr wrap="square" lIns="0" tIns="0" rIns="0" bIns="0" rtlCol="0" anchor="ctr"/>
          <a:lstStyle/>
          <a:p>
            <a:pPr indent="0" marL="0">
              <a:buNone/>
            </a:pPr>
            <a:r>
              <a:rPr lang="en-US" sz="2400" dirty="0">
                <a:solidFill>
                  <a:srgbClr val="00A896"/>
                </a:solidFill>
                <a:latin typeface="Calibri" pitchFamily="34" charset="0"/>
                <a:ea typeface="Calibri" pitchFamily="34" charset="-122"/>
                <a:cs typeface="Calibri" pitchFamily="34" charset="-120"/>
              </a:rPr>
              <a:t>Strategic Migration Analysis</a:t>
            </a:r>
            <a:endParaRPr lang="en-US" sz="2400" dirty="0"/>
          </a:p>
        </p:txBody>
      </p:sp>
      <p:sp>
        <p:nvSpPr>
          <p:cNvPr id="7" name="Text 5"/>
          <p:cNvSpPr/>
          <p:nvPr/>
        </p:nvSpPr>
        <p:spPr>
          <a:xfrm>
            <a:off x="457200" y="2148840"/>
            <a:ext cx="6126480" cy="457200"/>
          </a:xfrm>
          <a:prstGeom prst="rect">
            <a:avLst/>
          </a:prstGeom>
          <a:noFill/>
          <a:ln/>
        </p:spPr>
        <p:txBody>
          <a:bodyPr wrap="square" lIns="0" tIns="0" rIns="0" bIns="0" rtlCol="0" anchor="ctr"/>
          <a:lstStyle/>
          <a:p>
            <a:pPr indent="0" marL="0">
              <a:buNone/>
            </a:pPr>
            <a:r>
              <a:rPr lang="en-US" sz="1800" dirty="0">
                <a:solidFill>
                  <a:srgbClr val="02C39A"/>
                </a:solidFill>
                <a:latin typeface="Calibri" pitchFamily="34" charset="0"/>
                <a:ea typeface="Calibri" pitchFamily="34" charset="-122"/>
                <a:cs typeface="Calibri" pitchFamily="34" charset="-120"/>
              </a:rPr>
              <a:t>for Egyptian Medical Laboratories</a:t>
            </a:r>
            <a:endParaRPr lang="en-US" sz="1800" dirty="0"/>
          </a:p>
        </p:txBody>
      </p:sp>
      <p:sp>
        <p:nvSpPr>
          <p:cNvPr id="8" name="Shape 6"/>
          <p:cNvSpPr/>
          <p:nvPr/>
        </p:nvSpPr>
        <p:spPr>
          <a:xfrm>
            <a:off x="457200" y="2788920"/>
            <a:ext cx="3840480" cy="36576"/>
          </a:xfrm>
          <a:prstGeom prst="rect">
            <a:avLst/>
          </a:prstGeom>
          <a:solidFill>
            <a:srgbClr val="028090"/>
          </a:solidFill>
          <a:ln w="12700">
            <a:solidFill>
              <a:srgbClr val="028090"/>
            </a:solidFill>
            <a:prstDash val="solid"/>
          </a:ln>
        </p:spPr>
      </p:sp>
      <p:sp>
        <p:nvSpPr>
          <p:cNvPr id="9" name="Text 7"/>
          <p:cNvSpPr/>
          <p:nvPr/>
        </p:nvSpPr>
        <p:spPr>
          <a:xfrm>
            <a:off x="457200" y="2971800"/>
            <a:ext cx="6400800" cy="32004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Scope: </a:t>
            </a:r>
            <a:pPr indent="0" marL="0">
              <a:buNone/>
            </a:pPr>
            <a:r>
              <a:rPr lang="en-US" sz="1200" dirty="0">
                <a:solidFill>
                  <a:srgbClr val="FFFFFF"/>
                </a:solidFill>
                <a:latin typeface="Calibri" pitchFamily="34" charset="0"/>
                <a:ea typeface="Calibri" pitchFamily="34" charset="-122"/>
                <a:cs typeface="Calibri" pitchFamily="34" charset="-120"/>
              </a:rPr>
              <a:t>500 msg/day · 15,000/month · Lab results + PDFs + links</a:t>
            </a:r>
            <a:endParaRPr lang="en-US" sz="1200" dirty="0"/>
          </a:p>
        </p:txBody>
      </p:sp>
      <p:sp>
        <p:nvSpPr>
          <p:cNvPr id="10" name="Text 8"/>
          <p:cNvSpPr/>
          <p:nvPr/>
        </p:nvSpPr>
        <p:spPr>
          <a:xfrm>
            <a:off x="457200" y="3319272"/>
            <a:ext cx="6400800" cy="32004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Prices: </a:t>
            </a:r>
            <a:pPr indent="0" marL="0">
              <a:buNone/>
            </a:pPr>
            <a:r>
              <a:rPr lang="en-US" sz="1200" dirty="0">
                <a:solidFill>
                  <a:srgbClr val="FFFFFF"/>
                </a:solidFill>
                <a:latin typeface="Calibri" pitchFamily="34" charset="0"/>
                <a:ea typeface="Calibri" pitchFamily="34" charset="-122"/>
                <a:cs typeface="Calibri" pitchFamily="34" charset="-120"/>
              </a:rPr>
              <a:t>Verified from Meta rate cards + Twilio/WATI/360dialog live calculators</a:t>
            </a:r>
            <a:endParaRPr lang="en-US" sz="1200" dirty="0"/>
          </a:p>
        </p:txBody>
      </p:sp>
      <p:sp>
        <p:nvSpPr>
          <p:cNvPr id="11" name="Text 9"/>
          <p:cNvSpPr/>
          <p:nvPr/>
        </p:nvSpPr>
        <p:spPr>
          <a:xfrm>
            <a:off x="457200" y="3666744"/>
            <a:ext cx="6400800" cy="32004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EGP rate: </a:t>
            </a:r>
            <a:pPr indent="0" marL="0">
              <a:buNone/>
            </a:pPr>
            <a:r>
              <a:rPr lang="en-US" sz="1200" dirty="0">
                <a:solidFill>
                  <a:srgbClr val="FFFFFF"/>
                </a:solidFill>
                <a:latin typeface="Calibri" pitchFamily="34" charset="0"/>
                <a:ea typeface="Calibri" pitchFamily="34" charset="-122"/>
                <a:cs typeface="Calibri" pitchFamily="34" charset="-120"/>
              </a:rPr>
              <a:t>1 USD ≈ 50 EGP (approximate)</a:t>
            </a:r>
            <a:endParaRPr lang="en-US" sz="1200" dirty="0"/>
          </a:p>
        </p:txBody>
      </p:sp>
      <p:sp>
        <p:nvSpPr>
          <p:cNvPr id="12" name="Shape 10"/>
          <p:cNvSpPr/>
          <p:nvPr/>
        </p:nvSpPr>
        <p:spPr>
          <a:xfrm>
            <a:off x="457200" y="4526280"/>
            <a:ext cx="1463040" cy="329184"/>
          </a:xfrm>
          <a:prstGeom prst="roundRect">
            <a:avLst>
              <a:gd name="adj" fmla="val 13889"/>
            </a:avLst>
          </a:prstGeom>
          <a:solidFill>
            <a:srgbClr val="028090"/>
          </a:solidFill>
          <a:ln w="12700">
            <a:solidFill>
              <a:srgbClr val="028090"/>
            </a:solidFill>
            <a:prstDash val="solid"/>
          </a:ln>
        </p:spPr>
      </p:sp>
      <p:sp>
        <p:nvSpPr>
          <p:cNvPr id="13" name="Text 11"/>
          <p:cNvSpPr/>
          <p:nvPr/>
        </p:nvSpPr>
        <p:spPr>
          <a:xfrm>
            <a:off x="457200" y="4526280"/>
            <a:ext cx="14630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May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AFB"/>
        </a:solidFill>
      </p:bgPr>
    </p:bg>
    <p:spTree>
      <p:nvGrpSpPr>
        <p:cNvPr id="1" name=""/>
        <p:cNvGrpSpPr/>
        <p:nvPr/>
      </p:nvGrpSpPr>
      <p:grpSpPr>
        <a:xfrm>
          <a:off x="0" y="0"/>
          <a:ext cx="0" cy="0"/>
          <a:chOff x="0" y="0"/>
          <a:chExt cx="0" cy="0"/>
        </a:xfrm>
      </p:grpSpPr>
      <p:sp>
        <p:nvSpPr>
          <p:cNvPr id="2" name="Text 0"/>
          <p:cNvSpPr/>
          <p:nvPr/>
        </p:nvSpPr>
        <p:spPr>
          <a:xfrm>
            <a:off x="457200" y="182880"/>
            <a:ext cx="8229600" cy="475488"/>
          </a:xfrm>
          <a:prstGeom prst="rect">
            <a:avLst/>
          </a:prstGeom>
          <a:noFill/>
          <a:ln/>
        </p:spPr>
        <p:txBody>
          <a:bodyPr wrap="square" lIns="0" tIns="0" rIns="0" bIns="0" rtlCol="0" anchor="ctr"/>
          <a:lstStyle/>
          <a:p>
            <a:pPr indent="0" marL="0">
              <a:buNone/>
            </a:pPr>
            <a:r>
              <a:rPr lang="en-US" sz="2800" b="1" dirty="0">
                <a:solidFill>
                  <a:srgbClr val="028090"/>
                </a:solidFill>
                <a:latin typeface="Calibri" pitchFamily="34" charset="0"/>
                <a:ea typeface="Calibri" pitchFamily="34" charset="-122"/>
                <a:cs typeface="Calibri" pitchFamily="34" charset="-120"/>
              </a:rPr>
              <a:t>Executive Summary</a:t>
            </a:r>
            <a:endParaRPr lang="en-US" sz="2800" dirty="0"/>
          </a:p>
        </p:txBody>
      </p:sp>
      <p:sp>
        <p:nvSpPr>
          <p:cNvPr id="3" name="Text 1"/>
          <p:cNvSpPr/>
          <p:nvPr/>
        </p:nvSpPr>
        <p:spPr>
          <a:xfrm>
            <a:off x="457200" y="621792"/>
            <a:ext cx="8412480" cy="256032"/>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Verified pricing · Per-message model (July 2025) · Egypt-specific Meta rates confirmed from provider calculators</a:t>
            </a:r>
            <a:endParaRPr lang="en-US" sz="1100" dirty="0"/>
          </a:p>
        </p:txBody>
      </p:sp>
      <p:sp>
        <p:nvSpPr>
          <p:cNvPr id="4" name="Shape 2"/>
          <p:cNvSpPr/>
          <p:nvPr/>
        </p:nvSpPr>
        <p:spPr>
          <a:xfrm>
            <a:off x="256032" y="1024128"/>
            <a:ext cx="2029968" cy="182880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7000"/>
              </a:srgbClr>
            </a:outerShdw>
          </a:effectLst>
        </p:spPr>
      </p:sp>
      <p:sp>
        <p:nvSpPr>
          <p:cNvPr id="5" name="Shape 3"/>
          <p:cNvSpPr/>
          <p:nvPr/>
        </p:nvSpPr>
        <p:spPr>
          <a:xfrm>
            <a:off x="256032" y="1024128"/>
            <a:ext cx="2029968" cy="91440"/>
          </a:xfrm>
          <a:prstGeom prst="rect">
            <a:avLst/>
          </a:prstGeom>
          <a:solidFill>
            <a:srgbClr val="C0392B"/>
          </a:solidFill>
          <a:ln w="12700">
            <a:solidFill>
              <a:srgbClr val="C0392B"/>
            </a:solidFill>
            <a:prstDash val="solid"/>
          </a:ln>
        </p:spPr>
      </p:sp>
      <p:sp>
        <p:nvSpPr>
          <p:cNvPr id="6" name="Text 4"/>
          <p:cNvSpPr/>
          <p:nvPr/>
        </p:nvSpPr>
        <p:spPr>
          <a:xfrm>
            <a:off x="365760" y="1161288"/>
            <a:ext cx="1828800" cy="38404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Current Monthly Cost</a:t>
            </a:r>
            <a:endParaRPr lang="en-US" sz="1100" dirty="0"/>
          </a:p>
        </p:txBody>
      </p:sp>
      <p:sp>
        <p:nvSpPr>
          <p:cNvPr id="7" name="Text 5"/>
          <p:cNvSpPr/>
          <p:nvPr/>
        </p:nvSpPr>
        <p:spPr>
          <a:xfrm>
            <a:off x="347472" y="1527048"/>
            <a:ext cx="1847088" cy="512064"/>
          </a:xfrm>
          <a:prstGeom prst="rect">
            <a:avLst/>
          </a:prstGeom>
          <a:noFill/>
          <a:ln/>
        </p:spPr>
        <p:txBody>
          <a:bodyPr wrap="square" lIns="0" tIns="0" rIns="0" bIns="0" rtlCol="0" anchor="ctr"/>
          <a:lstStyle/>
          <a:p>
            <a:pPr indent="0" marL="0">
              <a:buNone/>
            </a:pPr>
            <a:r>
              <a:rPr lang="en-US" sz="2000" b="1" dirty="0">
                <a:solidFill>
                  <a:srgbClr val="C0392B"/>
                </a:solidFill>
                <a:latin typeface="Calibri" pitchFamily="34" charset="0"/>
                <a:ea typeface="Calibri" pitchFamily="34" charset="-122"/>
                <a:cs typeface="Calibri" pitchFamily="34" charset="-120"/>
              </a:rPr>
              <a:t>9,000 EGP</a:t>
            </a:r>
            <a:endParaRPr lang="en-US" sz="2000" dirty="0"/>
          </a:p>
        </p:txBody>
      </p:sp>
      <p:sp>
        <p:nvSpPr>
          <p:cNvPr id="8" name="Text 6"/>
          <p:cNvSpPr/>
          <p:nvPr/>
        </p:nvSpPr>
        <p:spPr>
          <a:xfrm>
            <a:off x="347472" y="2057400"/>
            <a:ext cx="1847088" cy="54864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15,000 SMS @ 0.60 EGP each</a:t>
            </a:r>
            <a:endParaRPr lang="en-US" sz="1000" dirty="0"/>
          </a:p>
        </p:txBody>
      </p:sp>
      <p:sp>
        <p:nvSpPr>
          <p:cNvPr id="9" name="Shape 7"/>
          <p:cNvSpPr/>
          <p:nvPr/>
        </p:nvSpPr>
        <p:spPr>
          <a:xfrm>
            <a:off x="2432304" y="1024128"/>
            <a:ext cx="2029968" cy="182880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7000"/>
              </a:srgbClr>
            </a:outerShdw>
          </a:effectLst>
        </p:spPr>
      </p:sp>
      <p:sp>
        <p:nvSpPr>
          <p:cNvPr id="10" name="Shape 8"/>
          <p:cNvSpPr/>
          <p:nvPr/>
        </p:nvSpPr>
        <p:spPr>
          <a:xfrm>
            <a:off x="2432304" y="1024128"/>
            <a:ext cx="2029968" cy="91440"/>
          </a:xfrm>
          <a:prstGeom prst="rect">
            <a:avLst/>
          </a:prstGeom>
          <a:solidFill>
            <a:srgbClr val="028090"/>
          </a:solidFill>
          <a:ln w="12700">
            <a:solidFill>
              <a:srgbClr val="028090"/>
            </a:solidFill>
            <a:prstDash val="solid"/>
          </a:ln>
        </p:spPr>
      </p:sp>
      <p:sp>
        <p:nvSpPr>
          <p:cNvPr id="11" name="Text 9"/>
          <p:cNvSpPr/>
          <p:nvPr/>
        </p:nvSpPr>
        <p:spPr>
          <a:xfrm>
            <a:off x="2542032" y="1161288"/>
            <a:ext cx="1828800" cy="38404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Best Official Option</a:t>
            </a:r>
            <a:endParaRPr lang="en-US" sz="1100" dirty="0"/>
          </a:p>
        </p:txBody>
      </p:sp>
      <p:sp>
        <p:nvSpPr>
          <p:cNvPr id="12" name="Text 10"/>
          <p:cNvSpPr/>
          <p:nvPr/>
        </p:nvSpPr>
        <p:spPr>
          <a:xfrm>
            <a:off x="2523744" y="1527048"/>
            <a:ext cx="1847088" cy="512064"/>
          </a:xfrm>
          <a:prstGeom prst="rect">
            <a:avLst/>
          </a:prstGeom>
          <a:noFill/>
          <a:ln/>
        </p:spPr>
        <p:txBody>
          <a:bodyPr wrap="square" lIns="0" tIns="0" rIns="0" bIns="0" rtlCol="0" anchor="ctr"/>
          <a:lstStyle/>
          <a:p>
            <a:pPr indent="0" marL="0">
              <a:buNone/>
            </a:pPr>
            <a:r>
              <a:rPr lang="en-US" sz="2000" b="1" dirty="0">
                <a:solidFill>
                  <a:srgbClr val="028090"/>
                </a:solidFill>
                <a:latin typeface="Calibri" pitchFamily="34" charset="0"/>
                <a:ea typeface="Calibri" pitchFamily="34" charset="-122"/>
                <a:cs typeface="Calibri" pitchFamily="34" charset="-120"/>
              </a:rPr>
              <a:t>~3,700 EGP</a:t>
            </a:r>
            <a:endParaRPr lang="en-US" sz="2000" dirty="0"/>
          </a:p>
        </p:txBody>
      </p:sp>
      <p:sp>
        <p:nvSpPr>
          <p:cNvPr id="13" name="Text 11"/>
          <p:cNvSpPr/>
          <p:nvPr/>
        </p:nvSpPr>
        <p:spPr>
          <a:xfrm>
            <a:off x="2523744" y="2057400"/>
            <a:ext cx="1847088" cy="54864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Meta Cloud API direct + server</a:t>
            </a:r>
            <a:endParaRPr lang="en-US" sz="1000" dirty="0"/>
          </a:p>
        </p:txBody>
      </p:sp>
      <p:sp>
        <p:nvSpPr>
          <p:cNvPr id="14" name="Shape 12"/>
          <p:cNvSpPr/>
          <p:nvPr/>
        </p:nvSpPr>
        <p:spPr>
          <a:xfrm>
            <a:off x="4608576" y="1024128"/>
            <a:ext cx="2029968" cy="182880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7000"/>
              </a:srgbClr>
            </a:outerShdw>
          </a:effectLst>
        </p:spPr>
      </p:sp>
      <p:sp>
        <p:nvSpPr>
          <p:cNvPr id="15" name="Shape 13"/>
          <p:cNvSpPr/>
          <p:nvPr/>
        </p:nvSpPr>
        <p:spPr>
          <a:xfrm>
            <a:off x="4608576" y="1024128"/>
            <a:ext cx="2029968" cy="91440"/>
          </a:xfrm>
          <a:prstGeom prst="rect">
            <a:avLst/>
          </a:prstGeom>
          <a:solidFill>
            <a:srgbClr val="27AE60"/>
          </a:solidFill>
          <a:ln w="12700">
            <a:solidFill>
              <a:srgbClr val="27AE60"/>
            </a:solidFill>
            <a:prstDash val="solid"/>
          </a:ln>
        </p:spPr>
      </p:sp>
      <p:sp>
        <p:nvSpPr>
          <p:cNvPr id="16" name="Text 14"/>
          <p:cNvSpPr/>
          <p:nvPr/>
        </p:nvSpPr>
        <p:spPr>
          <a:xfrm>
            <a:off x="4718304" y="1161288"/>
            <a:ext cx="1828800" cy="38404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Verified Yearly Saving</a:t>
            </a:r>
            <a:endParaRPr lang="en-US" sz="1100" dirty="0"/>
          </a:p>
        </p:txBody>
      </p:sp>
      <p:sp>
        <p:nvSpPr>
          <p:cNvPr id="17" name="Text 15"/>
          <p:cNvSpPr/>
          <p:nvPr/>
        </p:nvSpPr>
        <p:spPr>
          <a:xfrm>
            <a:off x="4700016" y="1527048"/>
            <a:ext cx="1847088" cy="512064"/>
          </a:xfrm>
          <a:prstGeom prst="rect">
            <a:avLst/>
          </a:prstGeom>
          <a:noFill/>
          <a:ln/>
        </p:spPr>
        <p:txBody>
          <a:bodyPr wrap="square" lIns="0" tIns="0" rIns="0" bIns="0" rtlCol="0" anchor="ctr"/>
          <a:lstStyle/>
          <a:p>
            <a:pPr indent="0" marL="0">
              <a:buNone/>
            </a:pPr>
            <a:r>
              <a:rPr lang="en-US" sz="2000" b="1" dirty="0">
                <a:solidFill>
                  <a:srgbClr val="27AE60"/>
                </a:solidFill>
                <a:latin typeface="Calibri" pitchFamily="34" charset="0"/>
                <a:ea typeface="Calibri" pitchFamily="34" charset="-122"/>
                <a:cs typeface="Calibri" pitchFamily="34" charset="-120"/>
              </a:rPr>
              <a:t>~63,600 EGP</a:t>
            </a:r>
            <a:endParaRPr lang="en-US" sz="2000" dirty="0"/>
          </a:p>
        </p:txBody>
      </p:sp>
      <p:sp>
        <p:nvSpPr>
          <p:cNvPr id="18" name="Text 16"/>
          <p:cNvSpPr/>
          <p:nvPr/>
        </p:nvSpPr>
        <p:spPr>
          <a:xfrm>
            <a:off x="4700016" y="2057400"/>
            <a:ext cx="1847088" cy="54864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59% cheaper than SMS Misr</a:t>
            </a:r>
            <a:endParaRPr lang="en-US" sz="1000" dirty="0"/>
          </a:p>
        </p:txBody>
      </p:sp>
      <p:sp>
        <p:nvSpPr>
          <p:cNvPr id="19" name="Shape 17"/>
          <p:cNvSpPr/>
          <p:nvPr/>
        </p:nvSpPr>
        <p:spPr>
          <a:xfrm>
            <a:off x="6784848" y="1024128"/>
            <a:ext cx="2029968" cy="182880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7000"/>
              </a:srgbClr>
            </a:outerShdw>
          </a:effectLst>
        </p:spPr>
      </p:sp>
      <p:sp>
        <p:nvSpPr>
          <p:cNvPr id="20" name="Shape 18"/>
          <p:cNvSpPr/>
          <p:nvPr/>
        </p:nvSpPr>
        <p:spPr>
          <a:xfrm>
            <a:off x="6784848" y="1024128"/>
            <a:ext cx="2029968" cy="91440"/>
          </a:xfrm>
          <a:prstGeom prst="rect">
            <a:avLst/>
          </a:prstGeom>
          <a:solidFill>
            <a:srgbClr val="00A896"/>
          </a:solidFill>
          <a:ln w="12700">
            <a:solidFill>
              <a:srgbClr val="00A896"/>
            </a:solidFill>
            <a:prstDash val="solid"/>
          </a:ln>
        </p:spPr>
      </p:sp>
      <p:sp>
        <p:nvSpPr>
          <p:cNvPr id="21" name="Text 19"/>
          <p:cNvSpPr/>
          <p:nvPr/>
        </p:nvSpPr>
        <p:spPr>
          <a:xfrm>
            <a:off x="6894576" y="1161288"/>
            <a:ext cx="1828800" cy="38404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No Documents Needed</a:t>
            </a:r>
            <a:endParaRPr lang="en-US" sz="1100" dirty="0"/>
          </a:p>
        </p:txBody>
      </p:sp>
      <p:sp>
        <p:nvSpPr>
          <p:cNvPr id="22" name="Text 20"/>
          <p:cNvSpPr/>
          <p:nvPr/>
        </p:nvSpPr>
        <p:spPr>
          <a:xfrm>
            <a:off x="6876288" y="1527048"/>
            <a:ext cx="1847088" cy="512064"/>
          </a:xfrm>
          <a:prstGeom prst="rect">
            <a:avLst/>
          </a:prstGeom>
          <a:noFill/>
          <a:ln/>
        </p:spPr>
        <p:txBody>
          <a:bodyPr wrap="square" lIns="0" tIns="0" rIns="0" bIns="0" rtlCol="0" anchor="ctr"/>
          <a:lstStyle/>
          <a:p>
            <a:pPr indent="0" marL="0">
              <a:buNone/>
            </a:pPr>
            <a:r>
              <a:rPr lang="en-US" sz="2000" b="1" dirty="0">
                <a:solidFill>
                  <a:srgbClr val="00A896"/>
                </a:solidFill>
                <a:latin typeface="Calibri" pitchFamily="34" charset="0"/>
                <a:ea typeface="Calibri" pitchFamily="34" charset="-122"/>
                <a:cs typeface="Calibri" pitchFamily="34" charset="-120"/>
              </a:rPr>
              <a:t>Since Oct 2023</a:t>
            </a:r>
            <a:endParaRPr lang="en-US" sz="2000" dirty="0"/>
          </a:p>
        </p:txBody>
      </p:sp>
      <p:sp>
        <p:nvSpPr>
          <p:cNvPr id="23" name="Text 21"/>
          <p:cNvSpPr/>
          <p:nvPr/>
        </p:nvSpPr>
        <p:spPr>
          <a:xfrm>
            <a:off x="6876288" y="2057400"/>
            <a:ext cx="1847088" cy="54864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No سجل تجاري or بطاقة ضريبية</a:t>
            </a:r>
            <a:endParaRPr lang="en-US" sz="1000" dirty="0"/>
          </a:p>
        </p:txBody>
      </p:sp>
      <p:sp>
        <p:nvSpPr>
          <p:cNvPr id="24" name="Text 22"/>
          <p:cNvSpPr/>
          <p:nvPr/>
        </p:nvSpPr>
        <p:spPr>
          <a:xfrm>
            <a:off x="457200" y="3035808"/>
            <a:ext cx="8229600" cy="320040"/>
          </a:xfrm>
          <a:prstGeom prst="rect">
            <a:avLst/>
          </a:prstGeom>
          <a:noFill/>
          <a:ln/>
        </p:spPr>
        <p:txBody>
          <a:bodyPr wrap="square" lIns="0" tIns="0" rIns="0" bIns="0" rtlCol="0" anchor="ctr"/>
          <a:lstStyle/>
          <a:p>
            <a:pPr indent="0" marL="0">
              <a:buNone/>
            </a:pPr>
            <a:r>
              <a:rPr lang="en-US" sz="1300" b="1" dirty="0">
                <a:solidFill>
                  <a:srgbClr val="1A2B2C"/>
                </a:solidFill>
                <a:latin typeface="Calibri" pitchFamily="34" charset="0"/>
                <a:ea typeface="Calibri" pitchFamily="34" charset="-122"/>
                <a:cs typeface="Calibri" pitchFamily="34" charset="-120"/>
              </a:rPr>
              <a:t>Key Findings</a:t>
            </a:r>
            <a:endParaRPr lang="en-US" sz="1300" dirty="0"/>
          </a:p>
        </p:txBody>
      </p:sp>
      <p:sp>
        <p:nvSpPr>
          <p:cNvPr id="25" name="Text 23"/>
          <p:cNvSpPr/>
          <p:nvPr/>
        </p:nvSpPr>
        <p:spPr>
          <a:xfrm>
            <a:off x="457200" y="3364992"/>
            <a:ext cx="8321040" cy="1508760"/>
          </a:xfrm>
          <a:prstGeom prst="rect">
            <a:avLst/>
          </a:prstGeom>
          <a:noFill/>
          <a:ln/>
        </p:spPr>
        <p:txBody>
          <a:bodyPr wrap="square" lIns="0" tIns="0" rIns="0" bIns="0" rtlCol="0" anchor="ctr"/>
          <a:lstStyle/>
          <a:p>
            <a:pPr marL="342900" indent="-342900">
              <a:buSzPct val="100000"/>
              <a:buChar char="•"/>
            </a:pPr>
            <a:r>
              <a:rPr lang="en-US" sz="1100" dirty="0">
                <a:solidFill>
                  <a:srgbClr val="1A2B2C"/>
                </a:solidFill>
                <a:latin typeface="Calibri" pitchFamily="34" charset="0"/>
                <a:ea typeface="Calibri" pitchFamily="34" charset="-122"/>
                <a:cs typeface="Calibri" pitchFamily="34" charset="-120"/>
              </a:rPr>
              <a:t>Meta Egypt utility rate confirmed at ~$0.0036/msg from Twilio's live calculator; post-Oct 2025 reductions may lower this further</a:t>
            </a:r>
            <a:endParaRPr lang="en-US" sz="1100" dirty="0"/>
          </a:p>
          <a:p>
            <a:pPr marL="342900" indent="-342900">
              <a:buSzPct val="100000"/>
              <a:buChar char="•"/>
            </a:pPr>
            <a:r>
              <a:rPr lang="en-US" sz="1100" dirty="0">
                <a:solidFill>
                  <a:srgbClr val="1A2B2C"/>
                </a:solidFill>
                <a:latin typeface="Calibri" pitchFamily="34" charset="0"/>
                <a:ea typeface="Calibri" pitchFamily="34" charset="-122"/>
                <a:cs typeface="Calibri" pitchFamily="34" charset="-120"/>
              </a:rPr>
              <a:t>Business documents (سجل تجاري، بطاقة ضريبية) are NOT required — Meta removed that requirement in October 2023; you only need a Facebook account + phone number</a:t>
            </a:r>
            <a:endParaRPr lang="en-US" sz="1100" dirty="0"/>
          </a:p>
          <a:p>
            <a:pPr marL="342900" indent="-342900">
              <a:buSzPct val="100000"/>
              <a:buChar char="•"/>
            </a:pPr>
            <a:r>
              <a:rPr lang="en-US" sz="1100" dirty="0">
                <a:solidFill>
                  <a:srgbClr val="1A2B2C"/>
                </a:solidFill>
                <a:latin typeface="Calibri" pitchFamily="34" charset="0"/>
                <a:ea typeface="Calibri" pitchFamily="34" charset="-122"/>
                <a:cs typeface="Calibri" pitchFamily="34" charset="-120"/>
              </a:rPr>
              <a:t>Advertising ban on Facebook ≠ WhatsApp API ban — BSP embedded signup flows can bypass the Business Manager restriction entirely</a:t>
            </a:r>
            <a:endParaRPr lang="en-US" sz="1100" dirty="0"/>
          </a:p>
          <a:p>
            <a:pPr marL="342900" indent="-342900">
              <a:buSzPct val="100000"/>
              <a:buChar char="•"/>
            </a:pPr>
            <a:r>
              <a:rPr lang="en-US" sz="1100" dirty="0">
                <a:solidFill>
                  <a:srgbClr val="1A2B2C"/>
                </a:solidFill>
                <a:latin typeface="Calibri" pitchFamily="34" charset="0"/>
                <a:ea typeface="Calibri" pitchFamily="34" charset="-122"/>
                <a:cs typeface="Calibri" pitchFamily="34" charset="-120"/>
              </a:rPr>
              <a:t>Meta Cloud API direct is cheapest at ~3,700 EGP/month (59% saving); 360dialog &amp; WATI comparable at ~5,650–5,700 EGP/month (37–43% saving)</a:t>
            </a:r>
            <a:endParaRPr lang="en-US" sz="1100" dirty="0"/>
          </a:p>
          <a:p>
            <a:pPr marL="342900" indent="-342900">
              <a:buSzPct val="100000"/>
              <a:buChar char="•"/>
            </a:pPr>
            <a:r>
              <a:rPr lang="en-US" sz="1100" dirty="0">
                <a:solidFill>
                  <a:srgbClr val="1A2B2C"/>
                </a:solidFill>
                <a:latin typeface="Calibri" pitchFamily="34" charset="0"/>
                <a:ea typeface="Calibri" pitchFamily="34" charset="-122"/>
                <a:cs typeface="Calibri" pitchFamily="34" charset="-120"/>
              </a:rPr>
              <a:t>Unofficial APIs (Evolution API, WhatsMeow) remain unacceptable for a medical business — one ban = 100% message failure with no fallback or SLA</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021C1E"/>
          </a:solidFill>
          <a:ln w="12700">
            <a:solidFill>
              <a:srgbClr val="021C1E"/>
            </a:solidFill>
            <a:prstDash val="solid"/>
          </a:ln>
        </p:spPr>
      </p:sp>
      <p:sp>
        <p:nvSpPr>
          <p:cNvPr id="3" name="Text 1"/>
          <p:cNvSpPr/>
          <p:nvPr/>
        </p:nvSpPr>
        <p:spPr>
          <a:xfrm>
            <a:off x="137160" y="274320"/>
            <a:ext cx="2926080" cy="822960"/>
          </a:xfrm>
          <a:prstGeom prst="rect">
            <a:avLst/>
          </a:prstGeom>
          <a:noFill/>
          <a:ln/>
        </p:spPr>
        <p:txBody>
          <a:bodyPr wrap="square" lIns="0" tIns="0" rIns="0" bIns="0" rtlCol="0" anchor="ctr"/>
          <a:lstStyle/>
          <a:p>
            <a:pPr algn="ctr" indent="0" marL="0">
              <a:buNone/>
            </a:pPr>
            <a:r>
              <a:rPr lang="en-US" sz="2200" b="1" dirty="0">
                <a:solidFill>
                  <a:srgbClr val="00A896"/>
                </a:solidFill>
                <a:latin typeface="Calibri" pitchFamily="34" charset="0"/>
                <a:ea typeface="Calibri" pitchFamily="34" charset="-122"/>
                <a:cs typeface="Calibri" pitchFamily="34" charset="-120"/>
              </a:rPr>
              <a:t>CURRENT</a:t>
            </a:r>
            <a:endParaRPr lang="en-US" sz="2200" dirty="0"/>
          </a:p>
          <a:p>
            <a:pPr algn="ctr" indent="0" marL="0">
              <a:buNone/>
            </a:pPr>
            <a:r>
              <a:rPr lang="en-US" sz="2200" b="1" dirty="0">
                <a:solidFill>
                  <a:srgbClr val="00A896"/>
                </a:solidFill>
                <a:latin typeface="Calibri" pitchFamily="34" charset="0"/>
                <a:ea typeface="Calibri" pitchFamily="34" charset="-122"/>
                <a:cs typeface="Calibri" pitchFamily="34" charset="-120"/>
              </a:rPr>
              <a:t>BASELINE</a:t>
            </a:r>
            <a:endParaRPr lang="en-US" sz="2200" dirty="0"/>
          </a:p>
        </p:txBody>
      </p:sp>
      <p:sp>
        <p:nvSpPr>
          <p:cNvPr id="4" name="Shape 2"/>
          <p:cNvSpPr/>
          <p:nvPr/>
        </p:nvSpPr>
        <p:spPr>
          <a:xfrm>
            <a:off x="182880" y="1188720"/>
            <a:ext cx="2834640" cy="502920"/>
          </a:xfrm>
          <a:prstGeom prst="rect">
            <a:avLst/>
          </a:prstGeom>
          <a:solidFill>
            <a:srgbClr val="032D30"/>
          </a:solidFill>
          <a:ln w="12700">
            <a:solidFill>
              <a:srgbClr val="032D30"/>
            </a:solidFill>
            <a:prstDash val="solid"/>
          </a:ln>
        </p:spPr>
      </p:sp>
      <p:sp>
        <p:nvSpPr>
          <p:cNvPr id="5" name="Text 3"/>
          <p:cNvSpPr/>
          <p:nvPr/>
        </p:nvSpPr>
        <p:spPr>
          <a:xfrm>
            <a:off x="320040" y="1225296"/>
            <a:ext cx="1554480" cy="420624"/>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Price per SMS</a:t>
            </a:r>
            <a:endParaRPr lang="en-US" sz="1000" dirty="0"/>
          </a:p>
        </p:txBody>
      </p:sp>
      <p:sp>
        <p:nvSpPr>
          <p:cNvPr id="6" name="Text 4"/>
          <p:cNvSpPr/>
          <p:nvPr/>
        </p:nvSpPr>
        <p:spPr>
          <a:xfrm>
            <a:off x="1600200" y="1225296"/>
            <a:ext cx="1280160" cy="420624"/>
          </a:xfrm>
          <a:prstGeom prst="rect">
            <a:avLst/>
          </a:prstGeom>
          <a:noFill/>
          <a:ln/>
        </p:spPr>
        <p:txBody>
          <a:bodyPr wrap="square" lIns="0" tIns="0" rIns="0" bIns="0" rtlCol="0" anchor="ctr"/>
          <a:lstStyle/>
          <a:p>
            <a:pPr algn="r" indent="0" marL="0">
              <a:buNone/>
            </a:pPr>
            <a:r>
              <a:rPr lang="en-US" sz="1300" b="1" dirty="0">
                <a:solidFill>
                  <a:srgbClr val="02C39A"/>
                </a:solidFill>
                <a:latin typeface="Calibri" pitchFamily="34" charset="0"/>
                <a:ea typeface="Calibri" pitchFamily="34" charset="-122"/>
                <a:cs typeface="Calibri" pitchFamily="34" charset="-120"/>
              </a:rPr>
              <a:t>0.60 EGP</a:t>
            </a:r>
            <a:endParaRPr lang="en-US" sz="1300" dirty="0"/>
          </a:p>
        </p:txBody>
      </p:sp>
      <p:sp>
        <p:nvSpPr>
          <p:cNvPr id="7" name="Shape 5"/>
          <p:cNvSpPr/>
          <p:nvPr/>
        </p:nvSpPr>
        <p:spPr>
          <a:xfrm>
            <a:off x="182880" y="1783080"/>
            <a:ext cx="2834640" cy="502920"/>
          </a:xfrm>
          <a:prstGeom prst="rect">
            <a:avLst/>
          </a:prstGeom>
          <a:solidFill>
            <a:srgbClr val="032D30"/>
          </a:solidFill>
          <a:ln w="12700">
            <a:solidFill>
              <a:srgbClr val="032D30"/>
            </a:solidFill>
            <a:prstDash val="solid"/>
          </a:ln>
        </p:spPr>
      </p:sp>
      <p:sp>
        <p:nvSpPr>
          <p:cNvPr id="8" name="Text 6"/>
          <p:cNvSpPr/>
          <p:nvPr/>
        </p:nvSpPr>
        <p:spPr>
          <a:xfrm>
            <a:off x="320040" y="1819656"/>
            <a:ext cx="1554480" cy="420624"/>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Messages / Day</a:t>
            </a:r>
            <a:endParaRPr lang="en-US" sz="1000" dirty="0"/>
          </a:p>
        </p:txBody>
      </p:sp>
      <p:sp>
        <p:nvSpPr>
          <p:cNvPr id="9" name="Text 7"/>
          <p:cNvSpPr/>
          <p:nvPr/>
        </p:nvSpPr>
        <p:spPr>
          <a:xfrm>
            <a:off x="1600200" y="1819656"/>
            <a:ext cx="1280160" cy="420624"/>
          </a:xfrm>
          <a:prstGeom prst="rect">
            <a:avLst/>
          </a:prstGeom>
          <a:noFill/>
          <a:ln/>
        </p:spPr>
        <p:txBody>
          <a:bodyPr wrap="square" lIns="0" tIns="0" rIns="0" bIns="0" rtlCol="0" anchor="ctr"/>
          <a:lstStyle/>
          <a:p>
            <a:pPr algn="r" indent="0" marL="0">
              <a:buNone/>
            </a:pPr>
            <a:r>
              <a:rPr lang="en-US" sz="1300" b="1" dirty="0">
                <a:solidFill>
                  <a:srgbClr val="02C39A"/>
                </a:solidFill>
                <a:latin typeface="Calibri" pitchFamily="34" charset="0"/>
                <a:ea typeface="Calibri" pitchFamily="34" charset="-122"/>
                <a:cs typeface="Calibri" pitchFamily="34" charset="-120"/>
              </a:rPr>
              <a:t>500</a:t>
            </a:r>
            <a:endParaRPr lang="en-US" sz="1300" dirty="0"/>
          </a:p>
        </p:txBody>
      </p:sp>
      <p:sp>
        <p:nvSpPr>
          <p:cNvPr id="10" name="Shape 8"/>
          <p:cNvSpPr/>
          <p:nvPr/>
        </p:nvSpPr>
        <p:spPr>
          <a:xfrm>
            <a:off x="182880" y="2377440"/>
            <a:ext cx="2834640" cy="502920"/>
          </a:xfrm>
          <a:prstGeom prst="rect">
            <a:avLst/>
          </a:prstGeom>
          <a:solidFill>
            <a:srgbClr val="032D30"/>
          </a:solidFill>
          <a:ln w="12700">
            <a:solidFill>
              <a:srgbClr val="032D30"/>
            </a:solidFill>
            <a:prstDash val="solid"/>
          </a:ln>
        </p:spPr>
      </p:sp>
      <p:sp>
        <p:nvSpPr>
          <p:cNvPr id="11" name="Text 9"/>
          <p:cNvSpPr/>
          <p:nvPr/>
        </p:nvSpPr>
        <p:spPr>
          <a:xfrm>
            <a:off x="320040" y="2414016"/>
            <a:ext cx="1554480" cy="420624"/>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Messages / Month</a:t>
            </a:r>
            <a:endParaRPr lang="en-US" sz="1000" dirty="0"/>
          </a:p>
        </p:txBody>
      </p:sp>
      <p:sp>
        <p:nvSpPr>
          <p:cNvPr id="12" name="Text 10"/>
          <p:cNvSpPr/>
          <p:nvPr/>
        </p:nvSpPr>
        <p:spPr>
          <a:xfrm>
            <a:off x="1600200" y="2414016"/>
            <a:ext cx="1280160" cy="420624"/>
          </a:xfrm>
          <a:prstGeom prst="rect">
            <a:avLst/>
          </a:prstGeom>
          <a:noFill/>
          <a:ln/>
        </p:spPr>
        <p:txBody>
          <a:bodyPr wrap="square" lIns="0" tIns="0" rIns="0" bIns="0" rtlCol="0" anchor="ctr"/>
          <a:lstStyle/>
          <a:p>
            <a:pPr algn="r" indent="0" marL="0">
              <a:buNone/>
            </a:pPr>
            <a:r>
              <a:rPr lang="en-US" sz="1300" b="1" dirty="0">
                <a:solidFill>
                  <a:srgbClr val="02C39A"/>
                </a:solidFill>
                <a:latin typeface="Calibri" pitchFamily="34" charset="0"/>
                <a:ea typeface="Calibri" pitchFamily="34" charset="-122"/>
                <a:cs typeface="Calibri" pitchFamily="34" charset="-120"/>
              </a:rPr>
              <a:t>15,000</a:t>
            </a:r>
            <a:endParaRPr lang="en-US" sz="1300" dirty="0"/>
          </a:p>
        </p:txBody>
      </p:sp>
      <p:sp>
        <p:nvSpPr>
          <p:cNvPr id="13" name="Shape 11"/>
          <p:cNvSpPr/>
          <p:nvPr/>
        </p:nvSpPr>
        <p:spPr>
          <a:xfrm>
            <a:off x="182880" y="2971800"/>
            <a:ext cx="2834640" cy="502920"/>
          </a:xfrm>
          <a:prstGeom prst="rect">
            <a:avLst/>
          </a:prstGeom>
          <a:solidFill>
            <a:srgbClr val="032D30"/>
          </a:solidFill>
          <a:ln w="12700">
            <a:solidFill>
              <a:srgbClr val="032D30"/>
            </a:solidFill>
            <a:prstDash val="solid"/>
          </a:ln>
        </p:spPr>
      </p:sp>
      <p:sp>
        <p:nvSpPr>
          <p:cNvPr id="14" name="Text 12"/>
          <p:cNvSpPr/>
          <p:nvPr/>
        </p:nvSpPr>
        <p:spPr>
          <a:xfrm>
            <a:off x="320040" y="3008376"/>
            <a:ext cx="1554480" cy="420624"/>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Monthly Cost</a:t>
            </a:r>
            <a:endParaRPr lang="en-US" sz="1000" dirty="0"/>
          </a:p>
        </p:txBody>
      </p:sp>
      <p:sp>
        <p:nvSpPr>
          <p:cNvPr id="15" name="Text 13"/>
          <p:cNvSpPr/>
          <p:nvPr/>
        </p:nvSpPr>
        <p:spPr>
          <a:xfrm>
            <a:off x="1600200" y="3008376"/>
            <a:ext cx="1280160" cy="420624"/>
          </a:xfrm>
          <a:prstGeom prst="rect">
            <a:avLst/>
          </a:prstGeom>
          <a:noFill/>
          <a:ln/>
        </p:spPr>
        <p:txBody>
          <a:bodyPr wrap="square" lIns="0" tIns="0" rIns="0" bIns="0" rtlCol="0" anchor="ctr"/>
          <a:lstStyle/>
          <a:p>
            <a:pPr algn="r" indent="0" marL="0">
              <a:buNone/>
            </a:pPr>
            <a:r>
              <a:rPr lang="en-US" sz="1300" b="1" dirty="0">
                <a:solidFill>
                  <a:srgbClr val="02C39A"/>
                </a:solidFill>
                <a:latin typeface="Calibri" pitchFamily="34" charset="0"/>
                <a:ea typeface="Calibri" pitchFamily="34" charset="-122"/>
                <a:cs typeface="Calibri" pitchFamily="34" charset="-120"/>
              </a:rPr>
              <a:t>9,000 EGP</a:t>
            </a:r>
            <a:endParaRPr lang="en-US" sz="1300" dirty="0"/>
          </a:p>
        </p:txBody>
      </p:sp>
      <p:sp>
        <p:nvSpPr>
          <p:cNvPr id="16" name="Shape 14"/>
          <p:cNvSpPr/>
          <p:nvPr/>
        </p:nvSpPr>
        <p:spPr>
          <a:xfrm>
            <a:off x="182880" y="3566160"/>
            <a:ext cx="2834640" cy="502920"/>
          </a:xfrm>
          <a:prstGeom prst="rect">
            <a:avLst/>
          </a:prstGeom>
          <a:solidFill>
            <a:srgbClr val="032D30"/>
          </a:solidFill>
          <a:ln w="12700">
            <a:solidFill>
              <a:srgbClr val="032D30"/>
            </a:solidFill>
            <a:prstDash val="solid"/>
          </a:ln>
        </p:spPr>
      </p:sp>
      <p:sp>
        <p:nvSpPr>
          <p:cNvPr id="17" name="Text 15"/>
          <p:cNvSpPr/>
          <p:nvPr/>
        </p:nvSpPr>
        <p:spPr>
          <a:xfrm>
            <a:off x="320040" y="3602736"/>
            <a:ext cx="1554480" cy="420624"/>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Annual Cost</a:t>
            </a:r>
            <a:endParaRPr lang="en-US" sz="1000" dirty="0"/>
          </a:p>
        </p:txBody>
      </p:sp>
      <p:sp>
        <p:nvSpPr>
          <p:cNvPr id="18" name="Text 16"/>
          <p:cNvSpPr/>
          <p:nvPr/>
        </p:nvSpPr>
        <p:spPr>
          <a:xfrm>
            <a:off x="1600200" y="3602736"/>
            <a:ext cx="1280160" cy="420624"/>
          </a:xfrm>
          <a:prstGeom prst="rect">
            <a:avLst/>
          </a:prstGeom>
          <a:noFill/>
          <a:ln/>
        </p:spPr>
        <p:txBody>
          <a:bodyPr wrap="square" lIns="0" tIns="0" rIns="0" bIns="0" rtlCol="0" anchor="ctr"/>
          <a:lstStyle/>
          <a:p>
            <a:pPr algn="r" indent="0" marL="0">
              <a:buNone/>
            </a:pPr>
            <a:r>
              <a:rPr lang="en-US" sz="1300" b="1" dirty="0">
                <a:solidFill>
                  <a:srgbClr val="02C39A"/>
                </a:solidFill>
                <a:latin typeface="Calibri" pitchFamily="34" charset="0"/>
                <a:ea typeface="Calibri" pitchFamily="34" charset="-122"/>
                <a:cs typeface="Calibri" pitchFamily="34" charset="-120"/>
              </a:rPr>
              <a:t>108,000 EGP</a:t>
            </a:r>
            <a:endParaRPr lang="en-US" sz="1300" dirty="0"/>
          </a:p>
        </p:txBody>
      </p:sp>
      <p:sp>
        <p:nvSpPr>
          <p:cNvPr id="19" name="Shape 17"/>
          <p:cNvSpPr/>
          <p:nvPr/>
        </p:nvSpPr>
        <p:spPr>
          <a:xfrm>
            <a:off x="182880" y="4160520"/>
            <a:ext cx="2834640" cy="502920"/>
          </a:xfrm>
          <a:prstGeom prst="rect">
            <a:avLst/>
          </a:prstGeom>
          <a:solidFill>
            <a:srgbClr val="032D30"/>
          </a:solidFill>
          <a:ln w="12700">
            <a:solidFill>
              <a:srgbClr val="032D30"/>
            </a:solidFill>
            <a:prstDash val="solid"/>
          </a:ln>
        </p:spPr>
      </p:sp>
      <p:sp>
        <p:nvSpPr>
          <p:cNvPr id="20" name="Text 18"/>
          <p:cNvSpPr/>
          <p:nvPr/>
        </p:nvSpPr>
        <p:spPr>
          <a:xfrm>
            <a:off x="320040" y="4197096"/>
            <a:ext cx="1554480" cy="420624"/>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Provider</a:t>
            </a:r>
            <a:endParaRPr lang="en-US" sz="1000" dirty="0"/>
          </a:p>
        </p:txBody>
      </p:sp>
      <p:sp>
        <p:nvSpPr>
          <p:cNvPr id="21" name="Text 19"/>
          <p:cNvSpPr/>
          <p:nvPr/>
        </p:nvSpPr>
        <p:spPr>
          <a:xfrm>
            <a:off x="1600200" y="4197096"/>
            <a:ext cx="1280160" cy="420624"/>
          </a:xfrm>
          <a:prstGeom prst="rect">
            <a:avLst/>
          </a:prstGeom>
          <a:noFill/>
          <a:ln/>
        </p:spPr>
        <p:txBody>
          <a:bodyPr wrap="square" lIns="0" tIns="0" rIns="0" bIns="0" rtlCol="0" anchor="ctr"/>
          <a:lstStyle/>
          <a:p>
            <a:pPr algn="r" indent="0" marL="0">
              <a:buNone/>
            </a:pPr>
            <a:r>
              <a:rPr lang="en-US" sz="1300" b="1" dirty="0">
                <a:solidFill>
                  <a:srgbClr val="02C39A"/>
                </a:solidFill>
                <a:latin typeface="Calibri" pitchFamily="34" charset="0"/>
                <a:ea typeface="Calibri" pitchFamily="34" charset="-122"/>
                <a:cs typeface="Calibri" pitchFamily="34" charset="-120"/>
              </a:rPr>
              <a:t>SMS Misr</a:t>
            </a:r>
            <a:endParaRPr lang="en-US" sz="1300" dirty="0"/>
          </a:p>
        </p:txBody>
      </p:sp>
      <p:sp>
        <p:nvSpPr>
          <p:cNvPr id="22" name="Text 20"/>
          <p:cNvSpPr/>
          <p:nvPr/>
        </p:nvSpPr>
        <p:spPr>
          <a:xfrm>
            <a:off x="3383280" y="201168"/>
            <a:ext cx="5486400" cy="457200"/>
          </a:xfrm>
          <a:prstGeom prst="rect">
            <a:avLst/>
          </a:prstGeom>
          <a:noFill/>
          <a:ln/>
        </p:spPr>
        <p:txBody>
          <a:bodyPr wrap="square" lIns="0" tIns="0" rIns="0" bIns="0" rtlCol="0" anchor="ctr"/>
          <a:lstStyle/>
          <a:p>
            <a:pPr indent="0" marL="0">
              <a:buNone/>
            </a:pPr>
            <a:r>
              <a:rPr lang="en-US" sz="2200" b="1" dirty="0">
                <a:solidFill>
                  <a:srgbClr val="028090"/>
                </a:solidFill>
                <a:latin typeface="Calibri" pitchFamily="34" charset="0"/>
                <a:ea typeface="Calibri" pitchFamily="34" charset="-122"/>
                <a:cs typeface="Calibri" pitchFamily="34" charset="-120"/>
              </a:rPr>
              <a:t>SMS Misr — Current Setup</a:t>
            </a:r>
            <a:endParaRPr lang="en-US" sz="2200" dirty="0"/>
          </a:p>
        </p:txBody>
      </p:sp>
      <p:sp>
        <p:nvSpPr>
          <p:cNvPr id="23" name="Text 21"/>
          <p:cNvSpPr/>
          <p:nvPr/>
        </p:nvSpPr>
        <p:spPr>
          <a:xfrm>
            <a:off x="3383280" y="621792"/>
            <a:ext cx="548640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What you have today and why it needs to change</a:t>
            </a:r>
            <a:endParaRPr lang="en-US" sz="1200" dirty="0"/>
          </a:p>
        </p:txBody>
      </p:sp>
      <p:sp>
        <p:nvSpPr>
          <p:cNvPr id="24" name="Shape 22"/>
          <p:cNvSpPr/>
          <p:nvPr/>
        </p:nvSpPr>
        <p:spPr>
          <a:xfrm>
            <a:off x="3383280" y="1005840"/>
            <a:ext cx="5394960" cy="292608"/>
          </a:xfrm>
          <a:prstGeom prst="rect">
            <a:avLst/>
          </a:prstGeom>
          <a:solidFill>
            <a:srgbClr val="E0F2F4"/>
          </a:solidFill>
          <a:ln w="12700">
            <a:solidFill>
              <a:srgbClr val="E0F2F4"/>
            </a:solidFill>
            <a:prstDash val="solid"/>
          </a:ln>
        </p:spPr>
      </p:sp>
      <p:sp>
        <p:nvSpPr>
          <p:cNvPr id="25" name="Text 23"/>
          <p:cNvSpPr/>
          <p:nvPr/>
        </p:nvSpPr>
        <p:spPr>
          <a:xfrm>
            <a:off x="3429000" y="1033272"/>
            <a:ext cx="5303520" cy="237744"/>
          </a:xfrm>
          <a:prstGeom prst="rect">
            <a:avLst/>
          </a:prstGeom>
          <a:noFill/>
          <a:ln/>
        </p:spPr>
        <p:txBody>
          <a:bodyPr wrap="square" lIns="0" tIns="0" rIns="0" bIns="0" rtlCol="0" anchor="ctr"/>
          <a:lstStyle/>
          <a:p>
            <a:pPr indent="0" marL="0">
              <a:buNone/>
            </a:pPr>
            <a:r>
              <a:rPr lang="en-US" sz="1000" b="1" spc="200" kern="0" dirty="0">
                <a:solidFill>
                  <a:srgbClr val="028090"/>
                </a:solidFill>
                <a:latin typeface="Calibri" pitchFamily="34" charset="0"/>
                <a:ea typeface="Calibri" pitchFamily="34" charset="-122"/>
                <a:cs typeface="Calibri" pitchFamily="34" charset="-120"/>
              </a:rPr>
              <a:t>LIMITATIONS</a:t>
            </a:r>
            <a:endParaRPr lang="en-US" sz="1000" dirty="0"/>
          </a:p>
        </p:txBody>
      </p:sp>
      <p:sp>
        <p:nvSpPr>
          <p:cNvPr id="26" name="Shape 24"/>
          <p:cNvSpPr/>
          <p:nvPr/>
        </p:nvSpPr>
        <p:spPr>
          <a:xfrm>
            <a:off x="3383280" y="1417320"/>
            <a:ext cx="64008" cy="411480"/>
          </a:xfrm>
          <a:prstGeom prst="rect">
            <a:avLst/>
          </a:prstGeom>
          <a:solidFill>
            <a:srgbClr val="C0392B"/>
          </a:solidFill>
          <a:ln w="12700">
            <a:solidFill>
              <a:srgbClr val="C0392B"/>
            </a:solidFill>
            <a:prstDash val="solid"/>
          </a:ln>
        </p:spPr>
      </p:sp>
      <p:sp>
        <p:nvSpPr>
          <p:cNvPr id="27" name="Text 25"/>
          <p:cNvSpPr/>
          <p:nvPr/>
        </p:nvSpPr>
        <p:spPr>
          <a:xfrm>
            <a:off x="3520440" y="1426464"/>
            <a:ext cx="1463040" cy="201168"/>
          </a:xfrm>
          <a:prstGeom prst="rect">
            <a:avLst/>
          </a:prstGeom>
          <a:noFill/>
          <a:ln/>
        </p:spPr>
        <p:txBody>
          <a:bodyPr wrap="square" lIns="0" tIns="0" rIns="0" bIns="0" rtlCol="0" anchor="ctr"/>
          <a:lstStyle/>
          <a:p>
            <a:pPr indent="0" marL="0">
              <a:buNone/>
            </a:pPr>
            <a:r>
              <a:rPr lang="en-US" sz="1100" b="1" dirty="0">
                <a:solidFill>
                  <a:srgbClr val="1A2B2C"/>
                </a:solidFill>
                <a:latin typeface="Calibri" pitchFamily="34" charset="0"/>
                <a:ea typeface="Calibri" pitchFamily="34" charset="-122"/>
                <a:cs typeface="Calibri" pitchFamily="34" charset="-120"/>
              </a:rPr>
              <a:t>Text only</a:t>
            </a:r>
            <a:endParaRPr lang="en-US" sz="1100" dirty="0"/>
          </a:p>
        </p:txBody>
      </p:sp>
      <p:sp>
        <p:nvSpPr>
          <p:cNvPr id="28" name="Text 26"/>
          <p:cNvSpPr/>
          <p:nvPr/>
        </p:nvSpPr>
        <p:spPr>
          <a:xfrm>
            <a:off x="3520440" y="1618488"/>
            <a:ext cx="5120640" cy="20116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No PDF attachments, no images, no rich content — critical for lab results</a:t>
            </a:r>
            <a:endParaRPr lang="en-US" sz="1000" dirty="0"/>
          </a:p>
        </p:txBody>
      </p:sp>
      <p:sp>
        <p:nvSpPr>
          <p:cNvPr id="29" name="Shape 27"/>
          <p:cNvSpPr/>
          <p:nvPr/>
        </p:nvSpPr>
        <p:spPr>
          <a:xfrm>
            <a:off x="3383280" y="1929384"/>
            <a:ext cx="64008" cy="411480"/>
          </a:xfrm>
          <a:prstGeom prst="rect">
            <a:avLst/>
          </a:prstGeom>
          <a:solidFill>
            <a:srgbClr val="C0392B"/>
          </a:solidFill>
          <a:ln w="12700">
            <a:solidFill>
              <a:srgbClr val="C0392B"/>
            </a:solidFill>
            <a:prstDash val="solid"/>
          </a:ln>
        </p:spPr>
      </p:sp>
      <p:sp>
        <p:nvSpPr>
          <p:cNvPr id="30" name="Text 28"/>
          <p:cNvSpPr/>
          <p:nvPr/>
        </p:nvSpPr>
        <p:spPr>
          <a:xfrm>
            <a:off x="3520440" y="1938528"/>
            <a:ext cx="1463040" cy="201168"/>
          </a:xfrm>
          <a:prstGeom prst="rect">
            <a:avLst/>
          </a:prstGeom>
          <a:noFill/>
          <a:ln/>
        </p:spPr>
        <p:txBody>
          <a:bodyPr wrap="square" lIns="0" tIns="0" rIns="0" bIns="0" rtlCol="0" anchor="ctr"/>
          <a:lstStyle/>
          <a:p>
            <a:pPr indent="0" marL="0">
              <a:buNone/>
            </a:pPr>
            <a:r>
              <a:rPr lang="en-US" sz="1100" b="1" dirty="0">
                <a:solidFill>
                  <a:srgbClr val="1A2B2C"/>
                </a:solidFill>
                <a:latin typeface="Calibri" pitchFamily="34" charset="0"/>
                <a:ea typeface="Calibri" pitchFamily="34" charset="-122"/>
                <a:cs typeface="Calibri" pitchFamily="34" charset="-120"/>
              </a:rPr>
              <a:t>160-char limit</a:t>
            </a:r>
            <a:endParaRPr lang="en-US" sz="1100" dirty="0"/>
          </a:p>
        </p:txBody>
      </p:sp>
      <p:sp>
        <p:nvSpPr>
          <p:cNvPr id="31" name="Text 29"/>
          <p:cNvSpPr/>
          <p:nvPr/>
        </p:nvSpPr>
        <p:spPr>
          <a:xfrm>
            <a:off x="3520440" y="2130552"/>
            <a:ext cx="5120640" cy="20116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Multi-part messages increase cost and reduce patient experience</a:t>
            </a:r>
            <a:endParaRPr lang="en-US" sz="1000" dirty="0"/>
          </a:p>
        </p:txBody>
      </p:sp>
      <p:sp>
        <p:nvSpPr>
          <p:cNvPr id="32" name="Shape 30"/>
          <p:cNvSpPr/>
          <p:nvPr/>
        </p:nvSpPr>
        <p:spPr>
          <a:xfrm>
            <a:off x="3383280" y="2441448"/>
            <a:ext cx="64008" cy="411480"/>
          </a:xfrm>
          <a:prstGeom prst="rect">
            <a:avLst/>
          </a:prstGeom>
          <a:solidFill>
            <a:srgbClr val="C0392B"/>
          </a:solidFill>
          <a:ln w="12700">
            <a:solidFill>
              <a:srgbClr val="C0392B"/>
            </a:solidFill>
            <a:prstDash val="solid"/>
          </a:ln>
        </p:spPr>
      </p:sp>
      <p:sp>
        <p:nvSpPr>
          <p:cNvPr id="33" name="Text 31"/>
          <p:cNvSpPr/>
          <p:nvPr/>
        </p:nvSpPr>
        <p:spPr>
          <a:xfrm>
            <a:off x="3520440" y="2450592"/>
            <a:ext cx="1463040" cy="201168"/>
          </a:xfrm>
          <a:prstGeom prst="rect">
            <a:avLst/>
          </a:prstGeom>
          <a:noFill/>
          <a:ln/>
        </p:spPr>
        <p:txBody>
          <a:bodyPr wrap="square" lIns="0" tIns="0" rIns="0" bIns="0" rtlCol="0" anchor="ctr"/>
          <a:lstStyle/>
          <a:p>
            <a:pPr indent="0" marL="0">
              <a:buNone/>
            </a:pPr>
            <a:r>
              <a:rPr lang="en-US" sz="1100" b="1" dirty="0">
                <a:solidFill>
                  <a:srgbClr val="1A2B2C"/>
                </a:solidFill>
                <a:latin typeface="Calibri" pitchFamily="34" charset="0"/>
                <a:ea typeface="Calibri" pitchFamily="34" charset="-122"/>
                <a:cs typeface="Calibri" pitchFamily="34" charset="-120"/>
              </a:rPr>
              <a:t>Low open rates</a:t>
            </a:r>
            <a:endParaRPr lang="en-US" sz="1100" dirty="0"/>
          </a:p>
        </p:txBody>
      </p:sp>
      <p:sp>
        <p:nvSpPr>
          <p:cNvPr id="34" name="Text 32"/>
          <p:cNvSpPr/>
          <p:nvPr/>
        </p:nvSpPr>
        <p:spPr>
          <a:xfrm>
            <a:off x="3520440" y="2642616"/>
            <a:ext cx="5120640" cy="20116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SMS ~35% open rate vs WhatsApp &gt;90% — results may be missed</a:t>
            </a:r>
            <a:endParaRPr lang="en-US" sz="1000" dirty="0"/>
          </a:p>
        </p:txBody>
      </p:sp>
      <p:sp>
        <p:nvSpPr>
          <p:cNvPr id="35" name="Shape 33"/>
          <p:cNvSpPr/>
          <p:nvPr/>
        </p:nvSpPr>
        <p:spPr>
          <a:xfrm>
            <a:off x="3383280" y="2953512"/>
            <a:ext cx="64008" cy="411480"/>
          </a:xfrm>
          <a:prstGeom prst="rect">
            <a:avLst/>
          </a:prstGeom>
          <a:solidFill>
            <a:srgbClr val="C0392B"/>
          </a:solidFill>
          <a:ln w="12700">
            <a:solidFill>
              <a:srgbClr val="C0392B"/>
            </a:solidFill>
            <a:prstDash val="solid"/>
          </a:ln>
        </p:spPr>
      </p:sp>
      <p:sp>
        <p:nvSpPr>
          <p:cNvPr id="36" name="Text 34"/>
          <p:cNvSpPr/>
          <p:nvPr/>
        </p:nvSpPr>
        <p:spPr>
          <a:xfrm>
            <a:off x="3520440" y="2962656"/>
            <a:ext cx="1463040" cy="201168"/>
          </a:xfrm>
          <a:prstGeom prst="rect">
            <a:avLst/>
          </a:prstGeom>
          <a:noFill/>
          <a:ln/>
        </p:spPr>
        <p:txBody>
          <a:bodyPr wrap="square" lIns="0" tIns="0" rIns="0" bIns="0" rtlCol="0" anchor="ctr"/>
          <a:lstStyle/>
          <a:p>
            <a:pPr indent="0" marL="0">
              <a:buNone/>
            </a:pPr>
            <a:r>
              <a:rPr lang="en-US" sz="1100" b="1" dirty="0">
                <a:solidFill>
                  <a:srgbClr val="1A2B2C"/>
                </a:solidFill>
                <a:latin typeface="Calibri" pitchFamily="34" charset="0"/>
                <a:ea typeface="Calibri" pitchFamily="34" charset="-122"/>
                <a:cs typeface="Calibri" pitchFamily="34" charset="-120"/>
              </a:rPr>
              <a:t>No read receipts</a:t>
            </a:r>
            <a:endParaRPr lang="en-US" sz="1100" dirty="0"/>
          </a:p>
        </p:txBody>
      </p:sp>
      <p:sp>
        <p:nvSpPr>
          <p:cNvPr id="37" name="Text 35"/>
          <p:cNvSpPr/>
          <p:nvPr/>
        </p:nvSpPr>
        <p:spPr>
          <a:xfrm>
            <a:off x="3520440" y="3154680"/>
            <a:ext cx="5120640" cy="20116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Cannot confirm delivery or if patient actually read the result</a:t>
            </a:r>
            <a:endParaRPr lang="en-US" sz="1000" dirty="0"/>
          </a:p>
        </p:txBody>
      </p:sp>
      <p:sp>
        <p:nvSpPr>
          <p:cNvPr id="38" name="Shape 36"/>
          <p:cNvSpPr/>
          <p:nvPr/>
        </p:nvSpPr>
        <p:spPr>
          <a:xfrm>
            <a:off x="3383280" y="3465576"/>
            <a:ext cx="64008" cy="411480"/>
          </a:xfrm>
          <a:prstGeom prst="rect">
            <a:avLst/>
          </a:prstGeom>
          <a:solidFill>
            <a:srgbClr val="C0392B"/>
          </a:solidFill>
          <a:ln w="12700">
            <a:solidFill>
              <a:srgbClr val="C0392B"/>
            </a:solidFill>
            <a:prstDash val="solid"/>
          </a:ln>
        </p:spPr>
      </p:sp>
      <p:sp>
        <p:nvSpPr>
          <p:cNvPr id="39" name="Text 37"/>
          <p:cNvSpPr/>
          <p:nvPr/>
        </p:nvSpPr>
        <p:spPr>
          <a:xfrm>
            <a:off x="3520440" y="3474720"/>
            <a:ext cx="1463040" cy="201168"/>
          </a:xfrm>
          <a:prstGeom prst="rect">
            <a:avLst/>
          </a:prstGeom>
          <a:noFill/>
          <a:ln/>
        </p:spPr>
        <p:txBody>
          <a:bodyPr wrap="square" lIns="0" tIns="0" rIns="0" bIns="0" rtlCol="0" anchor="ctr"/>
          <a:lstStyle/>
          <a:p>
            <a:pPr indent="0" marL="0">
              <a:buNone/>
            </a:pPr>
            <a:r>
              <a:rPr lang="en-US" sz="1100" b="1" dirty="0">
                <a:solidFill>
                  <a:srgbClr val="1A2B2C"/>
                </a:solidFill>
                <a:latin typeface="Calibri" pitchFamily="34" charset="0"/>
                <a:ea typeface="Calibri" pitchFamily="34" charset="-122"/>
                <a:cs typeface="Calibri" pitchFamily="34" charset="-120"/>
              </a:rPr>
              <a:t>No interactivity</a:t>
            </a:r>
            <a:endParaRPr lang="en-US" sz="1100" dirty="0"/>
          </a:p>
        </p:txBody>
      </p:sp>
      <p:sp>
        <p:nvSpPr>
          <p:cNvPr id="40" name="Text 38"/>
          <p:cNvSpPr/>
          <p:nvPr/>
        </p:nvSpPr>
        <p:spPr>
          <a:xfrm>
            <a:off x="3520440" y="3666744"/>
            <a:ext cx="5120640" cy="20116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Patients cannot reply, click links, or download files natively</a:t>
            </a:r>
            <a:endParaRPr lang="en-US" sz="1000" dirty="0"/>
          </a:p>
        </p:txBody>
      </p:sp>
      <p:sp>
        <p:nvSpPr>
          <p:cNvPr id="41" name="Shape 39"/>
          <p:cNvSpPr/>
          <p:nvPr/>
        </p:nvSpPr>
        <p:spPr>
          <a:xfrm>
            <a:off x="3383280" y="3977640"/>
            <a:ext cx="64008" cy="411480"/>
          </a:xfrm>
          <a:prstGeom prst="rect">
            <a:avLst/>
          </a:prstGeom>
          <a:solidFill>
            <a:srgbClr val="C0392B"/>
          </a:solidFill>
          <a:ln w="12700">
            <a:solidFill>
              <a:srgbClr val="C0392B"/>
            </a:solidFill>
            <a:prstDash val="solid"/>
          </a:ln>
        </p:spPr>
      </p:sp>
      <p:sp>
        <p:nvSpPr>
          <p:cNvPr id="42" name="Text 40"/>
          <p:cNvSpPr/>
          <p:nvPr/>
        </p:nvSpPr>
        <p:spPr>
          <a:xfrm>
            <a:off x="3520440" y="3986784"/>
            <a:ext cx="1463040" cy="201168"/>
          </a:xfrm>
          <a:prstGeom prst="rect">
            <a:avLst/>
          </a:prstGeom>
          <a:noFill/>
          <a:ln/>
        </p:spPr>
        <p:txBody>
          <a:bodyPr wrap="square" lIns="0" tIns="0" rIns="0" bIns="0" rtlCol="0" anchor="ctr"/>
          <a:lstStyle/>
          <a:p>
            <a:pPr indent="0" marL="0">
              <a:buNone/>
            </a:pPr>
            <a:r>
              <a:rPr lang="en-US" sz="1100" b="1" dirty="0">
                <a:solidFill>
                  <a:srgbClr val="1A2B2C"/>
                </a:solidFill>
                <a:latin typeface="Calibri" pitchFamily="34" charset="0"/>
                <a:ea typeface="Calibri" pitchFamily="34" charset="-122"/>
                <a:cs typeface="Calibri" pitchFamily="34" charset="-120"/>
              </a:rPr>
              <a:t>No branding</a:t>
            </a:r>
            <a:endParaRPr lang="en-US" sz="1100" dirty="0"/>
          </a:p>
        </p:txBody>
      </p:sp>
      <p:sp>
        <p:nvSpPr>
          <p:cNvPr id="43" name="Text 41"/>
          <p:cNvSpPr/>
          <p:nvPr/>
        </p:nvSpPr>
        <p:spPr>
          <a:xfrm>
            <a:off x="3520440" y="4178808"/>
            <a:ext cx="5120640" cy="20116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Plain text — no lab logo, no professional formatting</a:t>
            </a:r>
            <a:endParaRPr lang="en-US" sz="1000" dirty="0"/>
          </a:p>
        </p:txBody>
      </p:sp>
      <p:sp>
        <p:nvSpPr>
          <p:cNvPr id="44" name="Shape 42"/>
          <p:cNvSpPr/>
          <p:nvPr/>
        </p:nvSpPr>
        <p:spPr>
          <a:xfrm>
            <a:off x="3383280" y="4489704"/>
            <a:ext cx="64008" cy="411480"/>
          </a:xfrm>
          <a:prstGeom prst="rect">
            <a:avLst/>
          </a:prstGeom>
          <a:solidFill>
            <a:srgbClr val="C0392B"/>
          </a:solidFill>
          <a:ln w="12700">
            <a:solidFill>
              <a:srgbClr val="C0392B"/>
            </a:solidFill>
            <a:prstDash val="solid"/>
          </a:ln>
        </p:spPr>
      </p:sp>
      <p:sp>
        <p:nvSpPr>
          <p:cNvPr id="45" name="Text 43"/>
          <p:cNvSpPr/>
          <p:nvPr/>
        </p:nvSpPr>
        <p:spPr>
          <a:xfrm>
            <a:off x="3520440" y="4498848"/>
            <a:ext cx="1463040" cy="201168"/>
          </a:xfrm>
          <a:prstGeom prst="rect">
            <a:avLst/>
          </a:prstGeom>
          <a:noFill/>
          <a:ln/>
        </p:spPr>
        <p:txBody>
          <a:bodyPr wrap="square" lIns="0" tIns="0" rIns="0" bIns="0" rtlCol="0" anchor="ctr"/>
          <a:lstStyle/>
          <a:p>
            <a:pPr indent="0" marL="0">
              <a:buNone/>
            </a:pPr>
            <a:r>
              <a:rPr lang="en-US" sz="1100" b="1" dirty="0">
                <a:solidFill>
                  <a:srgbClr val="1A2B2C"/>
                </a:solidFill>
                <a:latin typeface="Calibri" pitchFamily="34" charset="0"/>
                <a:ea typeface="Calibri" pitchFamily="34" charset="-122"/>
                <a:cs typeface="Calibri" pitchFamily="34" charset="-120"/>
              </a:rPr>
              <a:t>Linear cost scaling</a:t>
            </a:r>
            <a:endParaRPr lang="en-US" sz="1100" dirty="0"/>
          </a:p>
        </p:txBody>
      </p:sp>
      <p:sp>
        <p:nvSpPr>
          <p:cNvPr id="46" name="Text 44"/>
          <p:cNvSpPr/>
          <p:nvPr/>
        </p:nvSpPr>
        <p:spPr>
          <a:xfrm>
            <a:off x="3520440" y="4690872"/>
            <a:ext cx="5120640" cy="20116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Every extra lab = proportional cost with no volume discount path</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28090"/>
          </a:solidFill>
          <a:ln w="12700">
            <a:solidFill>
              <a:srgbClr val="028090"/>
            </a:solidFill>
            <a:prstDash val="solid"/>
          </a:ln>
        </p:spPr>
      </p:sp>
      <p:sp>
        <p:nvSpPr>
          <p:cNvPr id="3" name="Text 1"/>
          <p:cNvSpPr/>
          <p:nvPr/>
        </p:nvSpPr>
        <p:spPr>
          <a:xfrm>
            <a:off x="457200" y="146304"/>
            <a:ext cx="822960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What You Actually Need to Get Started</a:t>
            </a:r>
            <a:endParaRPr lang="en-US" sz="2200" dirty="0"/>
          </a:p>
        </p:txBody>
      </p:sp>
      <p:sp>
        <p:nvSpPr>
          <p:cNvPr id="4" name="Text 2"/>
          <p:cNvSpPr/>
          <p:nvPr/>
        </p:nvSpPr>
        <p:spPr>
          <a:xfrm>
            <a:off x="457200" y="566928"/>
            <a:ext cx="8229600" cy="219456"/>
          </a:xfrm>
          <a:prstGeom prst="rect">
            <a:avLst/>
          </a:prstGeom>
          <a:noFill/>
          <a:ln/>
        </p:spPr>
        <p:txBody>
          <a:bodyPr wrap="square" lIns="0" tIns="0" rIns="0" bIns="0" rtlCol="0" anchor="ctr"/>
          <a:lstStyle/>
          <a:p>
            <a:pPr indent="0" marL="0">
              <a:buNone/>
            </a:pPr>
            <a:r>
              <a:rPr lang="en-US" sz="1050" dirty="0">
                <a:solidFill>
                  <a:srgbClr val="B2E8F0"/>
                </a:solidFill>
                <a:latin typeface="Calibri" pitchFamily="34" charset="0"/>
                <a:ea typeface="Calibri" pitchFamily="34" charset="-122"/>
                <a:cs typeface="Calibri" pitchFamily="34" charset="-120"/>
              </a:rPr>
              <a:t>Clearing up the biggest misconceptions about WhatsApp API access requirements</a:t>
            </a:r>
            <a:endParaRPr lang="en-US" sz="1050" dirty="0"/>
          </a:p>
        </p:txBody>
      </p:sp>
      <p:sp>
        <p:nvSpPr>
          <p:cNvPr id="5" name="Shape 3"/>
          <p:cNvSpPr/>
          <p:nvPr/>
        </p:nvSpPr>
        <p:spPr>
          <a:xfrm>
            <a:off x="228600" y="987552"/>
            <a:ext cx="4251960" cy="347472"/>
          </a:xfrm>
          <a:prstGeom prst="rect">
            <a:avLst/>
          </a:prstGeom>
          <a:solidFill>
            <a:srgbClr val="27AE60"/>
          </a:solidFill>
          <a:ln w="12700">
            <a:solidFill>
              <a:srgbClr val="27AE60"/>
            </a:solidFill>
            <a:prstDash val="solid"/>
          </a:ln>
        </p:spPr>
      </p:sp>
      <p:sp>
        <p:nvSpPr>
          <p:cNvPr id="6" name="Text 4"/>
          <p:cNvSpPr/>
          <p:nvPr/>
        </p:nvSpPr>
        <p:spPr>
          <a:xfrm>
            <a:off x="338328" y="1005840"/>
            <a:ext cx="4023360"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NOT Required (Common Myths)</a:t>
            </a:r>
            <a:endParaRPr lang="en-US" sz="1200" dirty="0"/>
          </a:p>
        </p:txBody>
      </p:sp>
      <p:sp>
        <p:nvSpPr>
          <p:cNvPr id="7" name="Shape 5"/>
          <p:cNvSpPr/>
          <p:nvPr/>
        </p:nvSpPr>
        <p:spPr>
          <a:xfrm>
            <a:off x="228600" y="1389888"/>
            <a:ext cx="4251960" cy="804672"/>
          </a:xfrm>
          <a:prstGeom prst="rect">
            <a:avLst/>
          </a:prstGeom>
          <a:solidFill>
            <a:srgbClr val="F0FFF4"/>
          </a:solidFill>
          <a:ln w="12700">
            <a:solidFill>
              <a:srgbClr val="BBF7D0"/>
            </a:solidFill>
            <a:prstDash val="solid"/>
          </a:ln>
        </p:spPr>
      </p:sp>
      <p:sp>
        <p:nvSpPr>
          <p:cNvPr id="8" name="Shape 6"/>
          <p:cNvSpPr/>
          <p:nvPr/>
        </p:nvSpPr>
        <p:spPr>
          <a:xfrm>
            <a:off x="228600" y="1389888"/>
            <a:ext cx="54864" cy="804672"/>
          </a:xfrm>
          <a:prstGeom prst="rect">
            <a:avLst/>
          </a:prstGeom>
          <a:solidFill>
            <a:srgbClr val="27AE60"/>
          </a:solidFill>
          <a:ln w="12700">
            <a:solidFill>
              <a:srgbClr val="27AE60"/>
            </a:solidFill>
            <a:prstDash val="solid"/>
          </a:ln>
        </p:spPr>
      </p:sp>
      <p:sp>
        <p:nvSpPr>
          <p:cNvPr id="9" name="Text 7"/>
          <p:cNvSpPr/>
          <p:nvPr/>
        </p:nvSpPr>
        <p:spPr>
          <a:xfrm>
            <a:off x="356616" y="1444752"/>
            <a:ext cx="4023360" cy="237744"/>
          </a:xfrm>
          <a:prstGeom prst="rect">
            <a:avLst/>
          </a:prstGeom>
          <a:noFill/>
          <a:ln/>
        </p:spPr>
        <p:txBody>
          <a:bodyPr wrap="square" lIns="0" tIns="0" rIns="0" bIns="0" rtlCol="0" anchor="ctr"/>
          <a:lstStyle/>
          <a:p>
            <a:pPr indent="0" marL="0">
              <a:buNone/>
            </a:pPr>
            <a:r>
              <a:rPr lang="en-US" sz="1100" b="1" dirty="0">
                <a:solidFill>
                  <a:srgbClr val="1A2B2C"/>
                </a:solidFill>
                <a:latin typeface="Calibri" pitchFamily="34" charset="0"/>
                <a:ea typeface="Calibri" pitchFamily="34" charset="-122"/>
                <a:cs typeface="Calibri" pitchFamily="34" charset="-120"/>
              </a:rPr>
              <a:t>سجل تجاري / Trade License</a:t>
            </a:r>
            <a:endParaRPr lang="en-US" sz="1100" dirty="0"/>
          </a:p>
        </p:txBody>
      </p:sp>
      <p:sp>
        <p:nvSpPr>
          <p:cNvPr id="10" name="Text 8"/>
          <p:cNvSpPr/>
          <p:nvPr/>
        </p:nvSpPr>
        <p:spPr>
          <a:xfrm>
            <a:off x="356616" y="1691640"/>
            <a:ext cx="4023360" cy="45720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Meta removed this requirement in October 2023. You can reach full API limits without submitting any business documents to Meta.</a:t>
            </a:r>
            <a:endParaRPr lang="en-US" sz="950" dirty="0"/>
          </a:p>
        </p:txBody>
      </p:sp>
      <p:sp>
        <p:nvSpPr>
          <p:cNvPr id="11" name="Shape 9"/>
          <p:cNvSpPr/>
          <p:nvPr/>
        </p:nvSpPr>
        <p:spPr>
          <a:xfrm>
            <a:off x="228600" y="2286000"/>
            <a:ext cx="4251960" cy="804672"/>
          </a:xfrm>
          <a:prstGeom prst="rect">
            <a:avLst/>
          </a:prstGeom>
          <a:solidFill>
            <a:srgbClr val="F0FFF4"/>
          </a:solidFill>
          <a:ln w="12700">
            <a:solidFill>
              <a:srgbClr val="BBF7D0"/>
            </a:solidFill>
            <a:prstDash val="solid"/>
          </a:ln>
        </p:spPr>
      </p:sp>
      <p:sp>
        <p:nvSpPr>
          <p:cNvPr id="12" name="Shape 10"/>
          <p:cNvSpPr/>
          <p:nvPr/>
        </p:nvSpPr>
        <p:spPr>
          <a:xfrm>
            <a:off x="228600" y="2286000"/>
            <a:ext cx="54864" cy="804672"/>
          </a:xfrm>
          <a:prstGeom prst="rect">
            <a:avLst/>
          </a:prstGeom>
          <a:solidFill>
            <a:srgbClr val="27AE60"/>
          </a:solidFill>
          <a:ln w="12700">
            <a:solidFill>
              <a:srgbClr val="27AE60"/>
            </a:solidFill>
            <a:prstDash val="solid"/>
          </a:ln>
        </p:spPr>
      </p:sp>
      <p:sp>
        <p:nvSpPr>
          <p:cNvPr id="13" name="Text 11"/>
          <p:cNvSpPr/>
          <p:nvPr/>
        </p:nvSpPr>
        <p:spPr>
          <a:xfrm>
            <a:off x="356616" y="2340864"/>
            <a:ext cx="4023360" cy="237744"/>
          </a:xfrm>
          <a:prstGeom prst="rect">
            <a:avLst/>
          </a:prstGeom>
          <a:noFill/>
          <a:ln/>
        </p:spPr>
        <p:txBody>
          <a:bodyPr wrap="square" lIns="0" tIns="0" rIns="0" bIns="0" rtlCol="0" anchor="ctr"/>
          <a:lstStyle/>
          <a:p>
            <a:pPr indent="0" marL="0">
              <a:buNone/>
            </a:pPr>
            <a:r>
              <a:rPr lang="en-US" sz="1100" b="1" dirty="0">
                <a:solidFill>
                  <a:srgbClr val="1A2B2C"/>
                </a:solidFill>
                <a:latin typeface="Calibri" pitchFamily="34" charset="0"/>
                <a:ea typeface="Calibri" pitchFamily="34" charset="-122"/>
                <a:cs typeface="Calibri" pitchFamily="34" charset="-120"/>
              </a:rPr>
              <a:t>بطاقة ضريبية / Tax Card</a:t>
            </a:r>
            <a:endParaRPr lang="en-US" sz="1100" dirty="0"/>
          </a:p>
        </p:txBody>
      </p:sp>
      <p:sp>
        <p:nvSpPr>
          <p:cNvPr id="14" name="Text 12"/>
          <p:cNvSpPr/>
          <p:nvPr/>
        </p:nvSpPr>
        <p:spPr>
          <a:xfrm>
            <a:off x="356616" y="2587752"/>
            <a:ext cx="4023360" cy="45720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Not needed at any stage of WhatsApp API setup — not for sandbox, not for production, not for scaling limits.</a:t>
            </a:r>
            <a:endParaRPr lang="en-US" sz="950" dirty="0"/>
          </a:p>
        </p:txBody>
      </p:sp>
      <p:sp>
        <p:nvSpPr>
          <p:cNvPr id="15" name="Shape 13"/>
          <p:cNvSpPr/>
          <p:nvPr/>
        </p:nvSpPr>
        <p:spPr>
          <a:xfrm>
            <a:off x="228600" y="3182112"/>
            <a:ext cx="4251960" cy="804672"/>
          </a:xfrm>
          <a:prstGeom prst="rect">
            <a:avLst/>
          </a:prstGeom>
          <a:solidFill>
            <a:srgbClr val="F0FFF4"/>
          </a:solidFill>
          <a:ln w="12700">
            <a:solidFill>
              <a:srgbClr val="BBF7D0"/>
            </a:solidFill>
            <a:prstDash val="solid"/>
          </a:ln>
        </p:spPr>
      </p:sp>
      <p:sp>
        <p:nvSpPr>
          <p:cNvPr id="16" name="Shape 14"/>
          <p:cNvSpPr/>
          <p:nvPr/>
        </p:nvSpPr>
        <p:spPr>
          <a:xfrm>
            <a:off x="228600" y="3182112"/>
            <a:ext cx="54864" cy="804672"/>
          </a:xfrm>
          <a:prstGeom prst="rect">
            <a:avLst/>
          </a:prstGeom>
          <a:solidFill>
            <a:srgbClr val="27AE60"/>
          </a:solidFill>
          <a:ln w="12700">
            <a:solidFill>
              <a:srgbClr val="27AE60"/>
            </a:solidFill>
            <a:prstDash val="solid"/>
          </a:ln>
        </p:spPr>
      </p:sp>
      <p:sp>
        <p:nvSpPr>
          <p:cNvPr id="17" name="Text 15"/>
          <p:cNvSpPr/>
          <p:nvPr/>
        </p:nvSpPr>
        <p:spPr>
          <a:xfrm>
            <a:off x="356616" y="3236976"/>
            <a:ext cx="4023360" cy="237744"/>
          </a:xfrm>
          <a:prstGeom prst="rect">
            <a:avLst/>
          </a:prstGeom>
          <a:noFill/>
          <a:ln/>
        </p:spPr>
        <p:txBody>
          <a:bodyPr wrap="square" lIns="0" tIns="0" rIns="0" bIns="0" rtlCol="0" anchor="ctr"/>
          <a:lstStyle/>
          <a:p>
            <a:pPr indent="0" marL="0">
              <a:buNone/>
            </a:pPr>
            <a:r>
              <a:rPr lang="en-US" sz="1100" b="1" dirty="0">
                <a:solidFill>
                  <a:srgbClr val="1A2B2C"/>
                </a:solidFill>
                <a:latin typeface="Calibri" pitchFamily="34" charset="0"/>
                <a:ea typeface="Calibri" pitchFamily="34" charset="-122"/>
                <a:cs typeface="Calibri" pitchFamily="34" charset="-120"/>
              </a:rPr>
              <a:t>Verified Facebook Business</a:t>
            </a:r>
            <a:endParaRPr lang="en-US" sz="1100" dirty="0"/>
          </a:p>
        </p:txBody>
      </p:sp>
      <p:sp>
        <p:nvSpPr>
          <p:cNvPr id="18" name="Text 16"/>
          <p:cNvSpPr/>
          <p:nvPr/>
        </p:nvSpPr>
        <p:spPr>
          <a:xfrm>
            <a:off x="356616" y="3483864"/>
            <a:ext cx="4023360" cy="45720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No longer required for messaging limits. Interact with 1,000 unique contacts/month to scale — no verification needed.</a:t>
            </a:r>
            <a:endParaRPr lang="en-US" sz="950" dirty="0"/>
          </a:p>
        </p:txBody>
      </p:sp>
      <p:sp>
        <p:nvSpPr>
          <p:cNvPr id="19" name="Shape 17"/>
          <p:cNvSpPr/>
          <p:nvPr/>
        </p:nvSpPr>
        <p:spPr>
          <a:xfrm>
            <a:off x="228600" y="4078224"/>
            <a:ext cx="4251960" cy="804672"/>
          </a:xfrm>
          <a:prstGeom prst="rect">
            <a:avLst/>
          </a:prstGeom>
          <a:solidFill>
            <a:srgbClr val="F0FFF4"/>
          </a:solidFill>
          <a:ln w="12700">
            <a:solidFill>
              <a:srgbClr val="BBF7D0"/>
            </a:solidFill>
            <a:prstDash val="solid"/>
          </a:ln>
        </p:spPr>
      </p:sp>
      <p:sp>
        <p:nvSpPr>
          <p:cNvPr id="20" name="Shape 18"/>
          <p:cNvSpPr/>
          <p:nvPr/>
        </p:nvSpPr>
        <p:spPr>
          <a:xfrm>
            <a:off x="228600" y="4078224"/>
            <a:ext cx="54864" cy="804672"/>
          </a:xfrm>
          <a:prstGeom prst="rect">
            <a:avLst/>
          </a:prstGeom>
          <a:solidFill>
            <a:srgbClr val="27AE60"/>
          </a:solidFill>
          <a:ln w="12700">
            <a:solidFill>
              <a:srgbClr val="27AE60"/>
            </a:solidFill>
            <a:prstDash val="solid"/>
          </a:ln>
        </p:spPr>
      </p:sp>
      <p:sp>
        <p:nvSpPr>
          <p:cNvPr id="21" name="Text 19"/>
          <p:cNvSpPr/>
          <p:nvPr/>
        </p:nvSpPr>
        <p:spPr>
          <a:xfrm>
            <a:off x="356616" y="4133088"/>
            <a:ext cx="4023360" cy="237744"/>
          </a:xfrm>
          <a:prstGeom prst="rect">
            <a:avLst/>
          </a:prstGeom>
          <a:noFill/>
          <a:ln/>
        </p:spPr>
        <p:txBody>
          <a:bodyPr wrap="square" lIns="0" tIns="0" rIns="0" bIns="0" rtlCol="0" anchor="ctr"/>
          <a:lstStyle/>
          <a:p>
            <a:pPr indent="0" marL="0">
              <a:buNone/>
            </a:pPr>
            <a:r>
              <a:rPr lang="en-US" sz="1100" b="1" dirty="0">
                <a:solidFill>
                  <a:srgbClr val="1A2B2C"/>
                </a:solidFill>
                <a:latin typeface="Calibri" pitchFamily="34" charset="0"/>
                <a:ea typeface="Calibri" pitchFamily="34" charset="-122"/>
                <a:cs typeface="Calibri" pitchFamily="34" charset="-120"/>
              </a:rPr>
              <a:t>Website or Facebook Page</a:t>
            </a:r>
            <a:endParaRPr lang="en-US" sz="1100" dirty="0"/>
          </a:p>
        </p:txBody>
      </p:sp>
      <p:sp>
        <p:nvSpPr>
          <p:cNvPr id="22" name="Text 20"/>
          <p:cNvSpPr/>
          <p:nvPr/>
        </p:nvSpPr>
        <p:spPr>
          <a:xfrm>
            <a:off x="356616" y="4379976"/>
            <a:ext cx="4023360" cy="45720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Not mandatory. Some BSPs helped businesses go live with just an email address and a basic profile.</a:t>
            </a:r>
            <a:endParaRPr lang="en-US" sz="950" dirty="0"/>
          </a:p>
        </p:txBody>
      </p:sp>
      <p:sp>
        <p:nvSpPr>
          <p:cNvPr id="23" name="Shape 21"/>
          <p:cNvSpPr/>
          <p:nvPr/>
        </p:nvSpPr>
        <p:spPr>
          <a:xfrm>
            <a:off x="4690872" y="987552"/>
            <a:ext cx="4251960" cy="347472"/>
          </a:xfrm>
          <a:prstGeom prst="rect">
            <a:avLst/>
          </a:prstGeom>
          <a:solidFill>
            <a:srgbClr val="C0392B"/>
          </a:solidFill>
          <a:ln w="12700">
            <a:solidFill>
              <a:srgbClr val="C0392B"/>
            </a:solidFill>
            <a:prstDash val="solid"/>
          </a:ln>
        </p:spPr>
      </p:sp>
      <p:sp>
        <p:nvSpPr>
          <p:cNvPr id="24" name="Text 22"/>
          <p:cNvSpPr/>
          <p:nvPr/>
        </p:nvSpPr>
        <p:spPr>
          <a:xfrm>
            <a:off x="4800600" y="1005840"/>
            <a:ext cx="4023360"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Actually Required</a:t>
            </a:r>
            <a:endParaRPr lang="en-US" sz="1200" dirty="0"/>
          </a:p>
        </p:txBody>
      </p:sp>
      <p:sp>
        <p:nvSpPr>
          <p:cNvPr id="25" name="Shape 23"/>
          <p:cNvSpPr/>
          <p:nvPr/>
        </p:nvSpPr>
        <p:spPr>
          <a:xfrm>
            <a:off x="4690872" y="1389888"/>
            <a:ext cx="4251960" cy="804672"/>
          </a:xfrm>
          <a:prstGeom prst="rect">
            <a:avLst/>
          </a:prstGeom>
          <a:solidFill>
            <a:srgbClr val="FEF2F2"/>
          </a:solidFill>
          <a:ln w="12700">
            <a:solidFill>
              <a:srgbClr val="FECACA"/>
            </a:solidFill>
            <a:prstDash val="solid"/>
          </a:ln>
        </p:spPr>
      </p:sp>
      <p:sp>
        <p:nvSpPr>
          <p:cNvPr id="26" name="Shape 24"/>
          <p:cNvSpPr/>
          <p:nvPr/>
        </p:nvSpPr>
        <p:spPr>
          <a:xfrm>
            <a:off x="4690872" y="1389888"/>
            <a:ext cx="54864" cy="804672"/>
          </a:xfrm>
          <a:prstGeom prst="rect">
            <a:avLst/>
          </a:prstGeom>
          <a:solidFill>
            <a:srgbClr val="C0392B"/>
          </a:solidFill>
          <a:ln w="12700">
            <a:solidFill>
              <a:srgbClr val="C0392B"/>
            </a:solidFill>
            <a:prstDash val="solid"/>
          </a:ln>
        </p:spPr>
      </p:sp>
      <p:sp>
        <p:nvSpPr>
          <p:cNvPr id="27" name="Text 25"/>
          <p:cNvSpPr/>
          <p:nvPr/>
        </p:nvSpPr>
        <p:spPr>
          <a:xfrm>
            <a:off x="4818888" y="1444752"/>
            <a:ext cx="4023360" cy="237744"/>
          </a:xfrm>
          <a:prstGeom prst="rect">
            <a:avLst/>
          </a:prstGeom>
          <a:noFill/>
          <a:ln/>
        </p:spPr>
        <p:txBody>
          <a:bodyPr wrap="square" lIns="0" tIns="0" rIns="0" bIns="0" rtlCol="0" anchor="ctr"/>
          <a:lstStyle/>
          <a:p>
            <a:pPr indent="0" marL="0">
              <a:buNone/>
            </a:pPr>
            <a:r>
              <a:rPr lang="en-US" sz="1100" b="1" dirty="0">
                <a:solidFill>
                  <a:srgbClr val="1A2B2C"/>
                </a:solidFill>
                <a:latin typeface="Calibri" pitchFamily="34" charset="0"/>
                <a:ea typeface="Calibri" pitchFamily="34" charset="-122"/>
                <a:cs typeface="Calibri" pitchFamily="34" charset="-120"/>
              </a:rPr>
              <a:t>A Facebook / Meta Account</a:t>
            </a:r>
            <a:endParaRPr lang="en-US" sz="1100" dirty="0"/>
          </a:p>
        </p:txBody>
      </p:sp>
      <p:sp>
        <p:nvSpPr>
          <p:cNvPr id="28" name="Text 26"/>
          <p:cNvSpPr/>
          <p:nvPr/>
        </p:nvSpPr>
        <p:spPr>
          <a:xfrm>
            <a:off x="4818888" y="1691640"/>
            <a:ext cx="4023360" cy="45720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Any account works — personal or business. The advertising ban restriction hits when creating a Business Portfolio, not the API itself.</a:t>
            </a:r>
            <a:endParaRPr lang="en-US" sz="950" dirty="0"/>
          </a:p>
        </p:txBody>
      </p:sp>
      <p:sp>
        <p:nvSpPr>
          <p:cNvPr id="29" name="Shape 27"/>
          <p:cNvSpPr/>
          <p:nvPr/>
        </p:nvSpPr>
        <p:spPr>
          <a:xfrm>
            <a:off x="4690872" y="2286000"/>
            <a:ext cx="4251960" cy="804672"/>
          </a:xfrm>
          <a:prstGeom prst="rect">
            <a:avLst/>
          </a:prstGeom>
          <a:solidFill>
            <a:srgbClr val="FEF2F2"/>
          </a:solidFill>
          <a:ln w="12700">
            <a:solidFill>
              <a:srgbClr val="FECACA"/>
            </a:solidFill>
            <a:prstDash val="solid"/>
          </a:ln>
        </p:spPr>
      </p:sp>
      <p:sp>
        <p:nvSpPr>
          <p:cNvPr id="30" name="Shape 28"/>
          <p:cNvSpPr/>
          <p:nvPr/>
        </p:nvSpPr>
        <p:spPr>
          <a:xfrm>
            <a:off x="4690872" y="2286000"/>
            <a:ext cx="54864" cy="804672"/>
          </a:xfrm>
          <a:prstGeom prst="rect">
            <a:avLst/>
          </a:prstGeom>
          <a:solidFill>
            <a:srgbClr val="C0392B"/>
          </a:solidFill>
          <a:ln w="12700">
            <a:solidFill>
              <a:srgbClr val="C0392B"/>
            </a:solidFill>
            <a:prstDash val="solid"/>
          </a:ln>
        </p:spPr>
      </p:sp>
      <p:sp>
        <p:nvSpPr>
          <p:cNvPr id="31" name="Text 29"/>
          <p:cNvSpPr/>
          <p:nvPr/>
        </p:nvSpPr>
        <p:spPr>
          <a:xfrm>
            <a:off x="4818888" y="2340864"/>
            <a:ext cx="4023360" cy="237744"/>
          </a:xfrm>
          <a:prstGeom prst="rect">
            <a:avLst/>
          </a:prstGeom>
          <a:noFill/>
          <a:ln/>
        </p:spPr>
        <p:txBody>
          <a:bodyPr wrap="square" lIns="0" tIns="0" rIns="0" bIns="0" rtlCol="0" anchor="ctr"/>
          <a:lstStyle/>
          <a:p>
            <a:pPr indent="0" marL="0">
              <a:buNone/>
            </a:pPr>
            <a:r>
              <a:rPr lang="en-US" sz="1100" b="1" dirty="0">
                <a:solidFill>
                  <a:srgbClr val="1A2B2C"/>
                </a:solidFill>
                <a:latin typeface="Calibri" pitchFamily="34" charset="0"/>
                <a:ea typeface="Calibri" pitchFamily="34" charset="-122"/>
                <a:cs typeface="Calibri" pitchFamily="34" charset="-120"/>
              </a:rPr>
              <a:t>A Phone Number</a:t>
            </a:r>
            <a:endParaRPr lang="en-US" sz="1100" dirty="0"/>
          </a:p>
        </p:txBody>
      </p:sp>
      <p:sp>
        <p:nvSpPr>
          <p:cNvPr id="32" name="Text 30"/>
          <p:cNvSpPr/>
          <p:nvPr/>
        </p:nvSpPr>
        <p:spPr>
          <a:xfrm>
            <a:off x="4818888" y="2587752"/>
            <a:ext cx="4023360" cy="45720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Must never have been registered on WhatsApp before. A new SIM or VoIP number (Twilio, Vonage) both work fine.</a:t>
            </a:r>
            <a:endParaRPr lang="en-US" sz="950" dirty="0"/>
          </a:p>
        </p:txBody>
      </p:sp>
      <p:sp>
        <p:nvSpPr>
          <p:cNvPr id="33" name="Shape 31"/>
          <p:cNvSpPr/>
          <p:nvPr/>
        </p:nvSpPr>
        <p:spPr>
          <a:xfrm>
            <a:off x="4690872" y="3182112"/>
            <a:ext cx="4251960" cy="804672"/>
          </a:xfrm>
          <a:prstGeom prst="rect">
            <a:avLst/>
          </a:prstGeom>
          <a:solidFill>
            <a:srgbClr val="FEF2F2"/>
          </a:solidFill>
          <a:ln w="12700">
            <a:solidFill>
              <a:srgbClr val="FECACA"/>
            </a:solidFill>
            <a:prstDash val="solid"/>
          </a:ln>
        </p:spPr>
      </p:sp>
      <p:sp>
        <p:nvSpPr>
          <p:cNvPr id="34" name="Shape 32"/>
          <p:cNvSpPr/>
          <p:nvPr/>
        </p:nvSpPr>
        <p:spPr>
          <a:xfrm>
            <a:off x="4690872" y="3182112"/>
            <a:ext cx="54864" cy="804672"/>
          </a:xfrm>
          <a:prstGeom prst="rect">
            <a:avLst/>
          </a:prstGeom>
          <a:solidFill>
            <a:srgbClr val="C0392B"/>
          </a:solidFill>
          <a:ln w="12700">
            <a:solidFill>
              <a:srgbClr val="C0392B"/>
            </a:solidFill>
            <a:prstDash val="solid"/>
          </a:ln>
        </p:spPr>
      </p:sp>
      <p:sp>
        <p:nvSpPr>
          <p:cNvPr id="35" name="Text 33"/>
          <p:cNvSpPr/>
          <p:nvPr/>
        </p:nvSpPr>
        <p:spPr>
          <a:xfrm>
            <a:off x="4818888" y="3236976"/>
            <a:ext cx="4023360" cy="237744"/>
          </a:xfrm>
          <a:prstGeom prst="rect">
            <a:avLst/>
          </a:prstGeom>
          <a:noFill/>
          <a:ln/>
        </p:spPr>
        <p:txBody>
          <a:bodyPr wrap="square" lIns="0" tIns="0" rIns="0" bIns="0" rtlCol="0" anchor="ctr"/>
          <a:lstStyle/>
          <a:p>
            <a:pPr indent="0" marL="0">
              <a:buNone/>
            </a:pPr>
            <a:r>
              <a:rPr lang="en-US" sz="1100" b="1" dirty="0">
                <a:solidFill>
                  <a:srgbClr val="1A2B2C"/>
                </a:solidFill>
                <a:latin typeface="Calibri" pitchFamily="34" charset="0"/>
                <a:ea typeface="Calibri" pitchFamily="34" charset="-122"/>
                <a:cs typeface="Calibri" pitchFamily="34" charset="-120"/>
              </a:rPr>
              <a:t>Template Approval</a:t>
            </a:r>
            <a:endParaRPr lang="en-US" sz="1100" dirty="0"/>
          </a:p>
        </p:txBody>
      </p:sp>
      <p:sp>
        <p:nvSpPr>
          <p:cNvPr id="36" name="Text 34"/>
          <p:cNvSpPr/>
          <p:nvPr/>
        </p:nvSpPr>
        <p:spPr>
          <a:xfrm>
            <a:off x="4818888" y="3483864"/>
            <a:ext cx="4023360" cy="45720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Submit utility templates through Meta — approval takes 24–48h. Only 1 pre-approved template (hello_world) needed for sandbox testing.</a:t>
            </a:r>
            <a:endParaRPr lang="en-US" sz="950" dirty="0"/>
          </a:p>
        </p:txBody>
      </p:sp>
      <p:sp>
        <p:nvSpPr>
          <p:cNvPr id="37" name="Shape 35"/>
          <p:cNvSpPr/>
          <p:nvPr/>
        </p:nvSpPr>
        <p:spPr>
          <a:xfrm>
            <a:off x="4690872" y="4078224"/>
            <a:ext cx="4251960" cy="804672"/>
          </a:xfrm>
          <a:prstGeom prst="rect">
            <a:avLst/>
          </a:prstGeom>
          <a:solidFill>
            <a:srgbClr val="FEF2F2"/>
          </a:solidFill>
          <a:ln w="12700">
            <a:solidFill>
              <a:srgbClr val="FECACA"/>
            </a:solidFill>
            <a:prstDash val="solid"/>
          </a:ln>
        </p:spPr>
      </p:sp>
      <p:sp>
        <p:nvSpPr>
          <p:cNvPr id="38" name="Shape 36"/>
          <p:cNvSpPr/>
          <p:nvPr/>
        </p:nvSpPr>
        <p:spPr>
          <a:xfrm>
            <a:off x="4690872" y="4078224"/>
            <a:ext cx="54864" cy="804672"/>
          </a:xfrm>
          <a:prstGeom prst="rect">
            <a:avLst/>
          </a:prstGeom>
          <a:solidFill>
            <a:srgbClr val="C0392B"/>
          </a:solidFill>
          <a:ln w="12700">
            <a:solidFill>
              <a:srgbClr val="C0392B"/>
            </a:solidFill>
            <a:prstDash val="solid"/>
          </a:ln>
        </p:spPr>
      </p:sp>
      <p:sp>
        <p:nvSpPr>
          <p:cNvPr id="39" name="Text 37"/>
          <p:cNvSpPr/>
          <p:nvPr/>
        </p:nvSpPr>
        <p:spPr>
          <a:xfrm>
            <a:off x="4818888" y="4133088"/>
            <a:ext cx="4023360" cy="237744"/>
          </a:xfrm>
          <a:prstGeom prst="rect">
            <a:avLst/>
          </a:prstGeom>
          <a:noFill/>
          <a:ln/>
        </p:spPr>
        <p:txBody>
          <a:bodyPr wrap="square" lIns="0" tIns="0" rIns="0" bIns="0" rtlCol="0" anchor="ctr"/>
          <a:lstStyle/>
          <a:p>
            <a:pPr indent="0" marL="0">
              <a:buNone/>
            </a:pPr>
            <a:r>
              <a:rPr lang="en-US" sz="1100" b="1" dirty="0">
                <a:solidFill>
                  <a:srgbClr val="1A2B2C"/>
                </a:solidFill>
                <a:latin typeface="Calibri" pitchFamily="34" charset="0"/>
                <a:ea typeface="Calibri" pitchFamily="34" charset="-122"/>
                <a:cs typeface="Calibri" pitchFamily="34" charset="-120"/>
              </a:rPr>
              <a:t>Business Verification (optional)</a:t>
            </a:r>
            <a:endParaRPr lang="en-US" sz="1100" dirty="0"/>
          </a:p>
        </p:txBody>
      </p:sp>
      <p:sp>
        <p:nvSpPr>
          <p:cNvPr id="40" name="Text 38"/>
          <p:cNvSpPr/>
          <p:nvPr/>
        </p:nvSpPr>
        <p:spPr>
          <a:xfrm>
            <a:off x="4818888" y="4379976"/>
            <a:ext cx="4023360" cy="45720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Only needed for the green tick badge — cosmetic only. Not required for full messaging functionality.</a:t>
            </a:r>
            <a:endParaRPr lang="en-US" sz="950" dirty="0"/>
          </a:p>
        </p:txBody>
      </p:sp>
      <p:sp>
        <p:nvSpPr>
          <p:cNvPr id="41" name="Shape 39"/>
          <p:cNvSpPr/>
          <p:nvPr/>
        </p:nvSpPr>
        <p:spPr>
          <a:xfrm>
            <a:off x="228600" y="4663440"/>
            <a:ext cx="8686800" cy="329184"/>
          </a:xfrm>
          <a:prstGeom prst="rect">
            <a:avLst/>
          </a:prstGeom>
          <a:solidFill>
            <a:srgbClr val="E0F2F4"/>
          </a:solidFill>
          <a:ln w="12700">
            <a:solidFill>
              <a:srgbClr val="00A896"/>
            </a:solidFill>
            <a:prstDash val="solid"/>
          </a:ln>
        </p:spPr>
      </p:sp>
      <p:sp>
        <p:nvSpPr>
          <p:cNvPr id="42" name="Text 40"/>
          <p:cNvSpPr/>
          <p:nvPr/>
        </p:nvSpPr>
        <p:spPr>
          <a:xfrm>
            <a:off x="320040" y="4681728"/>
            <a:ext cx="8503920" cy="292608"/>
          </a:xfrm>
          <a:prstGeom prst="rect">
            <a:avLst/>
          </a:prstGeom>
          <a:noFill/>
          <a:ln/>
        </p:spPr>
        <p:txBody>
          <a:bodyPr wrap="square" lIns="0" tIns="0" rIns="0" bIns="0" rtlCol="0" anchor="ctr"/>
          <a:lstStyle/>
          <a:p>
            <a:pPr indent="0" marL="0">
              <a:buNone/>
            </a:pPr>
            <a:r>
              <a:rPr lang="en-US" sz="1000" b="1" dirty="0">
                <a:solidFill>
                  <a:srgbClr val="028090"/>
                </a:solidFill>
                <a:latin typeface="Calibri" pitchFamily="34" charset="0"/>
                <a:ea typeface="Calibri" pitchFamily="34" charset="-122"/>
                <a:cs typeface="Calibri" pitchFamily="34" charset="-120"/>
              </a:rPr>
              <a:t>WORKAROUND FOR AD BAN: </a:t>
            </a:r>
            <a:pPr indent="0" marL="0">
              <a:buNone/>
            </a:pPr>
            <a:r>
              <a:rPr lang="en-US" sz="1000" dirty="0">
                <a:solidFill>
                  <a:srgbClr val="1A2B2C"/>
                </a:solidFill>
                <a:latin typeface="Calibri" pitchFamily="34" charset="0"/>
                <a:ea typeface="Calibri" pitchFamily="34" charset="-122"/>
                <a:cs typeface="Calibri" pitchFamily="34" charset="-120"/>
              </a:rPr>
              <a:t>Use a BSP's embedded signup (WATI, 360dialog, BotSpace) — they create the WABA under their Meta partnership. Your Facebook account just authorizes the link; no Business Manager creation needed. Or have a colleague create the Business Manager and add you as Admin.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AFB"/>
        </a:solidFill>
      </p:bgPr>
    </p:bg>
    <p:spTree>
      <p:nvGrpSpPr>
        <p:cNvPr id="1" name=""/>
        <p:cNvGrpSpPr/>
        <p:nvPr/>
      </p:nvGrpSpPr>
      <p:grpSpPr>
        <a:xfrm>
          <a:off x="0" y="0"/>
          <a:ext cx="0" cy="0"/>
          <a:chOff x="0" y="0"/>
          <a:chExt cx="0" cy="0"/>
        </a:xfrm>
      </p:grpSpPr>
      <p:sp>
        <p:nvSpPr>
          <p:cNvPr id="2" name="Text 0"/>
          <p:cNvSpPr/>
          <p:nvPr/>
        </p:nvSpPr>
        <p:spPr>
          <a:xfrm>
            <a:off x="365760" y="164592"/>
            <a:ext cx="8412480" cy="457200"/>
          </a:xfrm>
          <a:prstGeom prst="rect">
            <a:avLst/>
          </a:prstGeom>
          <a:noFill/>
          <a:ln/>
        </p:spPr>
        <p:txBody>
          <a:bodyPr wrap="square" lIns="0" tIns="0" rIns="0" bIns="0" rtlCol="0" anchor="ctr"/>
          <a:lstStyle/>
          <a:p>
            <a:pPr indent="0" marL="0">
              <a:buNone/>
            </a:pPr>
            <a:r>
              <a:rPr lang="en-US" sz="2400" b="1" dirty="0">
                <a:solidFill>
                  <a:srgbClr val="028090"/>
                </a:solidFill>
                <a:latin typeface="Calibri" pitchFamily="34" charset="0"/>
                <a:ea typeface="Calibri" pitchFamily="34" charset="-122"/>
                <a:cs typeface="Calibri" pitchFamily="34" charset="-120"/>
              </a:rPr>
              <a:t>WhatsApp Pricing Model — What Changed in July 2025</a:t>
            </a:r>
            <a:endParaRPr lang="en-US" sz="2400" dirty="0"/>
          </a:p>
        </p:txBody>
      </p:sp>
      <p:sp>
        <p:nvSpPr>
          <p:cNvPr id="3" name="Text 1"/>
          <p:cNvSpPr/>
          <p:nvPr/>
        </p:nvSpPr>
        <p:spPr>
          <a:xfrm>
            <a:off x="365760" y="594360"/>
            <a:ext cx="841248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Meta replaced conversation-based pricing with per-message pricing. Every business-initiated template message is now billed individually.</a:t>
            </a:r>
            <a:endParaRPr lang="en-US" sz="1100" dirty="0"/>
          </a:p>
        </p:txBody>
      </p:sp>
      <p:sp>
        <p:nvSpPr>
          <p:cNvPr id="4" name="Shape 2"/>
          <p:cNvSpPr/>
          <p:nvPr/>
        </p:nvSpPr>
        <p:spPr>
          <a:xfrm>
            <a:off x="274320" y="1024128"/>
            <a:ext cx="4206240" cy="324612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7000"/>
              </a:srgbClr>
            </a:outerShdw>
          </a:effectLst>
        </p:spPr>
      </p:sp>
      <p:sp>
        <p:nvSpPr>
          <p:cNvPr id="5" name="Shape 3"/>
          <p:cNvSpPr/>
          <p:nvPr/>
        </p:nvSpPr>
        <p:spPr>
          <a:xfrm>
            <a:off x="274320" y="1024128"/>
            <a:ext cx="4206240" cy="347472"/>
          </a:xfrm>
          <a:prstGeom prst="rect">
            <a:avLst/>
          </a:prstGeom>
          <a:solidFill>
            <a:srgbClr val="E67E22"/>
          </a:solidFill>
          <a:ln w="12700">
            <a:solidFill>
              <a:srgbClr val="E67E22"/>
            </a:solidFill>
            <a:prstDash val="solid"/>
          </a:ln>
        </p:spPr>
      </p:sp>
      <p:sp>
        <p:nvSpPr>
          <p:cNvPr id="6" name="Text 4"/>
          <p:cNvSpPr/>
          <p:nvPr/>
        </p:nvSpPr>
        <p:spPr>
          <a:xfrm>
            <a:off x="402336" y="1042416"/>
            <a:ext cx="3931920"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OLD MODEL (Before July 2025)</a:t>
            </a:r>
            <a:endParaRPr lang="en-US" sz="1100" dirty="0"/>
          </a:p>
        </p:txBody>
      </p:sp>
      <p:sp>
        <p:nvSpPr>
          <p:cNvPr id="7" name="Text 5"/>
          <p:cNvSpPr/>
          <p:nvPr/>
        </p:nvSpPr>
        <p:spPr>
          <a:xfrm>
            <a:off x="384048" y="1463040"/>
            <a:ext cx="3977640" cy="2697480"/>
          </a:xfrm>
          <a:prstGeom prst="rect">
            <a:avLst/>
          </a:prstGeom>
          <a:noFill/>
          <a:ln/>
        </p:spPr>
        <p:txBody>
          <a:bodyPr wrap="square" lIns="0" tIns="0" rIns="0" bIns="0" rtlCol="0" anchor="ctr"/>
          <a:lstStyle/>
          <a:p>
            <a:pPr marL="342900" indent="-342900">
              <a:buSzPct val="100000"/>
              <a:buChar char="•"/>
            </a:pPr>
            <a:r>
              <a:rPr lang="en-US" sz="1100" dirty="0">
                <a:solidFill>
                  <a:srgbClr val="1A2B2C"/>
                </a:solidFill>
                <a:latin typeface="Calibri" pitchFamily="34" charset="0"/>
                <a:ea typeface="Calibri" pitchFamily="34" charset="-122"/>
                <a:cs typeface="Calibri" pitchFamily="34" charset="-120"/>
              </a:rPr>
              <a:t>Charged per 24-hour conversation window</a:t>
            </a:r>
            <a:endParaRPr lang="en-US" sz="1100" dirty="0"/>
          </a:p>
          <a:p>
            <a:pPr marL="342900" indent="-342900">
              <a:buSzPct val="100000"/>
              <a:buChar char="•"/>
            </a:pPr>
            <a:r>
              <a:rPr lang="en-US" sz="1100" dirty="0">
                <a:solidFill>
                  <a:srgbClr val="1A2B2C"/>
                </a:solidFill>
                <a:latin typeface="Calibri" pitchFamily="34" charset="0"/>
                <a:ea typeface="Calibri" pitchFamily="34" charset="-122"/>
                <a:cs typeface="Calibri" pitchFamily="34" charset="-120"/>
              </a:rPr>
              <a:t>One fee regardless of how many messages sent in window</a:t>
            </a:r>
            <a:endParaRPr lang="en-US" sz="1100" dirty="0"/>
          </a:p>
          <a:p>
            <a:pPr marL="342900" indent="-342900">
              <a:buSzPct val="100000"/>
              <a:buChar char="•"/>
            </a:pPr>
            <a:r>
              <a:rPr lang="en-US" sz="1100" dirty="0">
                <a:solidFill>
                  <a:srgbClr val="1A2B2C"/>
                </a:solidFill>
                <a:latin typeface="Calibri" pitchFamily="34" charset="0"/>
                <a:ea typeface="Calibri" pitchFamily="34" charset="-122"/>
                <a:cs typeface="Calibri" pitchFamily="34" charset="-120"/>
              </a:rPr>
              <a:t>4 categories: marketing, utility, authentication, service</a:t>
            </a:r>
            <a:endParaRPr lang="en-US" sz="1100" dirty="0"/>
          </a:p>
          <a:p>
            <a:pPr marL="342900" indent="-342900">
              <a:buSzPct val="100000"/>
              <a:buChar char="•"/>
            </a:pPr>
            <a:r>
              <a:rPr lang="en-US" sz="1100" dirty="0">
                <a:solidFill>
                  <a:srgbClr val="1A2B2C"/>
                </a:solidFill>
                <a:latin typeface="Calibri" pitchFamily="34" charset="0"/>
                <a:ea typeface="Calibri" pitchFamily="34" charset="-122"/>
                <a:cs typeface="Calibri" pitchFamily="34" charset="-120"/>
              </a:rPr>
              <a:t>Free tier: 1,000 conversations/month</a:t>
            </a:r>
            <a:endParaRPr lang="en-US" sz="1100" dirty="0"/>
          </a:p>
          <a:p>
            <a:pPr marL="342900" indent="-342900">
              <a:buSzPct val="100000"/>
              <a:buChar char="•"/>
            </a:pPr>
            <a:r>
              <a:rPr lang="en-US" sz="1100" dirty="0">
                <a:solidFill>
                  <a:srgbClr val="1A2B2C"/>
                </a:solidFill>
                <a:latin typeface="Calibri" pitchFamily="34" charset="0"/>
                <a:ea typeface="Calibri" pitchFamily="34" charset="-122"/>
                <a:cs typeface="Calibri" pitchFamily="34" charset="-120"/>
              </a:rPr>
              <a:t>Utility + service windows could bundle many messages cheaply</a:t>
            </a:r>
            <a:endParaRPr lang="en-US" sz="1100" dirty="0"/>
          </a:p>
        </p:txBody>
      </p:sp>
      <p:sp>
        <p:nvSpPr>
          <p:cNvPr id="8" name="Shape 6"/>
          <p:cNvSpPr/>
          <p:nvPr/>
        </p:nvSpPr>
        <p:spPr>
          <a:xfrm>
            <a:off x="4736592" y="1024128"/>
            <a:ext cx="4206240" cy="324612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7000"/>
              </a:srgbClr>
            </a:outerShdw>
          </a:effectLst>
        </p:spPr>
      </p:sp>
      <p:sp>
        <p:nvSpPr>
          <p:cNvPr id="9" name="Shape 7"/>
          <p:cNvSpPr/>
          <p:nvPr/>
        </p:nvSpPr>
        <p:spPr>
          <a:xfrm>
            <a:off x="4736592" y="1024128"/>
            <a:ext cx="4206240" cy="347472"/>
          </a:xfrm>
          <a:prstGeom prst="rect">
            <a:avLst/>
          </a:prstGeom>
          <a:solidFill>
            <a:srgbClr val="27AE60"/>
          </a:solidFill>
          <a:ln w="12700">
            <a:solidFill>
              <a:srgbClr val="27AE60"/>
            </a:solidFill>
            <a:prstDash val="solid"/>
          </a:ln>
        </p:spPr>
      </p:sp>
      <p:sp>
        <p:nvSpPr>
          <p:cNvPr id="10" name="Text 8"/>
          <p:cNvSpPr/>
          <p:nvPr/>
        </p:nvSpPr>
        <p:spPr>
          <a:xfrm>
            <a:off x="4864608" y="1042416"/>
            <a:ext cx="3931920"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NEW MODEL (July 2025 Onwards)</a:t>
            </a:r>
            <a:endParaRPr lang="en-US" sz="1100" dirty="0"/>
          </a:p>
        </p:txBody>
      </p:sp>
      <p:sp>
        <p:nvSpPr>
          <p:cNvPr id="11" name="Text 9"/>
          <p:cNvSpPr/>
          <p:nvPr/>
        </p:nvSpPr>
        <p:spPr>
          <a:xfrm>
            <a:off x="4846320" y="1463040"/>
            <a:ext cx="3977640" cy="2697480"/>
          </a:xfrm>
          <a:prstGeom prst="rect">
            <a:avLst/>
          </a:prstGeom>
          <a:noFill/>
          <a:ln/>
        </p:spPr>
        <p:txBody>
          <a:bodyPr wrap="square" lIns="0" tIns="0" rIns="0" bIns="0" rtlCol="0" anchor="ctr"/>
          <a:lstStyle/>
          <a:p>
            <a:pPr marL="342900" indent="-342900">
              <a:buSzPct val="100000"/>
              <a:buChar char="•"/>
            </a:pPr>
            <a:r>
              <a:rPr lang="en-US" sz="1100" dirty="0">
                <a:solidFill>
                  <a:srgbClr val="1A2B2C"/>
                </a:solidFill>
                <a:latin typeface="Calibri" pitchFamily="34" charset="0"/>
                <a:ea typeface="Calibri" pitchFamily="34" charset="-122"/>
                <a:cs typeface="Calibri" pitchFamily="34" charset="-120"/>
              </a:rPr>
              <a:t>Charged per individual message delivered</a:t>
            </a:r>
            <a:endParaRPr lang="en-US" sz="1100" dirty="0"/>
          </a:p>
          <a:p>
            <a:pPr marL="342900" indent="-342900">
              <a:buSzPct val="100000"/>
              <a:buChar char="•"/>
            </a:pPr>
            <a:r>
              <a:rPr lang="en-US" sz="1100" dirty="0">
                <a:solidFill>
                  <a:srgbClr val="1A2B2C"/>
                </a:solidFill>
                <a:latin typeface="Calibri" pitchFamily="34" charset="0"/>
                <a:ea typeface="Calibri" pitchFamily="34" charset="-122"/>
                <a:cs typeface="Calibri" pitchFamily="34" charset="-120"/>
              </a:rPr>
              <a:t>Each template message = one charge, every time</a:t>
            </a:r>
            <a:endParaRPr lang="en-US" sz="1100" dirty="0"/>
          </a:p>
          <a:p>
            <a:pPr marL="342900" indent="-342900">
              <a:buSzPct val="100000"/>
              <a:buChar char="•"/>
            </a:pPr>
            <a:r>
              <a:rPr lang="en-US" sz="1100" dirty="0">
                <a:solidFill>
                  <a:srgbClr val="1A2B2C"/>
                </a:solidFill>
                <a:latin typeface="Calibri" pitchFamily="34" charset="0"/>
                <a:ea typeface="Calibri" pitchFamily="34" charset="-122"/>
                <a:cs typeface="Calibri" pitchFamily="34" charset="-120"/>
              </a:rPr>
              <a:t>Non-template messages inside 24h window = still FREE</a:t>
            </a:r>
            <a:endParaRPr lang="en-US" sz="1100" dirty="0"/>
          </a:p>
          <a:p>
            <a:pPr marL="342900" indent="-342900">
              <a:buSzPct val="100000"/>
              <a:buChar char="•"/>
            </a:pPr>
            <a:r>
              <a:rPr lang="en-US" sz="1100" dirty="0">
                <a:solidFill>
                  <a:srgbClr val="1A2B2C"/>
                </a:solidFill>
                <a:latin typeface="Calibri" pitchFamily="34" charset="0"/>
                <a:ea typeface="Calibri" pitchFamily="34" charset="-122"/>
                <a:cs typeface="Calibri" pitchFamily="34" charset="-120"/>
              </a:rPr>
              <a:t>Utility templates inside 24h customer window = FREE</a:t>
            </a:r>
            <a:endParaRPr lang="en-US" sz="1100" dirty="0"/>
          </a:p>
          <a:p>
            <a:pPr marL="342900" indent="-342900">
              <a:buSzPct val="100000"/>
              <a:buChar char="•"/>
            </a:pPr>
            <a:r>
              <a:rPr lang="en-US" sz="1100" dirty="0">
                <a:solidFill>
                  <a:srgbClr val="1A2B2C"/>
                </a:solidFill>
                <a:latin typeface="Calibri" pitchFamily="34" charset="0"/>
                <a:ea typeface="Calibri" pitchFamily="34" charset="-122"/>
                <a:cs typeface="Calibri" pitchFamily="34" charset="-120"/>
              </a:rPr>
              <a:t>Volume tiers: more messages = lower per-message rate (utility/auth only)</a:t>
            </a:r>
            <a:endParaRPr lang="en-US" sz="1100" dirty="0"/>
          </a:p>
        </p:txBody>
      </p:sp>
      <p:sp>
        <p:nvSpPr>
          <p:cNvPr id="12" name="Shape 10"/>
          <p:cNvSpPr/>
          <p:nvPr/>
        </p:nvSpPr>
        <p:spPr>
          <a:xfrm>
            <a:off x="274320" y="4370832"/>
            <a:ext cx="8595360" cy="621792"/>
          </a:xfrm>
          <a:prstGeom prst="rect">
            <a:avLst/>
          </a:prstGeom>
          <a:solidFill>
            <a:srgbClr val="E0F2F4"/>
          </a:solidFill>
          <a:ln w="12700">
            <a:solidFill>
              <a:srgbClr val="00A896"/>
            </a:solidFill>
            <a:prstDash val="solid"/>
          </a:ln>
        </p:spPr>
      </p:sp>
      <p:sp>
        <p:nvSpPr>
          <p:cNvPr id="13" name="Text 11"/>
          <p:cNvSpPr/>
          <p:nvPr/>
        </p:nvSpPr>
        <p:spPr>
          <a:xfrm>
            <a:off x="402336" y="4425696"/>
            <a:ext cx="8321040" cy="201168"/>
          </a:xfrm>
          <a:prstGeom prst="rect">
            <a:avLst/>
          </a:prstGeom>
          <a:noFill/>
          <a:ln/>
        </p:spPr>
        <p:txBody>
          <a:bodyPr wrap="square" lIns="0" tIns="0" rIns="0" bIns="0" rtlCol="0" anchor="ctr"/>
          <a:lstStyle/>
          <a:p>
            <a:pPr indent="0" marL="0">
              <a:buNone/>
            </a:pPr>
            <a:r>
              <a:rPr lang="en-US" sz="1000" b="1" spc="100" kern="0" dirty="0">
                <a:solidFill>
                  <a:srgbClr val="028090"/>
                </a:solidFill>
                <a:latin typeface="Calibri" pitchFamily="34" charset="0"/>
                <a:ea typeface="Calibri" pitchFamily="34" charset="-122"/>
                <a:cs typeface="Calibri" pitchFamily="34" charset="-120"/>
              </a:rPr>
              <a:t>EGYPT UTILITY MESSAGE RATE (Verified from Twilio live calculator)</a:t>
            </a:r>
            <a:endParaRPr lang="en-US" sz="1000" dirty="0"/>
          </a:p>
        </p:txBody>
      </p:sp>
      <p:sp>
        <p:nvSpPr>
          <p:cNvPr id="14" name="Text 12"/>
          <p:cNvSpPr/>
          <p:nvPr/>
        </p:nvSpPr>
        <p:spPr>
          <a:xfrm>
            <a:off x="402336" y="4636008"/>
            <a:ext cx="2011680" cy="164592"/>
          </a:xfrm>
          <a:prstGeom prst="rect">
            <a:avLst/>
          </a:prstGeom>
          <a:noFill/>
          <a:ln/>
        </p:spPr>
        <p:txBody>
          <a:bodyPr wrap="square" lIns="0" tIns="0" rIns="0" bIns="0" rtlCol="0" anchor="ctr"/>
          <a:lstStyle/>
          <a:p>
            <a:pPr indent="0" marL="0">
              <a:buNone/>
            </a:pPr>
            <a:r>
              <a:rPr lang="en-US" sz="850" b="1" dirty="0">
                <a:solidFill>
                  <a:srgbClr val="64748B"/>
                </a:solidFill>
                <a:latin typeface="Calibri" pitchFamily="34" charset="0"/>
                <a:ea typeface="Calibri" pitchFamily="34" charset="-122"/>
                <a:cs typeface="Calibri" pitchFamily="34" charset="-120"/>
              </a:rPr>
              <a:t>Meta base rate</a:t>
            </a:r>
            <a:endParaRPr lang="en-US" sz="850" dirty="0"/>
          </a:p>
        </p:txBody>
      </p:sp>
      <p:sp>
        <p:nvSpPr>
          <p:cNvPr id="15" name="Text 13"/>
          <p:cNvSpPr/>
          <p:nvPr/>
        </p:nvSpPr>
        <p:spPr>
          <a:xfrm>
            <a:off x="402336" y="4782312"/>
            <a:ext cx="2011680" cy="182880"/>
          </a:xfrm>
          <a:prstGeom prst="rect">
            <a:avLst/>
          </a:prstGeom>
          <a:noFill/>
          <a:ln/>
        </p:spPr>
        <p:txBody>
          <a:bodyPr wrap="square" lIns="0" tIns="0" rIns="0" bIns="0" rtlCol="0" anchor="ctr"/>
          <a:lstStyle/>
          <a:p>
            <a:pPr indent="0" marL="0">
              <a:buNone/>
            </a:pPr>
            <a:r>
              <a:rPr lang="en-US" sz="1100" b="1" dirty="0">
                <a:solidFill>
                  <a:srgbClr val="028090"/>
                </a:solidFill>
                <a:latin typeface="Calibri" pitchFamily="34" charset="0"/>
                <a:ea typeface="Calibri" pitchFamily="34" charset="-122"/>
                <a:cs typeface="Calibri" pitchFamily="34" charset="-120"/>
              </a:rPr>
              <a:t>~$0.0036/message</a:t>
            </a:r>
            <a:endParaRPr lang="en-US" sz="1100" dirty="0"/>
          </a:p>
        </p:txBody>
      </p:sp>
      <p:sp>
        <p:nvSpPr>
          <p:cNvPr id="16" name="Text 14"/>
          <p:cNvSpPr/>
          <p:nvPr/>
        </p:nvSpPr>
        <p:spPr>
          <a:xfrm>
            <a:off x="2578608" y="4636008"/>
            <a:ext cx="2011680" cy="164592"/>
          </a:xfrm>
          <a:prstGeom prst="rect">
            <a:avLst/>
          </a:prstGeom>
          <a:noFill/>
          <a:ln/>
        </p:spPr>
        <p:txBody>
          <a:bodyPr wrap="square" lIns="0" tIns="0" rIns="0" bIns="0" rtlCol="0" anchor="ctr"/>
          <a:lstStyle/>
          <a:p>
            <a:pPr indent="0" marL="0">
              <a:buNone/>
            </a:pPr>
            <a:r>
              <a:rPr lang="en-US" sz="850" b="1" dirty="0">
                <a:solidFill>
                  <a:srgbClr val="64748B"/>
                </a:solidFill>
                <a:latin typeface="Calibri" pitchFamily="34" charset="0"/>
                <a:ea typeface="Calibri" pitchFamily="34" charset="-122"/>
                <a:cs typeface="Calibri" pitchFamily="34" charset="-120"/>
              </a:rPr>
              <a:t>Post-Oct 2025 reduction</a:t>
            </a:r>
            <a:endParaRPr lang="en-US" sz="850" dirty="0"/>
          </a:p>
        </p:txBody>
      </p:sp>
      <p:sp>
        <p:nvSpPr>
          <p:cNvPr id="17" name="Text 15"/>
          <p:cNvSpPr/>
          <p:nvPr/>
        </p:nvSpPr>
        <p:spPr>
          <a:xfrm>
            <a:off x="2578608" y="4782312"/>
            <a:ext cx="2011680" cy="182880"/>
          </a:xfrm>
          <a:prstGeom prst="rect">
            <a:avLst/>
          </a:prstGeom>
          <a:noFill/>
          <a:ln/>
        </p:spPr>
        <p:txBody>
          <a:bodyPr wrap="square" lIns="0" tIns="0" rIns="0" bIns="0" rtlCol="0" anchor="ctr"/>
          <a:lstStyle/>
          <a:p>
            <a:pPr indent="0" marL="0">
              <a:buNone/>
            </a:pPr>
            <a:r>
              <a:rPr lang="en-US" sz="1100" b="1" dirty="0">
                <a:solidFill>
                  <a:srgbClr val="028090"/>
                </a:solidFill>
                <a:latin typeface="Calibri" pitchFamily="34" charset="0"/>
                <a:ea typeface="Calibri" pitchFamily="34" charset="-122"/>
                <a:cs typeface="Calibri" pitchFamily="34" charset="-120"/>
              </a:rPr>
              <a:t>↓ May be lower</a:t>
            </a:r>
            <a:endParaRPr lang="en-US" sz="1100" dirty="0"/>
          </a:p>
        </p:txBody>
      </p:sp>
      <p:sp>
        <p:nvSpPr>
          <p:cNvPr id="18" name="Text 16"/>
          <p:cNvSpPr/>
          <p:nvPr/>
        </p:nvSpPr>
        <p:spPr>
          <a:xfrm>
            <a:off x="4754880" y="4636008"/>
            <a:ext cx="2011680" cy="164592"/>
          </a:xfrm>
          <a:prstGeom prst="rect">
            <a:avLst/>
          </a:prstGeom>
          <a:noFill/>
          <a:ln/>
        </p:spPr>
        <p:txBody>
          <a:bodyPr wrap="square" lIns="0" tIns="0" rIns="0" bIns="0" rtlCol="0" anchor="ctr"/>
          <a:lstStyle/>
          <a:p>
            <a:pPr indent="0" marL="0">
              <a:buNone/>
            </a:pPr>
            <a:r>
              <a:rPr lang="en-US" sz="850" b="1" dirty="0">
                <a:solidFill>
                  <a:srgbClr val="64748B"/>
                </a:solidFill>
                <a:latin typeface="Calibri" pitchFamily="34" charset="0"/>
                <a:ea typeface="Calibri" pitchFamily="34" charset="-122"/>
                <a:cs typeface="Calibri" pitchFamily="34" charset="-120"/>
              </a:rPr>
              <a:t>Utility inside 24h window</a:t>
            </a:r>
            <a:endParaRPr lang="en-US" sz="850" dirty="0"/>
          </a:p>
        </p:txBody>
      </p:sp>
      <p:sp>
        <p:nvSpPr>
          <p:cNvPr id="19" name="Text 17"/>
          <p:cNvSpPr/>
          <p:nvPr/>
        </p:nvSpPr>
        <p:spPr>
          <a:xfrm>
            <a:off x="4754880" y="4782312"/>
            <a:ext cx="2011680" cy="182880"/>
          </a:xfrm>
          <a:prstGeom prst="rect">
            <a:avLst/>
          </a:prstGeom>
          <a:noFill/>
          <a:ln/>
        </p:spPr>
        <p:txBody>
          <a:bodyPr wrap="square" lIns="0" tIns="0" rIns="0" bIns="0" rtlCol="0" anchor="ctr"/>
          <a:lstStyle/>
          <a:p>
            <a:pPr indent="0" marL="0">
              <a:buNone/>
            </a:pPr>
            <a:r>
              <a:rPr lang="en-US" sz="1100" b="1" dirty="0">
                <a:solidFill>
                  <a:srgbClr val="028090"/>
                </a:solidFill>
                <a:latin typeface="Calibri" pitchFamily="34" charset="0"/>
                <a:ea typeface="Calibri" pitchFamily="34" charset="-122"/>
                <a:cs typeface="Calibri" pitchFamily="34" charset="-120"/>
              </a:rPr>
              <a:t>$0.00 (FREE)</a:t>
            </a:r>
            <a:endParaRPr lang="en-US" sz="1100" dirty="0"/>
          </a:p>
        </p:txBody>
      </p:sp>
      <p:sp>
        <p:nvSpPr>
          <p:cNvPr id="20" name="Text 18"/>
          <p:cNvSpPr/>
          <p:nvPr/>
        </p:nvSpPr>
        <p:spPr>
          <a:xfrm>
            <a:off x="6931152" y="4636008"/>
            <a:ext cx="2011680" cy="164592"/>
          </a:xfrm>
          <a:prstGeom prst="rect">
            <a:avLst/>
          </a:prstGeom>
          <a:noFill/>
          <a:ln/>
        </p:spPr>
        <p:txBody>
          <a:bodyPr wrap="square" lIns="0" tIns="0" rIns="0" bIns="0" rtlCol="0" anchor="ctr"/>
          <a:lstStyle/>
          <a:p>
            <a:pPr indent="0" marL="0">
              <a:buNone/>
            </a:pPr>
            <a:r>
              <a:rPr lang="en-US" sz="850" b="1" dirty="0">
                <a:solidFill>
                  <a:srgbClr val="64748B"/>
                </a:solidFill>
                <a:latin typeface="Calibri" pitchFamily="34" charset="0"/>
                <a:ea typeface="Calibri" pitchFamily="34" charset="-122"/>
                <a:cs typeface="Calibri" pitchFamily="34" charset="-120"/>
              </a:rPr>
              <a:t>Your lab use case</a:t>
            </a:r>
            <a:endParaRPr lang="en-US" sz="850" dirty="0"/>
          </a:p>
        </p:txBody>
      </p:sp>
      <p:sp>
        <p:nvSpPr>
          <p:cNvPr id="21" name="Text 19"/>
          <p:cNvSpPr/>
          <p:nvPr/>
        </p:nvSpPr>
        <p:spPr>
          <a:xfrm>
            <a:off x="6931152" y="4782312"/>
            <a:ext cx="2011680" cy="182880"/>
          </a:xfrm>
          <a:prstGeom prst="rect">
            <a:avLst/>
          </a:prstGeom>
          <a:noFill/>
          <a:ln/>
        </p:spPr>
        <p:txBody>
          <a:bodyPr wrap="square" lIns="0" tIns="0" rIns="0" bIns="0" rtlCol="0" anchor="ctr"/>
          <a:lstStyle/>
          <a:p>
            <a:pPr indent="0" marL="0">
              <a:buNone/>
            </a:pPr>
            <a:r>
              <a:rPr lang="en-US" sz="1100" b="1" dirty="0">
                <a:solidFill>
                  <a:srgbClr val="028090"/>
                </a:solidFill>
                <a:latin typeface="Calibri" pitchFamily="34" charset="0"/>
                <a:ea typeface="Calibri" pitchFamily="34" charset="-122"/>
                <a:cs typeface="Calibri" pitchFamily="34" charset="-120"/>
              </a:rPr>
              <a:t>Always charged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28600" y="137160"/>
            <a:ext cx="8686800" cy="438912"/>
          </a:xfrm>
          <a:prstGeom prst="rect">
            <a:avLst/>
          </a:prstGeom>
          <a:noFill/>
          <a:ln/>
        </p:spPr>
        <p:txBody>
          <a:bodyPr wrap="square" lIns="0" tIns="0" rIns="0" bIns="0" rtlCol="0" anchor="ctr"/>
          <a:lstStyle/>
          <a:p>
            <a:pPr indent="0" marL="0">
              <a:buNone/>
            </a:pPr>
            <a:r>
              <a:rPr lang="en-US" sz="2400" b="1" dirty="0">
                <a:solidFill>
                  <a:srgbClr val="028090"/>
                </a:solidFill>
                <a:latin typeface="Calibri" pitchFamily="34" charset="0"/>
                <a:ea typeface="Calibri" pitchFamily="34" charset="-122"/>
                <a:cs typeface="Calibri" pitchFamily="34" charset="-120"/>
              </a:rPr>
              <a:t>Official WhatsApp Providers — Head-to-Head</a:t>
            </a:r>
            <a:endParaRPr lang="en-US" sz="2400" dirty="0"/>
          </a:p>
        </p:txBody>
      </p:sp>
      <p:sp>
        <p:nvSpPr>
          <p:cNvPr id="3" name="Text 1"/>
          <p:cNvSpPr/>
          <p:nvPr/>
        </p:nvSpPr>
        <p:spPr>
          <a:xfrm>
            <a:off x="228600" y="530352"/>
            <a:ext cx="8686800" cy="256032"/>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Comparing all four relevant official providers · Egypt · 15,000 utility messages/month · Prices verified from provider sites</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28600" y="868680"/>
          <a:ext cx="8686800" cy="4114800"/>
        </p:xfrm>
        <a:graphic>
          <a:graphicData uri="http://schemas.openxmlformats.org/drawingml/2006/table">
            <a:tbl>
              <a:tblPr/>
              <a:tblGrid>
                <a:gridCol w="1463040"/>
                <a:gridCol w="1828800"/>
                <a:gridCol w="1783080"/>
                <a:gridCol w="1783080"/>
                <a:gridCol w="1828800"/>
              </a:tblGrid>
              <a:tr h="34290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Feature</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E6B78"/>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Meta Cloud API (Direct)</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E6B78"/>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360dialog</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E6B78"/>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WATI Growth</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E6B78"/>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Twilio</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E6B78"/>
                    </a:solidFill>
                  </a:tcPr>
                </a:tc>
              </a:tr>
              <a:tr h="342900">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Pricing model</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Per-message (direct Meta)</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Per-message + platform fee</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Platform fee + 20% markup on Meta</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Per-message + $0.005/msg Twilio fee</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2900">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Meta fee (Egypt utility)</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9FA"/>
                    </a:solidFill>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~$0.0036/msg</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~$0.0036/msg</a:t>
                      </a:r>
                      <a:endParaRPr lang="en-US" sz="1000" dirty="0">
                        <a:latin typeface="Calibri" charset="0"/>
                        <a:ea typeface="Calibri" charset="0"/>
                        <a:cs typeface="Calibri" charset="0"/>
                      </a:endParaRPr>
                    </a:p>
                    <a:p>
                      <a:pPr indent="0" marL="0">
                        <a:buNone/>
                      </a:pPr>
                      <a:r>
                        <a:rPr lang="en-US" sz="1000" dirty="0">
                          <a:solidFill>
                            <a:srgbClr val="1A2B2C"/>
                          </a:solidFill>
                          <a:latin typeface="Calibri" pitchFamily="34" charset="0"/>
                          <a:ea typeface="Calibri" pitchFamily="34" charset="-122"/>
                          <a:cs typeface="Calibri" pitchFamily="34" charset="-120"/>
                        </a:rPr>
                        <a:t>(no markup!)</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9FA"/>
                    </a:solidFill>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~$0.0043/msg</a:t>
                      </a:r>
                      <a:endParaRPr lang="en-US" sz="1000" dirty="0">
                        <a:latin typeface="Calibri" charset="0"/>
                        <a:ea typeface="Calibri" charset="0"/>
                        <a:cs typeface="Calibri" charset="0"/>
                      </a:endParaRPr>
                    </a:p>
                    <a:p>
                      <a:pPr indent="0" marL="0">
                        <a:buNone/>
                      </a:pPr>
                      <a:r>
                        <a:rPr lang="en-US" sz="1000" dirty="0">
                          <a:solidFill>
                            <a:srgbClr val="1A2B2C"/>
                          </a:solidFill>
                          <a:latin typeface="Calibri" pitchFamily="34" charset="0"/>
                          <a:ea typeface="Calibri" pitchFamily="34" charset="-122"/>
                          <a:cs typeface="Calibri" pitchFamily="34" charset="-120"/>
                        </a:rPr>
                        <a:t>(Meta × 1.2)</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~$0.0036/msg</a:t>
                      </a:r>
                      <a:endParaRPr lang="en-US" sz="1000" dirty="0">
                        <a:latin typeface="Calibri" charset="0"/>
                        <a:ea typeface="Calibri" charset="0"/>
                        <a:cs typeface="Calibri" charset="0"/>
                      </a:endParaRPr>
                    </a:p>
                    <a:p>
                      <a:pPr indent="0" marL="0">
                        <a:buNone/>
                      </a:pPr>
                      <a:r>
                        <a:rPr lang="en-US" sz="1000" dirty="0">
                          <a:solidFill>
                            <a:srgbClr val="1A2B2C"/>
                          </a:solidFill>
                          <a:latin typeface="Calibri" pitchFamily="34" charset="0"/>
                          <a:ea typeface="Calibri" pitchFamily="34" charset="-122"/>
                          <a:cs typeface="Calibri" pitchFamily="34" charset="-120"/>
                        </a:rPr>
                        <a:t>(passed through)</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9FA"/>
                    </a:solidFill>
                  </a:tcPr>
                </a:tc>
              </a:tr>
              <a:tr h="342900">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Platform/markup fee</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$59/month (€49)</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$49/month</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$0.005 per msg sent+received</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2900">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15K msgs/month (Meta)</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9FA"/>
                    </a:solidFill>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~$54</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~$54</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~$65</a:t>
                      </a:r>
                      <a:endParaRPr lang="en-US" sz="1000" dirty="0">
                        <a:latin typeface="Calibri" charset="0"/>
                        <a:ea typeface="Calibri" charset="0"/>
                        <a:cs typeface="Calibri" charset="0"/>
                      </a:endParaRPr>
                    </a:p>
                    <a:p>
                      <a:pPr indent="0" marL="0">
                        <a:buNone/>
                      </a:pPr>
                      <a:r>
                        <a:rPr lang="en-US" sz="1000" dirty="0">
                          <a:solidFill>
                            <a:srgbClr val="1A2B2C"/>
                          </a:solidFill>
                          <a:latin typeface="Calibri" pitchFamily="34" charset="0"/>
                          <a:ea typeface="Calibri" pitchFamily="34" charset="-122"/>
                          <a:cs typeface="Calibri" pitchFamily="34" charset="-120"/>
                        </a:rPr>
                        <a:t>(with 20% markup)</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9FA"/>
                    </a:solidFill>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~$54</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2900">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Total/month (USD)</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~$74</a:t>
                      </a:r>
                      <a:endParaRPr lang="en-US" sz="1000" dirty="0">
                        <a:latin typeface="Calibri" charset="0"/>
                        <a:ea typeface="Calibri" charset="0"/>
                        <a:cs typeface="Calibri" charset="0"/>
                      </a:endParaRPr>
                    </a:p>
                    <a:p>
                      <a:pPr indent="0" marL="0">
                        <a:buNone/>
                      </a:pPr>
                      <a:r>
                        <a:rPr lang="en-US" sz="1000" dirty="0">
                          <a:solidFill>
                            <a:srgbClr val="1A2B2C"/>
                          </a:solidFill>
                          <a:latin typeface="Calibri" pitchFamily="34" charset="0"/>
                          <a:ea typeface="Calibri" pitchFamily="34" charset="-122"/>
                          <a:cs typeface="Calibri" pitchFamily="34" charset="-120"/>
                        </a:rPr>
                        <a:t>($54+$20 server)</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~$113</a:t>
                      </a:r>
                      <a:endParaRPr lang="en-US" sz="1000" dirty="0">
                        <a:latin typeface="Calibri" charset="0"/>
                        <a:ea typeface="Calibri" charset="0"/>
                        <a:cs typeface="Calibri" charset="0"/>
                      </a:endParaRPr>
                    </a:p>
                    <a:p>
                      <a:pPr indent="0" marL="0">
                        <a:buNone/>
                      </a:pPr>
                      <a:r>
                        <a:rPr lang="en-US" sz="1000" dirty="0">
                          <a:solidFill>
                            <a:srgbClr val="1A2B2C"/>
                          </a:solidFill>
                          <a:latin typeface="Calibri" pitchFamily="34" charset="0"/>
                          <a:ea typeface="Calibri" pitchFamily="34" charset="-122"/>
                          <a:cs typeface="Calibri" pitchFamily="34" charset="-120"/>
                        </a:rPr>
                        <a:t>($54+$59)</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~$114</a:t>
                      </a:r>
                      <a:endParaRPr lang="en-US" sz="1000" dirty="0">
                        <a:latin typeface="Calibri" charset="0"/>
                        <a:ea typeface="Calibri" charset="0"/>
                        <a:cs typeface="Calibri" charset="0"/>
                      </a:endParaRPr>
                    </a:p>
                    <a:p>
                      <a:pPr indent="0" marL="0">
                        <a:buNone/>
                      </a:pPr>
                      <a:r>
                        <a:rPr lang="en-US" sz="1000" dirty="0">
                          <a:solidFill>
                            <a:srgbClr val="1A2B2C"/>
                          </a:solidFill>
                          <a:latin typeface="Calibri" pitchFamily="34" charset="0"/>
                          <a:ea typeface="Calibri" pitchFamily="34" charset="-122"/>
                          <a:cs typeface="Calibri" pitchFamily="34" charset="-120"/>
                        </a:rPr>
                        <a:t>($65+$49)</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~$129</a:t>
                      </a:r>
                      <a:endParaRPr lang="en-US" sz="1000" dirty="0">
                        <a:latin typeface="Calibri" charset="0"/>
                        <a:ea typeface="Calibri" charset="0"/>
                        <a:cs typeface="Calibri" charset="0"/>
                      </a:endParaRPr>
                    </a:p>
                    <a:p>
                      <a:pPr indent="0" marL="0">
                        <a:buNone/>
                      </a:pPr>
                      <a:r>
                        <a:rPr lang="en-US" sz="1000" dirty="0">
                          <a:solidFill>
                            <a:srgbClr val="1A2B2C"/>
                          </a:solidFill>
                          <a:latin typeface="Calibri" pitchFamily="34" charset="0"/>
                          <a:ea typeface="Calibri" pitchFamily="34" charset="-122"/>
                          <a:cs typeface="Calibri" pitchFamily="34" charset="-120"/>
                        </a:rPr>
                        <a:t>($54+$75 Twilio)</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2900">
                <a:tc>
                  <a:txBody>
                    <a:bodyPr/>
                    <a:lstStyle/>
                    <a:p>
                      <a:pPr indent="0" marL="0">
                        <a:buNone/>
                      </a:pPr>
                      <a:r>
                        <a:rPr lang="en-US" sz="1100" b="1" dirty="0">
                          <a:solidFill>
                            <a:srgbClr val="028090"/>
                          </a:solidFill>
                          <a:latin typeface="Calibri" pitchFamily="34" charset="0"/>
                          <a:ea typeface="Calibri" pitchFamily="34" charset="-122"/>
                          <a:cs typeface="Calibri" pitchFamily="34" charset="-120"/>
                        </a:rPr>
                        <a:t>Total/month (EGP)</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9FA"/>
                    </a:solidFill>
                  </a:tcPr>
                </a:tc>
                <a:tc>
                  <a:txBody>
                    <a:bodyPr/>
                    <a:lstStyle/>
                    <a:p>
                      <a:pPr indent="0" marL="0">
                        <a:buNone/>
                      </a:pPr>
                      <a:r>
                        <a:rPr lang="en-US" sz="1100" b="1" dirty="0">
                          <a:solidFill>
                            <a:srgbClr val="27AE60"/>
                          </a:solidFill>
                          <a:latin typeface="Calibri" pitchFamily="34" charset="0"/>
                          <a:ea typeface="Calibri" pitchFamily="34" charset="-122"/>
                          <a:cs typeface="Calibri" pitchFamily="34" charset="-120"/>
                        </a:rPr>
                        <a:t>~3,700</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9FA"/>
                    </a:solidFill>
                  </a:tcPr>
                </a:tc>
                <a:tc>
                  <a:txBody>
                    <a:bodyPr/>
                    <a:lstStyle/>
                    <a:p>
                      <a:pPr indent="0" marL="0">
                        <a:buNone/>
                      </a:pPr>
                      <a:r>
                        <a:rPr lang="en-US" sz="1100" b="1" dirty="0">
                          <a:solidFill>
                            <a:srgbClr val="028090"/>
                          </a:solidFill>
                          <a:latin typeface="Calibri" pitchFamily="34" charset="0"/>
                          <a:ea typeface="Calibri" pitchFamily="34" charset="-122"/>
                          <a:cs typeface="Calibri" pitchFamily="34" charset="-120"/>
                        </a:rPr>
                        <a:t>~5,650</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9FA"/>
                    </a:solidFill>
                  </a:tcPr>
                </a:tc>
                <a:tc>
                  <a:txBody>
                    <a:bodyPr/>
                    <a:lstStyle/>
                    <a:p>
                      <a:pPr indent="0" marL="0">
                        <a:buNone/>
                      </a:pPr>
                      <a:r>
                        <a:rPr lang="en-US" sz="1100" b="1" dirty="0">
                          <a:solidFill>
                            <a:srgbClr val="028090"/>
                          </a:solidFill>
                          <a:latin typeface="Calibri" pitchFamily="34" charset="0"/>
                          <a:ea typeface="Calibri" pitchFamily="34" charset="-122"/>
                          <a:cs typeface="Calibri" pitchFamily="34" charset="-120"/>
                        </a:rPr>
                        <a:t>~5,700</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9FA"/>
                    </a:solidFill>
                  </a:tcPr>
                </a:tc>
                <a:tc>
                  <a:txBody>
                    <a:bodyPr/>
                    <a:lstStyle/>
                    <a:p>
                      <a:pPr indent="0" marL="0">
                        <a:buNone/>
                      </a:pPr>
                      <a:r>
                        <a:rPr lang="en-US" sz="1100" b="1" dirty="0">
                          <a:solidFill>
                            <a:srgbClr val="E67E22"/>
                          </a:solidFill>
                          <a:latin typeface="Calibri" pitchFamily="34" charset="0"/>
                          <a:ea typeface="Calibri" pitchFamily="34" charset="-122"/>
                          <a:cs typeface="Calibri" pitchFamily="34" charset="-120"/>
                        </a:rPr>
                        <a:t>~6,450</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9FA"/>
                    </a:solidFill>
                  </a:tcPr>
                </a:tc>
              </a:tr>
              <a:tr h="342900">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Documents needed?</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Facebook acct + phone</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Facebook acct + phone</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Facebook acct + phone</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Facebook acct + phone</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2900">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Embedded signup</a:t>
                      </a:r>
                      <a:endParaRPr lang="en-US" sz="1000" dirty="0">
                        <a:latin typeface="Calibri" charset="0"/>
                        <a:ea typeface="Calibri" charset="0"/>
                        <a:cs typeface="Calibri" charset="0"/>
                      </a:endParaRPr>
                    </a:p>
                    <a:p>
                      <a:pPr indent="0" marL="0">
                        <a:buNone/>
                      </a:pPr>
                      <a:r>
                        <a:rPr lang="en-US" sz="1000" dirty="0">
                          <a:solidFill>
                            <a:srgbClr val="1A2B2C"/>
                          </a:solidFill>
                          <a:latin typeface="Calibri" pitchFamily="34" charset="0"/>
                          <a:ea typeface="Calibri" pitchFamily="34" charset="-122"/>
                          <a:cs typeface="Calibri" pitchFamily="34" charset="-120"/>
                        </a:rPr>
                        <a:t>(bypasses ad ban?)</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9FA"/>
                    </a:solidFill>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No — direct setup</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Yes — 360dialog handles</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Yes — WATI handles</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No — still need</a:t>
                      </a:r>
                      <a:endParaRPr lang="en-US" sz="1000" dirty="0">
                        <a:latin typeface="Calibri" charset="0"/>
                        <a:ea typeface="Calibri" charset="0"/>
                        <a:cs typeface="Calibri" charset="0"/>
                      </a:endParaRPr>
                    </a:p>
                    <a:p>
                      <a:pPr indent="0" marL="0">
                        <a:buNone/>
                      </a:pPr>
                      <a:r>
                        <a:rPr lang="en-US" sz="1000" dirty="0">
                          <a:solidFill>
                            <a:srgbClr val="1A2B2C"/>
                          </a:solidFill>
                          <a:latin typeface="Calibri" pitchFamily="34" charset="0"/>
                          <a:ea typeface="Calibri" pitchFamily="34" charset="-122"/>
                          <a:cs typeface="Calibri" pitchFamily="34" charset="-120"/>
                        </a:rPr>
                        <a:t>Business Manager</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9FA"/>
                    </a:solidFill>
                  </a:tcPr>
                </a:tc>
              </a:tr>
              <a:tr h="342900">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PDF/media support</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2900">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Setup complexity</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Medium (self-managed)</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Low (managed)</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Low (managed)</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2900">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Recommended?</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9FA"/>
                    </a:solidFill>
                  </a:tcPr>
                </a:tc>
                <a:tc>
                  <a:txBody>
                    <a:bodyPr/>
                    <a:lstStyle/>
                    <a:p>
                      <a:pPr indent="0" marL="0">
                        <a:buNone/>
                      </a:pPr>
                      <a:r>
                        <a:rPr lang="en-US" sz="1000" b="1" dirty="0">
                          <a:solidFill>
                            <a:srgbClr val="27AE60"/>
                          </a:solidFill>
                          <a:latin typeface="Calibri" pitchFamily="34" charset="0"/>
                          <a:ea typeface="Calibri" pitchFamily="34" charset="-122"/>
                          <a:cs typeface="Calibri" pitchFamily="34" charset="-120"/>
                        </a:rPr>
                        <a:t>✓ CHEAPEST</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9FA"/>
                    </a:solidFill>
                  </a:tcPr>
                </a:tc>
                <a:tc>
                  <a:txBody>
                    <a:bodyPr/>
                    <a:lstStyle/>
                    <a:p>
                      <a:pPr indent="0" marL="0">
                        <a:buNone/>
                      </a:pPr>
                      <a:r>
                        <a:rPr lang="en-US" sz="1000" b="1" dirty="0">
                          <a:solidFill>
                            <a:srgbClr val="028090"/>
                          </a:solidFill>
                          <a:latin typeface="Calibri" pitchFamily="34" charset="0"/>
                          <a:ea typeface="Calibri" pitchFamily="34" charset="-122"/>
                          <a:cs typeface="Calibri" pitchFamily="34" charset="-120"/>
                        </a:rPr>
                        <a:t>✓ Best managed</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9FA"/>
                    </a:solidFill>
                  </a:tcPr>
                </a:tc>
                <a:tc>
                  <a:txBody>
                    <a:bodyPr/>
                    <a:lstStyle/>
                    <a:p>
                      <a:pPr indent="0" marL="0">
                        <a:buNone/>
                      </a:pPr>
                      <a:r>
                        <a:rPr lang="en-US" sz="1000" b="1" dirty="0">
                          <a:solidFill>
                            <a:srgbClr val="028090"/>
                          </a:solidFill>
                          <a:latin typeface="Calibri" pitchFamily="34" charset="0"/>
                          <a:ea typeface="Calibri" pitchFamily="34" charset="-122"/>
                          <a:cs typeface="Calibri" pitchFamily="34" charset="-120"/>
                        </a:rPr>
                        <a:t>✓ Good for SMB</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9FA"/>
                    </a:solidFill>
                  </a:tcPr>
                </a:tc>
                <a:tc>
                  <a:txBody>
                    <a:bodyPr/>
                    <a:lstStyle/>
                    <a:p>
                      <a:pPr indent="0" marL="0">
                        <a:buNone/>
                      </a:pPr>
                      <a:r>
                        <a:rPr lang="en-US" sz="1000" b="1" dirty="0">
                          <a:solidFill>
                            <a:srgbClr val="E67E22"/>
                          </a:solidFill>
                          <a:latin typeface="Calibri" pitchFamily="34" charset="0"/>
                          <a:ea typeface="Calibri" pitchFamily="34" charset="-122"/>
                          <a:cs typeface="Calibri" pitchFamily="34" charset="-120"/>
                        </a:rPr>
                        <a:t>△ Most expensive</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9FA"/>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C0392B"/>
          </a:solidFill>
          <a:ln w="12700">
            <a:solidFill>
              <a:srgbClr val="C0392B"/>
            </a:solidFill>
            <a:prstDash val="solid"/>
          </a:ln>
        </p:spPr>
      </p:sp>
      <p:sp>
        <p:nvSpPr>
          <p:cNvPr id="3" name="Text 1"/>
          <p:cNvSpPr/>
          <p:nvPr/>
        </p:nvSpPr>
        <p:spPr>
          <a:xfrm>
            <a:off x="457200" y="128016"/>
            <a:ext cx="8229600" cy="40233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Unofficial WhatsApp Solutions — Technical Reality</a:t>
            </a:r>
            <a:endParaRPr lang="en-US" sz="2200" dirty="0"/>
          </a:p>
        </p:txBody>
      </p:sp>
      <p:sp>
        <p:nvSpPr>
          <p:cNvPr id="4" name="Text 2"/>
          <p:cNvSpPr/>
          <p:nvPr/>
        </p:nvSpPr>
        <p:spPr>
          <a:xfrm>
            <a:off x="457200" y="512064"/>
            <a:ext cx="8229600" cy="219456"/>
          </a:xfrm>
          <a:prstGeom prst="rect">
            <a:avLst/>
          </a:prstGeom>
          <a:noFill/>
          <a:ln/>
        </p:spPr>
        <p:txBody>
          <a:bodyPr wrap="square" lIns="0" tIns="0" rIns="0" bIns="0" rtlCol="0" anchor="ctr"/>
          <a:lstStyle/>
          <a:p>
            <a:pPr indent="0" marL="0">
              <a:buNone/>
            </a:pPr>
            <a:r>
              <a:rPr lang="en-US" sz="1050" dirty="0">
                <a:solidFill>
                  <a:srgbClr val="FFD5D5"/>
                </a:solidFill>
                <a:latin typeface="Calibri" pitchFamily="34" charset="0"/>
                <a:ea typeface="Calibri" pitchFamily="34" charset="-122"/>
                <a:cs typeface="Calibri" pitchFamily="34" charset="-120"/>
              </a:rPr>
              <a:t>What the interviewer was referencing — and why they remain HIGH-RISK for medical businesses</a:t>
            </a:r>
            <a:endParaRPr lang="en-US" sz="1050" dirty="0"/>
          </a:p>
        </p:txBody>
      </p:sp>
      <p:sp>
        <p:nvSpPr>
          <p:cNvPr id="5" name="Shape 3"/>
          <p:cNvSpPr/>
          <p:nvPr/>
        </p:nvSpPr>
        <p:spPr>
          <a:xfrm>
            <a:off x="182880" y="932688"/>
            <a:ext cx="2852928" cy="3931920"/>
          </a:xfrm>
          <a:prstGeom prst="rect">
            <a:avLst/>
          </a:prstGeom>
          <a:solidFill>
            <a:srgbClr val="FEF2F2"/>
          </a:solidFill>
          <a:ln w="12700">
            <a:solidFill>
              <a:srgbClr val="FECACA"/>
            </a:solidFill>
            <a:prstDash val="solid"/>
          </a:ln>
          <a:effectLst>
            <a:outerShdw sx="100000" sy="100000" kx="0" ky="0" algn="bl" rotWithShape="0" blurRad="63500" dist="25400" dir="8100000">
              <a:srgbClr val="000000">
                <a:alpha val="7000"/>
              </a:srgbClr>
            </a:outerShdw>
          </a:effectLst>
        </p:spPr>
      </p:sp>
      <p:sp>
        <p:nvSpPr>
          <p:cNvPr id="6" name="Shape 4"/>
          <p:cNvSpPr/>
          <p:nvPr/>
        </p:nvSpPr>
        <p:spPr>
          <a:xfrm>
            <a:off x="182880" y="932688"/>
            <a:ext cx="2852928" cy="91440"/>
          </a:xfrm>
          <a:prstGeom prst="rect">
            <a:avLst/>
          </a:prstGeom>
          <a:solidFill>
            <a:srgbClr val="C0392B"/>
          </a:solidFill>
          <a:ln w="12700">
            <a:solidFill>
              <a:srgbClr val="C0392B"/>
            </a:solidFill>
            <a:prstDash val="solid"/>
          </a:ln>
        </p:spPr>
      </p:sp>
      <p:sp>
        <p:nvSpPr>
          <p:cNvPr id="7" name="Text 5"/>
          <p:cNvSpPr/>
          <p:nvPr/>
        </p:nvSpPr>
        <p:spPr>
          <a:xfrm>
            <a:off x="274320" y="1060704"/>
            <a:ext cx="2651760" cy="329184"/>
          </a:xfrm>
          <a:prstGeom prst="rect">
            <a:avLst/>
          </a:prstGeom>
          <a:noFill/>
          <a:ln/>
        </p:spPr>
        <p:txBody>
          <a:bodyPr wrap="square" lIns="0" tIns="0" rIns="0" bIns="0" rtlCol="0" anchor="ctr"/>
          <a:lstStyle/>
          <a:p>
            <a:pPr indent="0" marL="0">
              <a:buNone/>
            </a:pPr>
            <a:r>
              <a:rPr lang="en-US" sz="1400" b="1" dirty="0">
                <a:solidFill>
                  <a:srgbClr val="C0392B"/>
                </a:solidFill>
                <a:latin typeface="Calibri" pitchFamily="34" charset="0"/>
                <a:ea typeface="Calibri" pitchFamily="34" charset="-122"/>
                <a:cs typeface="Calibri" pitchFamily="34" charset="-120"/>
              </a:rPr>
              <a:t>Evolution API</a:t>
            </a:r>
            <a:endParaRPr lang="en-US" sz="1400" dirty="0"/>
          </a:p>
        </p:txBody>
      </p:sp>
      <p:sp>
        <p:nvSpPr>
          <p:cNvPr id="8" name="Text 6"/>
          <p:cNvSpPr/>
          <p:nvPr/>
        </p:nvSpPr>
        <p:spPr>
          <a:xfrm>
            <a:off x="274320" y="1463040"/>
            <a:ext cx="2651760" cy="164592"/>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Language:</a:t>
            </a:r>
            <a:endParaRPr lang="en-US" sz="900" dirty="0"/>
          </a:p>
        </p:txBody>
      </p:sp>
      <p:sp>
        <p:nvSpPr>
          <p:cNvPr id="9" name="Text 7"/>
          <p:cNvSpPr/>
          <p:nvPr/>
        </p:nvSpPr>
        <p:spPr>
          <a:xfrm>
            <a:off x="274320" y="1627632"/>
            <a:ext cx="2651760" cy="256032"/>
          </a:xfrm>
          <a:prstGeom prst="rect">
            <a:avLst/>
          </a:prstGeom>
          <a:noFill/>
          <a:ln/>
        </p:spPr>
        <p:txBody>
          <a:bodyPr wrap="square" lIns="0" tIns="0" rIns="0" bIns="0" rtlCol="0" anchor="ctr"/>
          <a:lstStyle/>
          <a:p>
            <a:pPr indent="0" marL="0">
              <a:buNone/>
            </a:pPr>
            <a:r>
              <a:rPr lang="en-US" sz="950" dirty="0">
                <a:solidFill>
                  <a:srgbClr val="1A2B2C"/>
                </a:solidFill>
                <a:latin typeface="Calibri" pitchFamily="34" charset="0"/>
                <a:ea typeface="Calibri" pitchFamily="34" charset="-122"/>
                <a:cs typeface="Calibri" pitchFamily="34" charset="-120"/>
              </a:rPr>
              <a:t>Node.js / TypeScript</a:t>
            </a:r>
            <a:endParaRPr lang="en-US" sz="950" dirty="0"/>
          </a:p>
        </p:txBody>
      </p:sp>
      <p:sp>
        <p:nvSpPr>
          <p:cNvPr id="10" name="Text 8"/>
          <p:cNvSpPr/>
          <p:nvPr/>
        </p:nvSpPr>
        <p:spPr>
          <a:xfrm>
            <a:off x="274320" y="1938528"/>
            <a:ext cx="2651760" cy="164592"/>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Protocol:</a:t>
            </a:r>
            <a:endParaRPr lang="en-US" sz="900" dirty="0"/>
          </a:p>
        </p:txBody>
      </p:sp>
      <p:sp>
        <p:nvSpPr>
          <p:cNvPr id="11" name="Text 9"/>
          <p:cNvSpPr/>
          <p:nvPr/>
        </p:nvSpPr>
        <p:spPr>
          <a:xfrm>
            <a:off x="274320" y="2103120"/>
            <a:ext cx="2651760" cy="256032"/>
          </a:xfrm>
          <a:prstGeom prst="rect">
            <a:avLst/>
          </a:prstGeom>
          <a:noFill/>
          <a:ln/>
        </p:spPr>
        <p:txBody>
          <a:bodyPr wrap="square" lIns="0" tIns="0" rIns="0" bIns="0" rtlCol="0" anchor="ctr"/>
          <a:lstStyle/>
          <a:p>
            <a:pPr indent="0" marL="0">
              <a:buNone/>
            </a:pPr>
            <a:r>
              <a:rPr lang="en-US" sz="950" dirty="0">
                <a:solidFill>
                  <a:srgbClr val="1A2B2C"/>
                </a:solidFill>
                <a:latin typeface="Calibri" pitchFamily="34" charset="0"/>
                <a:ea typeface="Calibri" pitchFamily="34" charset="-122"/>
                <a:cs typeface="Calibri" pitchFamily="34" charset="-120"/>
              </a:rPr>
              <a:t>Multi-Device (MD) — not browser automation</a:t>
            </a:r>
            <a:endParaRPr lang="en-US" sz="950" dirty="0"/>
          </a:p>
        </p:txBody>
      </p:sp>
      <p:sp>
        <p:nvSpPr>
          <p:cNvPr id="12" name="Text 10"/>
          <p:cNvSpPr/>
          <p:nvPr/>
        </p:nvSpPr>
        <p:spPr>
          <a:xfrm>
            <a:off x="274320" y="2414016"/>
            <a:ext cx="2651760" cy="164592"/>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RAM Usage:</a:t>
            </a:r>
            <a:endParaRPr lang="en-US" sz="900" dirty="0"/>
          </a:p>
        </p:txBody>
      </p:sp>
      <p:sp>
        <p:nvSpPr>
          <p:cNvPr id="13" name="Text 11"/>
          <p:cNvSpPr/>
          <p:nvPr/>
        </p:nvSpPr>
        <p:spPr>
          <a:xfrm>
            <a:off x="274320" y="2578608"/>
            <a:ext cx="2651760" cy="256032"/>
          </a:xfrm>
          <a:prstGeom prst="rect">
            <a:avLst/>
          </a:prstGeom>
          <a:noFill/>
          <a:ln/>
        </p:spPr>
        <p:txBody>
          <a:bodyPr wrap="square" lIns="0" tIns="0" rIns="0" bIns="0" rtlCol="0" anchor="ctr"/>
          <a:lstStyle/>
          <a:p>
            <a:pPr indent="0" marL="0">
              <a:buNone/>
            </a:pPr>
            <a:r>
              <a:rPr lang="en-US" sz="950" dirty="0">
                <a:solidFill>
                  <a:srgbClr val="1A2B2C"/>
                </a:solidFill>
                <a:latin typeface="Calibri" pitchFamily="34" charset="0"/>
                <a:ea typeface="Calibri" pitchFamily="34" charset="-122"/>
                <a:cs typeface="Calibri" pitchFamily="34" charset="-120"/>
              </a:rPr>
              <a:t>~200–400 MB/session</a:t>
            </a:r>
            <a:endParaRPr lang="en-US" sz="950" dirty="0"/>
          </a:p>
        </p:txBody>
      </p:sp>
      <p:sp>
        <p:nvSpPr>
          <p:cNvPr id="14" name="Text 12"/>
          <p:cNvSpPr/>
          <p:nvPr/>
        </p:nvSpPr>
        <p:spPr>
          <a:xfrm>
            <a:off x="274320" y="2889504"/>
            <a:ext cx="2651760" cy="164592"/>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Docker:</a:t>
            </a:r>
            <a:endParaRPr lang="en-US" sz="900" dirty="0"/>
          </a:p>
        </p:txBody>
      </p:sp>
      <p:sp>
        <p:nvSpPr>
          <p:cNvPr id="15" name="Text 13"/>
          <p:cNvSpPr/>
          <p:nvPr/>
        </p:nvSpPr>
        <p:spPr>
          <a:xfrm>
            <a:off x="274320" y="3054096"/>
            <a:ext cx="2651760" cy="256032"/>
          </a:xfrm>
          <a:prstGeom prst="rect">
            <a:avLst/>
          </a:prstGeom>
          <a:noFill/>
          <a:ln/>
        </p:spPr>
        <p:txBody>
          <a:bodyPr wrap="square" lIns="0" tIns="0" rIns="0" bIns="0" rtlCol="0" anchor="ctr"/>
          <a:lstStyle/>
          <a:p>
            <a:pPr indent="0" marL="0">
              <a:buNone/>
            </a:pPr>
            <a:r>
              <a:rPr lang="en-US" sz="950" dirty="0">
                <a:solidFill>
                  <a:srgbClr val="1A2B2C"/>
                </a:solidFill>
                <a:latin typeface="Calibri" pitchFamily="34" charset="0"/>
                <a:ea typeface="Calibri" pitchFamily="34" charset="-122"/>
                <a:cs typeface="Calibri" pitchFamily="34" charset="-120"/>
              </a:rPr>
              <a:t>Yes</a:t>
            </a:r>
            <a:endParaRPr lang="en-US" sz="950" dirty="0"/>
          </a:p>
        </p:txBody>
      </p:sp>
      <p:sp>
        <p:nvSpPr>
          <p:cNvPr id="16" name="Text 14"/>
          <p:cNvSpPr/>
          <p:nvPr/>
        </p:nvSpPr>
        <p:spPr>
          <a:xfrm>
            <a:off x="274320" y="3364992"/>
            <a:ext cx="2651760" cy="164592"/>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Ban Risk:</a:t>
            </a:r>
            <a:endParaRPr lang="en-US" sz="900" dirty="0"/>
          </a:p>
        </p:txBody>
      </p:sp>
      <p:sp>
        <p:nvSpPr>
          <p:cNvPr id="17" name="Text 15"/>
          <p:cNvSpPr/>
          <p:nvPr/>
        </p:nvSpPr>
        <p:spPr>
          <a:xfrm>
            <a:off x="274320" y="3529584"/>
            <a:ext cx="2651760" cy="256032"/>
          </a:xfrm>
          <a:prstGeom prst="rect">
            <a:avLst/>
          </a:prstGeom>
          <a:noFill/>
          <a:ln/>
        </p:spPr>
        <p:txBody>
          <a:bodyPr wrap="square" lIns="0" tIns="0" rIns="0" bIns="0" rtlCol="0" anchor="ctr"/>
          <a:lstStyle/>
          <a:p>
            <a:pPr indent="0" marL="0">
              <a:buNone/>
            </a:pPr>
            <a:r>
              <a:rPr lang="en-US" sz="950" dirty="0">
                <a:solidFill>
                  <a:srgbClr val="1A2B2C"/>
                </a:solidFill>
                <a:latin typeface="Calibri" pitchFamily="34" charset="0"/>
                <a:ea typeface="Calibri" pitchFamily="34" charset="-122"/>
                <a:cs typeface="Calibri" pitchFamily="34" charset="-120"/>
              </a:rPr>
              <a:t>Moderate–High</a:t>
            </a:r>
            <a:endParaRPr lang="en-US" sz="950" dirty="0"/>
          </a:p>
        </p:txBody>
      </p:sp>
      <p:sp>
        <p:nvSpPr>
          <p:cNvPr id="18" name="Text 16"/>
          <p:cNvSpPr/>
          <p:nvPr/>
        </p:nvSpPr>
        <p:spPr>
          <a:xfrm>
            <a:off x="274320" y="3840480"/>
            <a:ext cx="2651760" cy="164592"/>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Stability:</a:t>
            </a:r>
            <a:endParaRPr lang="en-US" sz="900" dirty="0"/>
          </a:p>
        </p:txBody>
      </p:sp>
      <p:sp>
        <p:nvSpPr>
          <p:cNvPr id="19" name="Text 17"/>
          <p:cNvSpPr/>
          <p:nvPr/>
        </p:nvSpPr>
        <p:spPr>
          <a:xfrm>
            <a:off x="274320" y="4005072"/>
            <a:ext cx="2651760" cy="256032"/>
          </a:xfrm>
          <a:prstGeom prst="rect">
            <a:avLst/>
          </a:prstGeom>
          <a:noFill/>
          <a:ln/>
        </p:spPr>
        <p:txBody>
          <a:bodyPr wrap="square" lIns="0" tIns="0" rIns="0" bIns="0" rtlCol="0" anchor="ctr"/>
          <a:lstStyle/>
          <a:p>
            <a:pPr indent="0" marL="0">
              <a:buNone/>
            </a:pPr>
            <a:r>
              <a:rPr lang="en-US" sz="950" dirty="0">
                <a:solidFill>
                  <a:srgbClr val="1A2B2C"/>
                </a:solidFill>
                <a:latin typeface="Calibri" pitchFamily="34" charset="0"/>
                <a:ea typeface="Calibri" pitchFamily="34" charset="-122"/>
                <a:cs typeface="Calibri" pitchFamily="34" charset="-120"/>
              </a:rPr>
              <a:t>Medium — breaks on WA protocol updates</a:t>
            </a:r>
            <a:endParaRPr lang="en-US" sz="950" dirty="0"/>
          </a:p>
        </p:txBody>
      </p:sp>
      <p:sp>
        <p:nvSpPr>
          <p:cNvPr id="20" name="Text 18"/>
          <p:cNvSpPr/>
          <p:nvPr/>
        </p:nvSpPr>
        <p:spPr>
          <a:xfrm>
            <a:off x="274320" y="4315968"/>
            <a:ext cx="2651760" cy="164592"/>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GitHub Stars:</a:t>
            </a:r>
            <a:endParaRPr lang="en-US" sz="900" dirty="0"/>
          </a:p>
        </p:txBody>
      </p:sp>
      <p:sp>
        <p:nvSpPr>
          <p:cNvPr id="21" name="Text 19"/>
          <p:cNvSpPr/>
          <p:nvPr/>
        </p:nvSpPr>
        <p:spPr>
          <a:xfrm>
            <a:off x="274320" y="4480560"/>
            <a:ext cx="2651760" cy="256032"/>
          </a:xfrm>
          <a:prstGeom prst="rect">
            <a:avLst/>
          </a:prstGeom>
          <a:noFill/>
          <a:ln/>
        </p:spPr>
        <p:txBody>
          <a:bodyPr wrap="square" lIns="0" tIns="0" rIns="0" bIns="0" rtlCol="0" anchor="ctr"/>
          <a:lstStyle/>
          <a:p>
            <a:pPr indent="0" marL="0">
              <a:buNone/>
            </a:pPr>
            <a:r>
              <a:rPr lang="en-US" sz="950" dirty="0">
                <a:solidFill>
                  <a:srgbClr val="1A2B2C"/>
                </a:solidFill>
                <a:latin typeface="Calibri" pitchFamily="34" charset="0"/>
                <a:ea typeface="Calibri" pitchFamily="34" charset="-122"/>
                <a:cs typeface="Calibri" pitchFamily="34" charset="-120"/>
              </a:rPr>
              <a:t>~10K GitHub stars</a:t>
            </a:r>
            <a:endParaRPr lang="en-US" sz="950" dirty="0"/>
          </a:p>
        </p:txBody>
      </p:sp>
      <p:sp>
        <p:nvSpPr>
          <p:cNvPr id="22" name="Shape 20"/>
          <p:cNvSpPr/>
          <p:nvPr/>
        </p:nvSpPr>
        <p:spPr>
          <a:xfrm>
            <a:off x="3172968" y="932688"/>
            <a:ext cx="2852928" cy="3931920"/>
          </a:xfrm>
          <a:prstGeom prst="rect">
            <a:avLst/>
          </a:prstGeom>
          <a:solidFill>
            <a:srgbClr val="FEF3C7"/>
          </a:solidFill>
          <a:ln w="12700">
            <a:solidFill>
              <a:srgbClr val="FDE68A"/>
            </a:solidFill>
            <a:prstDash val="solid"/>
          </a:ln>
          <a:effectLst>
            <a:outerShdw sx="100000" sy="100000" kx="0" ky="0" algn="bl" rotWithShape="0" blurRad="63500" dist="25400" dir="8100000">
              <a:srgbClr val="000000">
                <a:alpha val="7000"/>
              </a:srgbClr>
            </a:outerShdw>
          </a:effectLst>
        </p:spPr>
      </p:sp>
      <p:sp>
        <p:nvSpPr>
          <p:cNvPr id="23" name="Shape 21"/>
          <p:cNvSpPr/>
          <p:nvPr/>
        </p:nvSpPr>
        <p:spPr>
          <a:xfrm>
            <a:off x="3172968" y="932688"/>
            <a:ext cx="2852928" cy="91440"/>
          </a:xfrm>
          <a:prstGeom prst="rect">
            <a:avLst/>
          </a:prstGeom>
          <a:solidFill>
            <a:srgbClr val="F59E0B"/>
          </a:solidFill>
          <a:ln w="12700">
            <a:solidFill>
              <a:srgbClr val="F59E0B"/>
            </a:solidFill>
            <a:prstDash val="solid"/>
          </a:ln>
        </p:spPr>
      </p:sp>
      <p:sp>
        <p:nvSpPr>
          <p:cNvPr id="24" name="Text 22"/>
          <p:cNvSpPr/>
          <p:nvPr/>
        </p:nvSpPr>
        <p:spPr>
          <a:xfrm>
            <a:off x="3264408" y="1060704"/>
            <a:ext cx="2651760" cy="329184"/>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WhatsMeow / WuzAPI</a:t>
            </a:r>
            <a:endParaRPr lang="en-US" sz="1400" dirty="0"/>
          </a:p>
        </p:txBody>
      </p:sp>
      <p:sp>
        <p:nvSpPr>
          <p:cNvPr id="25" name="Text 23"/>
          <p:cNvSpPr/>
          <p:nvPr/>
        </p:nvSpPr>
        <p:spPr>
          <a:xfrm>
            <a:off x="3264408" y="1463040"/>
            <a:ext cx="2651760" cy="164592"/>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Language:</a:t>
            </a:r>
            <a:endParaRPr lang="en-US" sz="900" dirty="0"/>
          </a:p>
        </p:txBody>
      </p:sp>
      <p:sp>
        <p:nvSpPr>
          <p:cNvPr id="26" name="Text 24"/>
          <p:cNvSpPr/>
          <p:nvPr/>
        </p:nvSpPr>
        <p:spPr>
          <a:xfrm>
            <a:off x="3264408" y="1627632"/>
            <a:ext cx="2651760" cy="256032"/>
          </a:xfrm>
          <a:prstGeom prst="rect">
            <a:avLst/>
          </a:prstGeom>
          <a:noFill/>
          <a:ln/>
        </p:spPr>
        <p:txBody>
          <a:bodyPr wrap="square" lIns="0" tIns="0" rIns="0" bIns="0" rtlCol="0" anchor="ctr"/>
          <a:lstStyle/>
          <a:p>
            <a:pPr indent="0" marL="0">
              <a:buNone/>
            </a:pPr>
            <a:r>
              <a:rPr lang="en-US" sz="950" dirty="0">
                <a:solidFill>
                  <a:srgbClr val="1A2B2C"/>
                </a:solidFill>
                <a:latin typeface="Calibri" pitchFamily="34" charset="0"/>
                <a:ea typeface="Calibri" pitchFamily="34" charset="-122"/>
                <a:cs typeface="Calibri" pitchFamily="34" charset="-120"/>
              </a:rPr>
              <a:t>Go (Golang) ← likely what interviewer referenced</a:t>
            </a:r>
            <a:endParaRPr lang="en-US" sz="950" dirty="0"/>
          </a:p>
        </p:txBody>
      </p:sp>
      <p:sp>
        <p:nvSpPr>
          <p:cNvPr id="27" name="Text 25"/>
          <p:cNvSpPr/>
          <p:nvPr/>
        </p:nvSpPr>
        <p:spPr>
          <a:xfrm>
            <a:off x="3264408" y="1938528"/>
            <a:ext cx="2651760" cy="164592"/>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Protocol:</a:t>
            </a:r>
            <a:endParaRPr lang="en-US" sz="900" dirty="0"/>
          </a:p>
        </p:txBody>
      </p:sp>
      <p:sp>
        <p:nvSpPr>
          <p:cNvPr id="28" name="Text 26"/>
          <p:cNvSpPr/>
          <p:nvPr/>
        </p:nvSpPr>
        <p:spPr>
          <a:xfrm>
            <a:off x="3264408" y="2103120"/>
            <a:ext cx="2651760" cy="256032"/>
          </a:xfrm>
          <a:prstGeom prst="rect">
            <a:avLst/>
          </a:prstGeom>
          <a:noFill/>
          <a:ln/>
        </p:spPr>
        <p:txBody>
          <a:bodyPr wrap="square" lIns="0" tIns="0" rIns="0" bIns="0" rtlCol="0" anchor="ctr"/>
          <a:lstStyle/>
          <a:p>
            <a:pPr indent="0" marL="0">
              <a:buNone/>
            </a:pPr>
            <a:r>
              <a:rPr lang="en-US" sz="950" dirty="0">
                <a:solidFill>
                  <a:srgbClr val="1A2B2C"/>
                </a:solidFill>
                <a:latin typeface="Calibri" pitchFamily="34" charset="0"/>
                <a:ea typeface="Calibri" pitchFamily="34" charset="-122"/>
                <a:cs typeface="Calibri" pitchFamily="34" charset="-120"/>
              </a:rPr>
              <a:t>Multi-Device (MD) — pure protocol impl.</a:t>
            </a:r>
            <a:endParaRPr lang="en-US" sz="950" dirty="0"/>
          </a:p>
        </p:txBody>
      </p:sp>
      <p:sp>
        <p:nvSpPr>
          <p:cNvPr id="29" name="Text 27"/>
          <p:cNvSpPr/>
          <p:nvPr/>
        </p:nvSpPr>
        <p:spPr>
          <a:xfrm>
            <a:off x="3264408" y="2414016"/>
            <a:ext cx="2651760" cy="164592"/>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RAM Usage:</a:t>
            </a:r>
            <a:endParaRPr lang="en-US" sz="900" dirty="0"/>
          </a:p>
        </p:txBody>
      </p:sp>
      <p:sp>
        <p:nvSpPr>
          <p:cNvPr id="30" name="Text 28"/>
          <p:cNvSpPr/>
          <p:nvPr/>
        </p:nvSpPr>
        <p:spPr>
          <a:xfrm>
            <a:off x="3264408" y="2578608"/>
            <a:ext cx="2651760" cy="256032"/>
          </a:xfrm>
          <a:prstGeom prst="rect">
            <a:avLst/>
          </a:prstGeom>
          <a:noFill/>
          <a:ln/>
        </p:spPr>
        <p:txBody>
          <a:bodyPr wrap="square" lIns="0" tIns="0" rIns="0" bIns="0" rtlCol="0" anchor="ctr"/>
          <a:lstStyle/>
          <a:p>
            <a:pPr indent="0" marL="0">
              <a:buNone/>
            </a:pPr>
            <a:r>
              <a:rPr lang="en-US" sz="950" dirty="0">
                <a:solidFill>
                  <a:srgbClr val="1A2B2C"/>
                </a:solidFill>
                <a:latin typeface="Calibri" pitchFamily="34" charset="0"/>
                <a:ea typeface="Calibri" pitchFamily="34" charset="-122"/>
                <a:cs typeface="Calibri" pitchFamily="34" charset="-120"/>
              </a:rPr>
              <a:t>~50–120 MB — very lightweight</a:t>
            </a:r>
            <a:endParaRPr lang="en-US" sz="950" dirty="0"/>
          </a:p>
        </p:txBody>
      </p:sp>
      <p:sp>
        <p:nvSpPr>
          <p:cNvPr id="31" name="Text 29"/>
          <p:cNvSpPr/>
          <p:nvPr/>
        </p:nvSpPr>
        <p:spPr>
          <a:xfrm>
            <a:off x="3264408" y="2889504"/>
            <a:ext cx="2651760" cy="164592"/>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Docker:</a:t>
            </a:r>
            <a:endParaRPr lang="en-US" sz="900" dirty="0"/>
          </a:p>
        </p:txBody>
      </p:sp>
      <p:sp>
        <p:nvSpPr>
          <p:cNvPr id="32" name="Text 30"/>
          <p:cNvSpPr/>
          <p:nvPr/>
        </p:nvSpPr>
        <p:spPr>
          <a:xfrm>
            <a:off x="3264408" y="3054096"/>
            <a:ext cx="2651760" cy="256032"/>
          </a:xfrm>
          <a:prstGeom prst="rect">
            <a:avLst/>
          </a:prstGeom>
          <a:noFill/>
          <a:ln/>
        </p:spPr>
        <p:txBody>
          <a:bodyPr wrap="square" lIns="0" tIns="0" rIns="0" bIns="0" rtlCol="0" anchor="ctr"/>
          <a:lstStyle/>
          <a:p>
            <a:pPr indent="0" marL="0">
              <a:buNone/>
            </a:pPr>
            <a:r>
              <a:rPr lang="en-US" sz="950" dirty="0">
                <a:solidFill>
                  <a:srgbClr val="1A2B2C"/>
                </a:solidFill>
                <a:latin typeface="Calibri" pitchFamily="34" charset="0"/>
                <a:ea typeface="Calibri" pitchFamily="34" charset="-122"/>
                <a:cs typeface="Calibri" pitchFamily="34" charset="-120"/>
              </a:rPr>
              <a:t>Yes (WuzAPI has Dockerfile)</a:t>
            </a:r>
            <a:endParaRPr lang="en-US" sz="950" dirty="0"/>
          </a:p>
        </p:txBody>
      </p:sp>
      <p:sp>
        <p:nvSpPr>
          <p:cNvPr id="33" name="Text 31"/>
          <p:cNvSpPr/>
          <p:nvPr/>
        </p:nvSpPr>
        <p:spPr>
          <a:xfrm>
            <a:off x="3264408" y="3364992"/>
            <a:ext cx="2651760" cy="164592"/>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Ban Risk:</a:t>
            </a:r>
            <a:endParaRPr lang="en-US" sz="900" dirty="0"/>
          </a:p>
        </p:txBody>
      </p:sp>
      <p:sp>
        <p:nvSpPr>
          <p:cNvPr id="34" name="Text 32"/>
          <p:cNvSpPr/>
          <p:nvPr/>
        </p:nvSpPr>
        <p:spPr>
          <a:xfrm>
            <a:off x="3264408" y="3529584"/>
            <a:ext cx="2651760" cy="256032"/>
          </a:xfrm>
          <a:prstGeom prst="rect">
            <a:avLst/>
          </a:prstGeom>
          <a:noFill/>
          <a:ln/>
        </p:spPr>
        <p:txBody>
          <a:bodyPr wrap="square" lIns="0" tIns="0" rIns="0" bIns="0" rtlCol="0" anchor="ctr"/>
          <a:lstStyle/>
          <a:p>
            <a:pPr indent="0" marL="0">
              <a:buNone/>
            </a:pPr>
            <a:r>
              <a:rPr lang="en-US" sz="950" dirty="0">
                <a:solidFill>
                  <a:srgbClr val="1A2B2C"/>
                </a:solidFill>
                <a:latin typeface="Calibri" pitchFamily="34" charset="0"/>
                <a:ea typeface="Calibri" pitchFamily="34" charset="-122"/>
                <a:cs typeface="Calibri" pitchFamily="34" charset="-120"/>
              </a:rPr>
              <a:t>Moderate (lower than browser, not zero)</a:t>
            </a:r>
            <a:endParaRPr lang="en-US" sz="950" dirty="0"/>
          </a:p>
        </p:txBody>
      </p:sp>
      <p:sp>
        <p:nvSpPr>
          <p:cNvPr id="35" name="Text 33"/>
          <p:cNvSpPr/>
          <p:nvPr/>
        </p:nvSpPr>
        <p:spPr>
          <a:xfrm>
            <a:off x="3264408" y="3840480"/>
            <a:ext cx="2651760" cy="164592"/>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Stability:</a:t>
            </a:r>
            <a:endParaRPr lang="en-US" sz="900" dirty="0"/>
          </a:p>
        </p:txBody>
      </p:sp>
      <p:sp>
        <p:nvSpPr>
          <p:cNvPr id="36" name="Text 34"/>
          <p:cNvSpPr/>
          <p:nvPr/>
        </p:nvSpPr>
        <p:spPr>
          <a:xfrm>
            <a:off x="3264408" y="4005072"/>
            <a:ext cx="2651760" cy="256032"/>
          </a:xfrm>
          <a:prstGeom prst="rect">
            <a:avLst/>
          </a:prstGeom>
          <a:noFill/>
          <a:ln/>
        </p:spPr>
        <p:txBody>
          <a:bodyPr wrap="square" lIns="0" tIns="0" rIns="0" bIns="0" rtlCol="0" anchor="ctr"/>
          <a:lstStyle/>
          <a:p>
            <a:pPr indent="0" marL="0">
              <a:buNone/>
            </a:pPr>
            <a:r>
              <a:rPr lang="en-US" sz="950" dirty="0">
                <a:solidFill>
                  <a:srgbClr val="1A2B2C"/>
                </a:solidFill>
                <a:latin typeface="Calibri" pitchFamily="34" charset="0"/>
                <a:ea typeface="Calibri" pitchFamily="34" charset="-122"/>
                <a:cs typeface="Calibri" pitchFamily="34" charset="-120"/>
              </a:rPr>
              <a:t>Better than browser-based, less overhead</a:t>
            </a:r>
            <a:endParaRPr lang="en-US" sz="950" dirty="0"/>
          </a:p>
        </p:txBody>
      </p:sp>
      <p:sp>
        <p:nvSpPr>
          <p:cNvPr id="37" name="Text 35"/>
          <p:cNvSpPr/>
          <p:nvPr/>
        </p:nvSpPr>
        <p:spPr>
          <a:xfrm>
            <a:off x="3264408" y="4315968"/>
            <a:ext cx="2651760" cy="164592"/>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GitHub Stars:</a:t>
            </a:r>
            <a:endParaRPr lang="en-US" sz="900" dirty="0"/>
          </a:p>
        </p:txBody>
      </p:sp>
      <p:sp>
        <p:nvSpPr>
          <p:cNvPr id="38" name="Text 36"/>
          <p:cNvSpPr/>
          <p:nvPr/>
        </p:nvSpPr>
        <p:spPr>
          <a:xfrm>
            <a:off x="3264408" y="4480560"/>
            <a:ext cx="2651760" cy="256032"/>
          </a:xfrm>
          <a:prstGeom prst="rect">
            <a:avLst/>
          </a:prstGeom>
          <a:noFill/>
          <a:ln/>
        </p:spPr>
        <p:txBody>
          <a:bodyPr wrap="square" lIns="0" tIns="0" rIns="0" bIns="0" rtlCol="0" anchor="ctr"/>
          <a:lstStyle/>
          <a:p>
            <a:pPr indent="0" marL="0">
              <a:buNone/>
            </a:pPr>
            <a:r>
              <a:rPr lang="en-US" sz="950" dirty="0">
                <a:solidFill>
                  <a:srgbClr val="1A2B2C"/>
                </a:solidFill>
                <a:latin typeface="Calibri" pitchFamily="34" charset="0"/>
                <a:ea typeface="Calibri" pitchFamily="34" charset="-122"/>
                <a:cs typeface="Calibri" pitchFamily="34" charset="-120"/>
              </a:rPr>
              <a:t>WhatsMeow ~3.5K / WuzAPI ~1K</a:t>
            </a:r>
            <a:endParaRPr lang="en-US" sz="950" dirty="0"/>
          </a:p>
        </p:txBody>
      </p:sp>
      <p:sp>
        <p:nvSpPr>
          <p:cNvPr id="39" name="Shape 37"/>
          <p:cNvSpPr/>
          <p:nvPr/>
        </p:nvSpPr>
        <p:spPr>
          <a:xfrm>
            <a:off x="6163056" y="932688"/>
            <a:ext cx="2852928" cy="3931920"/>
          </a:xfrm>
          <a:prstGeom prst="rect">
            <a:avLst/>
          </a:prstGeom>
          <a:solidFill>
            <a:srgbClr val="FEF2F2"/>
          </a:solidFill>
          <a:ln w="12700">
            <a:solidFill>
              <a:srgbClr val="FECACA"/>
            </a:solidFill>
            <a:prstDash val="solid"/>
          </a:ln>
          <a:effectLst>
            <a:outerShdw sx="100000" sy="100000" kx="0" ky="0" algn="bl" rotWithShape="0" blurRad="63500" dist="25400" dir="8100000">
              <a:srgbClr val="000000">
                <a:alpha val="7000"/>
              </a:srgbClr>
            </a:outerShdw>
          </a:effectLst>
        </p:spPr>
      </p:sp>
      <p:sp>
        <p:nvSpPr>
          <p:cNvPr id="40" name="Shape 38"/>
          <p:cNvSpPr/>
          <p:nvPr/>
        </p:nvSpPr>
        <p:spPr>
          <a:xfrm>
            <a:off x="6163056" y="932688"/>
            <a:ext cx="2852928" cy="91440"/>
          </a:xfrm>
          <a:prstGeom prst="rect">
            <a:avLst/>
          </a:prstGeom>
          <a:solidFill>
            <a:srgbClr val="C0392B"/>
          </a:solidFill>
          <a:ln w="12700">
            <a:solidFill>
              <a:srgbClr val="C0392B"/>
            </a:solidFill>
            <a:prstDash val="solid"/>
          </a:ln>
        </p:spPr>
      </p:sp>
      <p:sp>
        <p:nvSpPr>
          <p:cNvPr id="41" name="Text 39"/>
          <p:cNvSpPr/>
          <p:nvPr/>
        </p:nvSpPr>
        <p:spPr>
          <a:xfrm>
            <a:off x="6254496" y="1060704"/>
            <a:ext cx="2651760" cy="329184"/>
          </a:xfrm>
          <a:prstGeom prst="rect">
            <a:avLst/>
          </a:prstGeom>
          <a:noFill/>
          <a:ln/>
        </p:spPr>
        <p:txBody>
          <a:bodyPr wrap="square" lIns="0" tIns="0" rIns="0" bIns="0" rtlCol="0" anchor="ctr"/>
          <a:lstStyle/>
          <a:p>
            <a:pPr indent="0" marL="0">
              <a:buNone/>
            </a:pPr>
            <a:r>
              <a:rPr lang="en-US" sz="1400" b="1" dirty="0">
                <a:solidFill>
                  <a:srgbClr val="C0392B"/>
                </a:solidFill>
                <a:latin typeface="Calibri" pitchFamily="34" charset="0"/>
                <a:ea typeface="Calibri" pitchFamily="34" charset="-122"/>
                <a:cs typeface="Calibri" pitchFamily="34" charset="-120"/>
              </a:rPr>
              <a:t>Baileys</a:t>
            </a:r>
            <a:endParaRPr lang="en-US" sz="1400" dirty="0"/>
          </a:p>
        </p:txBody>
      </p:sp>
      <p:sp>
        <p:nvSpPr>
          <p:cNvPr id="42" name="Text 40"/>
          <p:cNvSpPr/>
          <p:nvPr/>
        </p:nvSpPr>
        <p:spPr>
          <a:xfrm>
            <a:off x="6254496" y="1463040"/>
            <a:ext cx="2651760" cy="164592"/>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Language:</a:t>
            </a:r>
            <a:endParaRPr lang="en-US" sz="900" dirty="0"/>
          </a:p>
        </p:txBody>
      </p:sp>
      <p:sp>
        <p:nvSpPr>
          <p:cNvPr id="43" name="Text 41"/>
          <p:cNvSpPr/>
          <p:nvPr/>
        </p:nvSpPr>
        <p:spPr>
          <a:xfrm>
            <a:off x="6254496" y="1627632"/>
            <a:ext cx="2651760" cy="256032"/>
          </a:xfrm>
          <a:prstGeom prst="rect">
            <a:avLst/>
          </a:prstGeom>
          <a:noFill/>
          <a:ln/>
        </p:spPr>
        <p:txBody>
          <a:bodyPr wrap="square" lIns="0" tIns="0" rIns="0" bIns="0" rtlCol="0" anchor="ctr"/>
          <a:lstStyle/>
          <a:p>
            <a:pPr indent="0" marL="0">
              <a:buNone/>
            </a:pPr>
            <a:r>
              <a:rPr lang="en-US" sz="950" dirty="0">
                <a:solidFill>
                  <a:srgbClr val="1A2B2C"/>
                </a:solidFill>
                <a:latin typeface="Calibri" pitchFamily="34" charset="0"/>
                <a:ea typeface="Calibri" pitchFamily="34" charset="-122"/>
                <a:cs typeface="Calibri" pitchFamily="34" charset="-120"/>
              </a:rPr>
              <a:t>TypeScript / Node.js</a:t>
            </a:r>
            <a:endParaRPr lang="en-US" sz="950" dirty="0"/>
          </a:p>
        </p:txBody>
      </p:sp>
      <p:sp>
        <p:nvSpPr>
          <p:cNvPr id="44" name="Text 42"/>
          <p:cNvSpPr/>
          <p:nvPr/>
        </p:nvSpPr>
        <p:spPr>
          <a:xfrm>
            <a:off x="6254496" y="1938528"/>
            <a:ext cx="2651760" cy="164592"/>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Protocol:</a:t>
            </a:r>
            <a:endParaRPr lang="en-US" sz="900" dirty="0"/>
          </a:p>
        </p:txBody>
      </p:sp>
      <p:sp>
        <p:nvSpPr>
          <p:cNvPr id="45" name="Text 43"/>
          <p:cNvSpPr/>
          <p:nvPr/>
        </p:nvSpPr>
        <p:spPr>
          <a:xfrm>
            <a:off x="6254496" y="2103120"/>
            <a:ext cx="2651760" cy="256032"/>
          </a:xfrm>
          <a:prstGeom prst="rect">
            <a:avLst/>
          </a:prstGeom>
          <a:noFill/>
          <a:ln/>
        </p:spPr>
        <p:txBody>
          <a:bodyPr wrap="square" lIns="0" tIns="0" rIns="0" bIns="0" rtlCol="0" anchor="ctr"/>
          <a:lstStyle/>
          <a:p>
            <a:pPr indent="0" marL="0">
              <a:buNone/>
            </a:pPr>
            <a:r>
              <a:rPr lang="en-US" sz="950" dirty="0">
                <a:solidFill>
                  <a:srgbClr val="1A2B2C"/>
                </a:solidFill>
                <a:latin typeface="Calibri" pitchFamily="34" charset="0"/>
                <a:ea typeface="Calibri" pitchFamily="34" charset="-122"/>
                <a:cs typeface="Calibri" pitchFamily="34" charset="-120"/>
              </a:rPr>
              <a:t>Multi-Device (MD) — raw socket impl.</a:t>
            </a:r>
            <a:endParaRPr lang="en-US" sz="950" dirty="0"/>
          </a:p>
        </p:txBody>
      </p:sp>
      <p:sp>
        <p:nvSpPr>
          <p:cNvPr id="46" name="Text 44"/>
          <p:cNvSpPr/>
          <p:nvPr/>
        </p:nvSpPr>
        <p:spPr>
          <a:xfrm>
            <a:off x="6254496" y="2414016"/>
            <a:ext cx="2651760" cy="164592"/>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RAM Usage:</a:t>
            </a:r>
            <a:endParaRPr lang="en-US" sz="900" dirty="0"/>
          </a:p>
        </p:txBody>
      </p:sp>
      <p:sp>
        <p:nvSpPr>
          <p:cNvPr id="47" name="Text 45"/>
          <p:cNvSpPr/>
          <p:nvPr/>
        </p:nvSpPr>
        <p:spPr>
          <a:xfrm>
            <a:off x="6254496" y="2578608"/>
            <a:ext cx="2651760" cy="256032"/>
          </a:xfrm>
          <a:prstGeom prst="rect">
            <a:avLst/>
          </a:prstGeom>
          <a:noFill/>
          <a:ln/>
        </p:spPr>
        <p:txBody>
          <a:bodyPr wrap="square" lIns="0" tIns="0" rIns="0" bIns="0" rtlCol="0" anchor="ctr"/>
          <a:lstStyle/>
          <a:p>
            <a:pPr indent="0" marL="0">
              <a:buNone/>
            </a:pPr>
            <a:r>
              <a:rPr lang="en-US" sz="950" dirty="0">
                <a:solidFill>
                  <a:srgbClr val="1A2B2C"/>
                </a:solidFill>
                <a:latin typeface="Calibri" pitchFamily="34" charset="0"/>
                <a:ea typeface="Calibri" pitchFamily="34" charset="-122"/>
                <a:cs typeface="Calibri" pitchFamily="34" charset="-120"/>
              </a:rPr>
              <a:t>~150–300 MB</a:t>
            </a:r>
            <a:endParaRPr lang="en-US" sz="950" dirty="0"/>
          </a:p>
        </p:txBody>
      </p:sp>
      <p:sp>
        <p:nvSpPr>
          <p:cNvPr id="48" name="Text 46"/>
          <p:cNvSpPr/>
          <p:nvPr/>
        </p:nvSpPr>
        <p:spPr>
          <a:xfrm>
            <a:off x="6254496" y="2889504"/>
            <a:ext cx="2651760" cy="164592"/>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Docker:</a:t>
            </a:r>
            <a:endParaRPr lang="en-US" sz="900" dirty="0"/>
          </a:p>
        </p:txBody>
      </p:sp>
      <p:sp>
        <p:nvSpPr>
          <p:cNvPr id="49" name="Text 47"/>
          <p:cNvSpPr/>
          <p:nvPr/>
        </p:nvSpPr>
        <p:spPr>
          <a:xfrm>
            <a:off x="6254496" y="3054096"/>
            <a:ext cx="2651760" cy="256032"/>
          </a:xfrm>
          <a:prstGeom prst="rect">
            <a:avLst/>
          </a:prstGeom>
          <a:noFill/>
          <a:ln/>
        </p:spPr>
        <p:txBody>
          <a:bodyPr wrap="square" lIns="0" tIns="0" rIns="0" bIns="0" rtlCol="0" anchor="ctr"/>
          <a:lstStyle/>
          <a:p>
            <a:pPr indent="0" marL="0">
              <a:buNone/>
            </a:pPr>
            <a:r>
              <a:rPr lang="en-US" sz="950" dirty="0">
                <a:solidFill>
                  <a:srgbClr val="1A2B2C"/>
                </a:solidFill>
                <a:latin typeface="Calibri" pitchFamily="34" charset="0"/>
                <a:ea typeface="Calibri" pitchFamily="34" charset="-122"/>
                <a:cs typeface="Calibri" pitchFamily="34" charset="-120"/>
              </a:rPr>
              <a:t>Manual setup required</a:t>
            </a:r>
            <a:endParaRPr lang="en-US" sz="950" dirty="0"/>
          </a:p>
        </p:txBody>
      </p:sp>
      <p:sp>
        <p:nvSpPr>
          <p:cNvPr id="50" name="Text 48"/>
          <p:cNvSpPr/>
          <p:nvPr/>
        </p:nvSpPr>
        <p:spPr>
          <a:xfrm>
            <a:off x="6254496" y="3364992"/>
            <a:ext cx="2651760" cy="164592"/>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Ban Risk:</a:t>
            </a:r>
            <a:endParaRPr lang="en-US" sz="900" dirty="0"/>
          </a:p>
        </p:txBody>
      </p:sp>
      <p:sp>
        <p:nvSpPr>
          <p:cNvPr id="51" name="Text 49"/>
          <p:cNvSpPr/>
          <p:nvPr/>
        </p:nvSpPr>
        <p:spPr>
          <a:xfrm>
            <a:off x="6254496" y="3529584"/>
            <a:ext cx="2651760" cy="256032"/>
          </a:xfrm>
          <a:prstGeom prst="rect">
            <a:avLst/>
          </a:prstGeom>
          <a:noFill/>
          <a:ln/>
        </p:spPr>
        <p:txBody>
          <a:bodyPr wrap="square" lIns="0" tIns="0" rIns="0" bIns="0" rtlCol="0" anchor="ctr"/>
          <a:lstStyle/>
          <a:p>
            <a:pPr indent="0" marL="0">
              <a:buNone/>
            </a:pPr>
            <a:r>
              <a:rPr lang="en-US" sz="950" dirty="0">
                <a:solidFill>
                  <a:srgbClr val="1A2B2C"/>
                </a:solidFill>
                <a:latin typeface="Calibri" pitchFamily="34" charset="0"/>
                <a:ea typeface="Calibri" pitchFamily="34" charset="-122"/>
                <a:cs typeface="Calibri" pitchFamily="34" charset="-120"/>
              </a:rPr>
              <a:t>Moderate</a:t>
            </a:r>
            <a:endParaRPr lang="en-US" sz="950" dirty="0"/>
          </a:p>
        </p:txBody>
      </p:sp>
      <p:sp>
        <p:nvSpPr>
          <p:cNvPr id="52" name="Text 50"/>
          <p:cNvSpPr/>
          <p:nvPr/>
        </p:nvSpPr>
        <p:spPr>
          <a:xfrm>
            <a:off x="6254496" y="3840480"/>
            <a:ext cx="2651760" cy="164592"/>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Stability:</a:t>
            </a:r>
            <a:endParaRPr lang="en-US" sz="900" dirty="0"/>
          </a:p>
        </p:txBody>
      </p:sp>
      <p:sp>
        <p:nvSpPr>
          <p:cNvPr id="53" name="Text 51"/>
          <p:cNvSpPr/>
          <p:nvPr/>
        </p:nvSpPr>
        <p:spPr>
          <a:xfrm>
            <a:off x="6254496" y="4005072"/>
            <a:ext cx="2651760" cy="256032"/>
          </a:xfrm>
          <a:prstGeom prst="rect">
            <a:avLst/>
          </a:prstGeom>
          <a:noFill/>
          <a:ln/>
        </p:spPr>
        <p:txBody>
          <a:bodyPr wrap="square" lIns="0" tIns="0" rIns="0" bIns="0" rtlCol="0" anchor="ctr"/>
          <a:lstStyle/>
          <a:p>
            <a:pPr indent="0" marL="0">
              <a:buNone/>
            </a:pPr>
            <a:r>
              <a:rPr lang="en-US" sz="950" dirty="0">
                <a:solidFill>
                  <a:srgbClr val="1A2B2C"/>
                </a:solidFill>
                <a:latin typeface="Calibri" pitchFamily="34" charset="0"/>
                <a:ea typeface="Calibri" pitchFamily="34" charset="-122"/>
                <a:cs typeface="Calibri" pitchFamily="34" charset="-120"/>
              </a:rPr>
              <a:t>High code churn, frequent breaking changes</a:t>
            </a:r>
            <a:endParaRPr lang="en-US" sz="950" dirty="0"/>
          </a:p>
        </p:txBody>
      </p:sp>
      <p:sp>
        <p:nvSpPr>
          <p:cNvPr id="54" name="Text 52"/>
          <p:cNvSpPr/>
          <p:nvPr/>
        </p:nvSpPr>
        <p:spPr>
          <a:xfrm>
            <a:off x="6254496" y="4315968"/>
            <a:ext cx="2651760" cy="164592"/>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GitHub Stars:</a:t>
            </a:r>
            <a:endParaRPr lang="en-US" sz="900" dirty="0"/>
          </a:p>
        </p:txBody>
      </p:sp>
      <p:sp>
        <p:nvSpPr>
          <p:cNvPr id="55" name="Text 53"/>
          <p:cNvSpPr/>
          <p:nvPr/>
        </p:nvSpPr>
        <p:spPr>
          <a:xfrm>
            <a:off x="6254496" y="4480560"/>
            <a:ext cx="2651760" cy="256032"/>
          </a:xfrm>
          <a:prstGeom prst="rect">
            <a:avLst/>
          </a:prstGeom>
          <a:noFill/>
          <a:ln/>
        </p:spPr>
        <p:txBody>
          <a:bodyPr wrap="square" lIns="0" tIns="0" rIns="0" bIns="0" rtlCol="0" anchor="ctr"/>
          <a:lstStyle/>
          <a:p>
            <a:pPr indent="0" marL="0">
              <a:buNone/>
            </a:pPr>
            <a:r>
              <a:rPr lang="en-US" sz="950" dirty="0">
                <a:solidFill>
                  <a:srgbClr val="1A2B2C"/>
                </a:solidFill>
                <a:latin typeface="Calibri" pitchFamily="34" charset="0"/>
                <a:ea typeface="Calibri" pitchFamily="34" charset="-122"/>
                <a:cs typeface="Calibri" pitchFamily="34" charset="-120"/>
              </a:rPr>
              <a:t>~13K GitHub stars</a:t>
            </a:r>
            <a:endParaRPr lang="en-US" sz="950" dirty="0"/>
          </a:p>
        </p:txBody>
      </p:sp>
      <p:sp>
        <p:nvSpPr>
          <p:cNvPr id="56" name="Shape 54"/>
          <p:cNvSpPr/>
          <p:nvPr/>
        </p:nvSpPr>
        <p:spPr>
          <a:xfrm>
            <a:off x="182880" y="4681728"/>
            <a:ext cx="8778240" cy="329184"/>
          </a:xfrm>
          <a:prstGeom prst="rect">
            <a:avLst/>
          </a:prstGeom>
          <a:solidFill>
            <a:srgbClr val="FEF2F2"/>
          </a:solidFill>
          <a:ln w="12700">
            <a:solidFill>
              <a:srgbClr val="FECACA"/>
            </a:solidFill>
            <a:prstDash val="solid"/>
          </a:ln>
        </p:spPr>
      </p:sp>
      <p:sp>
        <p:nvSpPr>
          <p:cNvPr id="57" name="Text 55"/>
          <p:cNvSpPr/>
          <p:nvPr/>
        </p:nvSpPr>
        <p:spPr>
          <a:xfrm>
            <a:off x="274320" y="4700016"/>
            <a:ext cx="8595360" cy="292608"/>
          </a:xfrm>
          <a:prstGeom prst="rect">
            <a:avLst/>
          </a:prstGeom>
          <a:noFill/>
          <a:ln/>
        </p:spPr>
        <p:txBody>
          <a:bodyPr wrap="square" lIns="0" tIns="0" rIns="0" bIns="0" rtlCol="0" anchor="ctr"/>
          <a:lstStyle/>
          <a:p>
            <a:pPr indent="0" marL="0">
              <a:buNone/>
            </a:pPr>
            <a:r>
              <a:rPr lang="en-US" sz="950" b="1" dirty="0">
                <a:solidFill>
                  <a:srgbClr val="C0392B"/>
                </a:solidFill>
                <a:latin typeface="Calibri" pitchFamily="34" charset="0"/>
                <a:ea typeface="Calibri" pitchFamily="34" charset="-122"/>
                <a:cs typeface="Calibri" pitchFamily="34" charset="-120"/>
              </a:rPr>
              <a:t>WHY GO-BASED IS 'BETTER' BUT STILL RISKY: </a:t>
            </a:r>
            <a:pPr indent="0" marL="0">
              <a:buNone/>
            </a:pPr>
            <a:r>
              <a:rPr lang="en-US" sz="950" dirty="0">
                <a:solidFill>
                  <a:srgbClr val="1A2B2C"/>
                </a:solidFill>
                <a:latin typeface="Calibri" pitchFamily="34" charset="0"/>
                <a:ea typeface="Calibri" pitchFamily="34" charset="-122"/>
                <a:cs typeface="Calibri" pitchFamily="34" charset="-120"/>
              </a:rPr>
              <a:t>Go/WhatsMeow uses Multi-Device natively — less RAM, no browser fingerprint. But Meta monitors connection patterns, device anomalies, and message velocity. Bans still happen with zero notice, zero appeal, zero SLA. For a lab sending patient results, one ban event = 100% delivery failure.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AFB"/>
        </a:solidFill>
      </p:bgPr>
    </p:bg>
    <p:spTree>
      <p:nvGrpSpPr>
        <p:cNvPr id="1" name=""/>
        <p:cNvGrpSpPr/>
        <p:nvPr/>
      </p:nvGrpSpPr>
      <p:grpSpPr>
        <a:xfrm>
          <a:off x="0" y="0"/>
          <a:ext cx="0" cy="0"/>
          <a:chOff x="0" y="0"/>
          <a:chExt cx="0" cy="0"/>
        </a:xfrm>
      </p:grpSpPr>
      <p:sp>
        <p:nvSpPr>
          <p:cNvPr id="2" name="Text 0"/>
          <p:cNvSpPr/>
          <p:nvPr/>
        </p:nvSpPr>
        <p:spPr>
          <a:xfrm>
            <a:off x="274320" y="128016"/>
            <a:ext cx="8595360" cy="438912"/>
          </a:xfrm>
          <a:prstGeom prst="rect">
            <a:avLst/>
          </a:prstGeom>
          <a:noFill/>
          <a:ln/>
        </p:spPr>
        <p:txBody>
          <a:bodyPr wrap="square" lIns="0" tIns="0" rIns="0" bIns="0" rtlCol="0" anchor="ctr"/>
          <a:lstStyle/>
          <a:p>
            <a:pPr indent="0" marL="0">
              <a:buNone/>
            </a:pPr>
            <a:r>
              <a:rPr lang="en-US" sz="2400" b="1" dirty="0">
                <a:solidFill>
                  <a:srgbClr val="028090"/>
                </a:solidFill>
                <a:latin typeface="Calibri" pitchFamily="34" charset="0"/>
                <a:ea typeface="Calibri" pitchFamily="34" charset="-122"/>
                <a:cs typeface="Calibri" pitchFamily="34" charset="-120"/>
              </a:rPr>
              <a:t>Verified Cost Analysis — All Solutions</a:t>
            </a:r>
            <a:endParaRPr lang="en-US" sz="2400" dirty="0"/>
          </a:p>
        </p:txBody>
      </p:sp>
      <p:sp>
        <p:nvSpPr>
          <p:cNvPr id="3" name="Text 1"/>
          <p:cNvSpPr/>
          <p:nvPr/>
        </p:nvSpPr>
        <p:spPr>
          <a:xfrm>
            <a:off x="274320" y="530352"/>
            <a:ext cx="8595360" cy="256032"/>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Egypt · 15,000 utility messages/month · Meta rate $0.0036/msg confirmed · 1 USD = 50 EGP</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74320" y="914400"/>
          <a:ext cx="8595360" cy="4069080"/>
        </p:xfrm>
        <a:graphic>
          <a:graphicData uri="http://schemas.openxmlformats.org/drawingml/2006/table">
            <a:tbl>
              <a:tblPr/>
              <a:tblGrid>
                <a:gridCol w="1691640"/>
                <a:gridCol w="1280160"/>
                <a:gridCol w="1417320"/>
                <a:gridCol w="914400"/>
                <a:gridCol w="1097280"/>
                <a:gridCol w="1097280"/>
                <a:gridCol w="1097280"/>
              </a:tblGrid>
              <a:tr h="581297">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Solution</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E6B78"/>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Meta Fee / Month</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E6B78"/>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Platform / Markup</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E6B78"/>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Server Cost</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E6B78"/>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Total / Month (EGP)</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E6B78"/>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Total / Year (EGP)</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E6B78"/>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Annual Saving vs SMS</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E6B78"/>
                    </a:solidFill>
                  </a:tcPr>
                </a:tc>
              </a:tr>
              <a:tr h="581297">
                <a:tc>
                  <a:txBody>
                    <a:bodyPr/>
                    <a:lstStyle/>
                    <a:p>
                      <a:pPr indent="0" marL="0">
                        <a:buNone/>
                      </a:pPr>
                      <a:r>
                        <a:rPr lang="en-US" sz="1000" b="1" dirty="0">
                          <a:solidFill>
                            <a:srgbClr val="C0392B"/>
                          </a:solidFill>
                          <a:latin typeface="Calibri" pitchFamily="34" charset="0"/>
                          <a:ea typeface="Calibri" pitchFamily="34" charset="-122"/>
                          <a:cs typeface="Calibri" pitchFamily="34" charset="-120"/>
                        </a:rPr>
                        <a:t>SMS Misr (current)</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E4E4"/>
                    </a:solidFill>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E4E4"/>
                    </a:solidFill>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E4E4"/>
                    </a:solidFill>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E4E4"/>
                    </a:solidFill>
                  </a:tcPr>
                </a:tc>
                <a:tc>
                  <a:txBody>
                    <a:bodyPr/>
                    <a:lstStyle/>
                    <a:p>
                      <a:pPr indent="0" marL="0">
                        <a:buNone/>
                      </a:pPr>
                      <a:r>
                        <a:rPr lang="en-US" sz="1000" b="1" dirty="0">
                          <a:solidFill>
                            <a:srgbClr val="C0392B"/>
                          </a:solidFill>
                          <a:latin typeface="Calibri" pitchFamily="34" charset="0"/>
                          <a:ea typeface="Calibri" pitchFamily="34" charset="-122"/>
                          <a:cs typeface="Calibri" pitchFamily="34" charset="-120"/>
                        </a:rPr>
                        <a:t>9,000 EGP</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E4E4"/>
                    </a:solidFill>
                  </a:tcPr>
                </a:tc>
                <a:tc>
                  <a:txBody>
                    <a:bodyPr/>
                    <a:lstStyle/>
                    <a:p>
                      <a:pPr indent="0" marL="0">
                        <a:buNone/>
                      </a:pPr>
                      <a:r>
                        <a:rPr lang="en-US" sz="1000" b="1" dirty="0">
                          <a:solidFill>
                            <a:srgbClr val="C0392B"/>
                          </a:solidFill>
                          <a:latin typeface="Calibri" pitchFamily="34" charset="0"/>
                          <a:ea typeface="Calibri" pitchFamily="34" charset="-122"/>
                          <a:cs typeface="Calibri" pitchFamily="34" charset="-120"/>
                        </a:rPr>
                        <a:t>108,000 EGP</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E4E4"/>
                    </a:solidFill>
                  </a:tcPr>
                </a:tc>
                <a:tc>
                  <a:txBody>
                    <a:bodyPr/>
                    <a:lstStyle/>
                    <a:p>
                      <a:pPr indent="0" marL="0">
                        <a:buNone/>
                      </a:pPr>
                      <a:r>
                        <a:rPr lang="en-US" sz="1000" dirty="0">
                          <a:solidFill>
                            <a:srgbClr val="64748B"/>
                          </a:solidFill>
                          <a:latin typeface="Calibri" pitchFamily="34" charset="0"/>
                          <a:ea typeface="Calibri" pitchFamily="34" charset="-122"/>
                          <a:cs typeface="Calibri" pitchFamily="34" charset="-120"/>
                        </a:rPr>
                        <a:t>Baseline</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E4E4"/>
                    </a:solidFill>
                  </a:tcPr>
                </a:tc>
              </a:tr>
              <a:tr h="581297">
                <a:tc>
                  <a:txBody>
                    <a:bodyPr/>
                    <a:lstStyle/>
                    <a:p>
                      <a:pPr indent="0" marL="0">
                        <a:buNone/>
                      </a:pPr>
                      <a:r>
                        <a:rPr lang="en-US" sz="1000" b="1" dirty="0">
                          <a:solidFill>
                            <a:srgbClr val="028090"/>
                          </a:solidFill>
                          <a:latin typeface="Calibri" pitchFamily="34" charset="0"/>
                          <a:ea typeface="Calibri" pitchFamily="34" charset="-122"/>
                          <a:cs typeface="Calibri" pitchFamily="34" charset="-120"/>
                        </a:rPr>
                        <a:t>Meta Cloud API ✓ RECOMMENDED</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7F4"/>
                    </a:solidFill>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~$54 (~2,700 EGP)</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7F4"/>
                    </a:solidFill>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7F4"/>
                    </a:solidFill>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~$20 (~1,000 EGP)</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7F4"/>
                    </a:solidFill>
                  </a:tcPr>
                </a:tc>
                <a:tc>
                  <a:txBody>
                    <a:bodyPr/>
                    <a:lstStyle/>
                    <a:p>
                      <a:pPr indent="0" marL="0">
                        <a:buNone/>
                      </a:pPr>
                      <a:r>
                        <a:rPr lang="en-US" sz="1100" b="1" dirty="0">
                          <a:solidFill>
                            <a:srgbClr val="27AE60"/>
                          </a:solidFill>
                          <a:latin typeface="Calibri" pitchFamily="34" charset="0"/>
                          <a:ea typeface="Calibri" pitchFamily="34" charset="-122"/>
                          <a:cs typeface="Calibri" pitchFamily="34" charset="-120"/>
                        </a:rPr>
                        <a:t>~3,700 EGP</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7F4"/>
                    </a:solidFill>
                  </a:tcPr>
                </a:tc>
                <a:tc>
                  <a:txBody>
                    <a:bodyPr/>
                    <a:lstStyle/>
                    <a:p>
                      <a:pPr indent="0" marL="0">
                        <a:buNone/>
                      </a:pPr>
                      <a:r>
                        <a:rPr lang="en-US" sz="1100" b="1" dirty="0">
                          <a:solidFill>
                            <a:srgbClr val="27AE60"/>
                          </a:solidFill>
                          <a:latin typeface="Calibri" pitchFamily="34" charset="0"/>
                          <a:ea typeface="Calibri" pitchFamily="34" charset="-122"/>
                          <a:cs typeface="Calibri" pitchFamily="34" charset="-120"/>
                        </a:rPr>
                        <a:t>~44,400 EGP</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7F4"/>
                    </a:solidFill>
                  </a:tcPr>
                </a:tc>
                <a:tc>
                  <a:txBody>
                    <a:bodyPr/>
                    <a:lstStyle/>
                    <a:p>
                      <a:pPr indent="0" marL="0">
                        <a:buNone/>
                      </a:pPr>
                      <a:r>
                        <a:rPr lang="en-US" sz="1000" b="1" dirty="0">
                          <a:solidFill>
                            <a:srgbClr val="27AE60"/>
                          </a:solidFill>
                          <a:latin typeface="Calibri" pitchFamily="34" charset="0"/>
                          <a:ea typeface="Calibri" pitchFamily="34" charset="-122"/>
                          <a:cs typeface="Calibri" pitchFamily="34" charset="-120"/>
                        </a:rPr>
                        <a:t>~63,600 EGP (59%)</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7F4"/>
                    </a:solidFill>
                  </a:tcPr>
                </a:tc>
              </a:tr>
              <a:tr h="581297">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360dialog</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AFA"/>
                    </a:solidFill>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~$54 (~2,700 EGP)</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AFA"/>
                    </a:solidFill>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$59/month (~2,950 EGP)</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AFA"/>
                    </a:solidFill>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AFA"/>
                    </a:solidFill>
                  </a:tcPr>
                </a:tc>
                <a:tc>
                  <a:txBody>
                    <a:bodyPr/>
                    <a:lstStyle/>
                    <a:p>
                      <a:pPr indent="0" marL="0">
                        <a:buNone/>
                      </a:pPr>
                      <a:r>
                        <a:rPr lang="en-US" sz="1000" b="1" dirty="0">
                          <a:solidFill>
                            <a:srgbClr val="028090"/>
                          </a:solidFill>
                          <a:latin typeface="Calibri" pitchFamily="34" charset="0"/>
                          <a:ea typeface="Calibri" pitchFamily="34" charset="-122"/>
                          <a:cs typeface="Calibri" pitchFamily="34" charset="-120"/>
                        </a:rPr>
                        <a:t>~5,650 EGP</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AFA"/>
                    </a:solidFill>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~67,800 EGP</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AFA"/>
                    </a:solidFill>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~40,200 EGP (37%)</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AFA"/>
                    </a:solidFill>
                  </a:tcPr>
                </a:tc>
              </a:tr>
              <a:tr h="581297">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WATI Growth</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~$65 (~3,250 EGP)</a:t>
                      </a:r>
                      <a:endParaRPr lang="en-US" sz="1000" dirty="0">
                        <a:latin typeface="Calibri" charset="0"/>
                        <a:ea typeface="Calibri" charset="0"/>
                        <a:cs typeface="Calibri" charset="0"/>
                      </a:endParaRPr>
                    </a:p>
                    <a:p>
                      <a:pPr indent="0" marL="0">
                        <a:buNone/>
                      </a:pPr>
                      <a:r>
                        <a:rPr lang="en-US" sz="1000" dirty="0">
                          <a:solidFill>
                            <a:srgbClr val="1A2B2C"/>
                          </a:solidFill>
                          <a:latin typeface="Calibri" pitchFamily="34" charset="0"/>
                          <a:ea typeface="Calibri" pitchFamily="34" charset="-122"/>
                          <a:cs typeface="Calibri" pitchFamily="34" charset="-120"/>
                        </a:rPr>
                        <a:t>(Meta × 1.2 = 20% markup)</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$49/month (~2,450 EGP)</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~5,700 EGP</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~68,400 EGP</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~39,600 EGP (37%)</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81297">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Twilio</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~$54 (~2,700 EGP)</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$0.005/msg × 15K = $75 (~3,750 EGP)</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~$20 (~1,000 EGP)</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~6,450 EGP</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~77,400 EGP</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~30,600 EGP (28%)</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81297">
                <a:tc>
                  <a:txBody>
                    <a:bodyPr/>
                    <a:lstStyle/>
                    <a:p>
                      <a:pPr indent="0" marL="0">
                        <a:buNone/>
                      </a:pPr>
                      <a:r>
                        <a:rPr lang="en-US" sz="1000" b="1" dirty="0">
                          <a:solidFill>
                            <a:srgbClr val="C0392B"/>
                          </a:solidFill>
                          <a:latin typeface="Calibri" pitchFamily="34" charset="0"/>
                          <a:ea typeface="Calibri" pitchFamily="34" charset="-122"/>
                          <a:cs typeface="Calibri" pitchFamily="34" charset="-120"/>
                        </a:rPr>
                        <a:t>Self-hosted ⚠ HIGH RISK</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~$20 (~1,000 EGP)</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E67E22"/>
                          </a:solidFill>
                          <a:latin typeface="Calibri" pitchFamily="34" charset="0"/>
                          <a:ea typeface="Calibri" pitchFamily="34" charset="-122"/>
                          <a:cs typeface="Calibri" pitchFamily="34" charset="-120"/>
                        </a:rPr>
                        <a:t>~1,000 EGP</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E67E22"/>
                          </a:solidFill>
                          <a:latin typeface="Calibri" pitchFamily="34" charset="0"/>
                          <a:ea typeface="Calibri" pitchFamily="34" charset="-122"/>
                          <a:cs typeface="Calibri" pitchFamily="34" charset="-120"/>
                        </a:rPr>
                        <a:t>~12,000 EGP</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i="1" dirty="0">
                          <a:solidFill>
                            <a:srgbClr val="C0392B"/>
                          </a:solidFill>
                          <a:latin typeface="Calibri" pitchFamily="34" charset="0"/>
                          <a:ea typeface="Calibri" pitchFamily="34" charset="-122"/>
                          <a:cs typeface="Calibri" pitchFamily="34" charset="-120"/>
                        </a:rPr>
                        <a:t>Theoretical only — ban risk</a:t>
                      </a:r>
                      <a:endParaRPr lang="en-US" sz="9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5" name="Text 2"/>
          <p:cNvSpPr/>
          <p:nvPr/>
        </p:nvSpPr>
        <p:spPr>
          <a:xfrm>
            <a:off x="274320" y="5029200"/>
            <a:ext cx="8595360" cy="201168"/>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 Twilio confirmed: Meta Egypt rate $0.0036/msg + Twilio $0.005/msg = $0.0086/msg total. Meta announced Egypt utility rate reductions Oct 2025 &amp; Jan 2026 — actual Meta cost may now be lower than $0.0036.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28016"/>
            <a:ext cx="8229600" cy="438912"/>
          </a:xfrm>
          <a:prstGeom prst="rect">
            <a:avLst/>
          </a:prstGeom>
          <a:noFill/>
          <a:ln/>
        </p:spPr>
        <p:txBody>
          <a:bodyPr wrap="square" lIns="0" tIns="0" rIns="0" bIns="0" rtlCol="0" anchor="ctr"/>
          <a:lstStyle/>
          <a:p>
            <a:pPr indent="0" marL="0">
              <a:buNone/>
            </a:pPr>
            <a:r>
              <a:rPr lang="en-US" sz="2600" b="1" dirty="0">
                <a:solidFill>
                  <a:srgbClr val="028090"/>
                </a:solidFill>
                <a:latin typeface="Calibri" pitchFamily="34" charset="0"/>
                <a:ea typeface="Calibri" pitchFamily="34" charset="-122"/>
                <a:cs typeface="Calibri" pitchFamily="34" charset="-120"/>
              </a:rPr>
              <a:t>Monthly Cost vs Annual Saving</a:t>
            </a:r>
            <a:endParaRPr lang="en-US" sz="2600" dirty="0"/>
          </a:p>
        </p:txBody>
      </p:sp>
      <p:sp>
        <p:nvSpPr>
          <p:cNvPr id="3" name="Text 1"/>
          <p:cNvSpPr/>
          <p:nvPr/>
        </p:nvSpPr>
        <p:spPr>
          <a:xfrm>
            <a:off x="365760" y="530352"/>
            <a:ext cx="8229600" cy="256032"/>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All figures in EGP · Baseline: 9,000 EGP/month · 108,000 EGP/year</a:t>
            </a:r>
            <a:endParaRPr lang="en-US" sz="1100" dirty="0"/>
          </a:p>
        </p:txBody>
      </p:sp>
      <p:graphicFrame>
        <p:nvGraphicFramePr>
          <p:cNvPr id="4" name="Chart 0" descr=""/>
          <p:cNvGraphicFramePr/>
          <p:nvPr/>
        </p:nvGraphicFramePr>
        <p:xfrm>
          <a:off x="274320" y="868680"/>
          <a:ext cx="5303520" cy="36576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760720" y="868680"/>
            <a:ext cx="3108960" cy="804672"/>
          </a:xfrm>
          <a:prstGeom prst="rect">
            <a:avLst/>
          </a:prstGeom>
          <a:solidFill>
            <a:srgbClr val="F4FAFB"/>
          </a:solidFill>
          <a:ln w="12700">
            <a:solidFill>
              <a:srgbClr val="E2E8F0"/>
            </a:solidFill>
            <a:prstDash val="solid"/>
          </a:ln>
          <a:effectLst>
            <a:outerShdw sx="100000" sy="100000" kx="0" ky="0" algn="bl" rotWithShape="0" blurRad="63500" dist="25400" dir="8100000">
              <a:srgbClr val="000000">
                <a:alpha val="7000"/>
              </a:srgbClr>
            </a:outerShdw>
          </a:effectLst>
        </p:spPr>
      </p:sp>
      <p:sp>
        <p:nvSpPr>
          <p:cNvPr id="6" name="Shape 3"/>
          <p:cNvSpPr/>
          <p:nvPr/>
        </p:nvSpPr>
        <p:spPr>
          <a:xfrm>
            <a:off x="5760720" y="868680"/>
            <a:ext cx="54864" cy="804672"/>
          </a:xfrm>
          <a:prstGeom prst="rect">
            <a:avLst/>
          </a:prstGeom>
          <a:solidFill>
            <a:srgbClr val="27AE60"/>
          </a:solidFill>
          <a:ln w="12700">
            <a:solidFill>
              <a:srgbClr val="27AE60"/>
            </a:solidFill>
            <a:prstDash val="solid"/>
          </a:ln>
        </p:spPr>
      </p:sp>
      <p:sp>
        <p:nvSpPr>
          <p:cNvPr id="7" name="Text 4"/>
          <p:cNvSpPr/>
          <p:nvPr/>
        </p:nvSpPr>
        <p:spPr>
          <a:xfrm>
            <a:off x="5888736" y="923544"/>
            <a:ext cx="1828800" cy="384048"/>
          </a:xfrm>
          <a:prstGeom prst="rect">
            <a:avLst/>
          </a:prstGeom>
          <a:noFill/>
          <a:ln/>
        </p:spPr>
        <p:txBody>
          <a:bodyPr wrap="square" lIns="0" tIns="0" rIns="0" bIns="0" rtlCol="0" anchor="ctr"/>
          <a:lstStyle/>
          <a:p>
            <a:pPr indent="0" marL="0">
              <a:buNone/>
            </a:pPr>
            <a:r>
              <a:rPr lang="en-US" sz="1100" b="1" dirty="0">
                <a:solidFill>
                  <a:srgbClr val="1A2B2C"/>
                </a:solidFill>
                <a:latin typeface="Calibri" pitchFamily="34" charset="0"/>
                <a:ea typeface="Calibri" pitchFamily="34" charset="-122"/>
                <a:cs typeface="Calibri" pitchFamily="34" charset="-120"/>
              </a:rPr>
              <a:t>Meta Cloud API</a:t>
            </a:r>
            <a:endParaRPr lang="en-US" sz="1100" dirty="0"/>
          </a:p>
          <a:p>
            <a:pPr indent="0" marL="0">
              <a:buNone/>
            </a:pPr>
            <a:r>
              <a:rPr lang="en-US" sz="1100" b="1" dirty="0">
                <a:solidFill>
                  <a:srgbClr val="1A2B2C"/>
                </a:solidFill>
                <a:latin typeface="Calibri" pitchFamily="34" charset="0"/>
                <a:ea typeface="Calibri" pitchFamily="34" charset="-122"/>
                <a:cs typeface="Calibri" pitchFamily="34" charset="-120"/>
              </a:rPr>
              <a:t>(Recommended)</a:t>
            </a:r>
            <a:endParaRPr lang="en-US" sz="1100" dirty="0"/>
          </a:p>
        </p:txBody>
      </p:sp>
      <p:sp>
        <p:nvSpPr>
          <p:cNvPr id="8" name="Text 5"/>
          <p:cNvSpPr/>
          <p:nvPr/>
        </p:nvSpPr>
        <p:spPr>
          <a:xfrm>
            <a:off x="5888736" y="1307592"/>
            <a:ext cx="1463040" cy="292608"/>
          </a:xfrm>
          <a:prstGeom prst="rect">
            <a:avLst/>
          </a:prstGeom>
          <a:noFill/>
          <a:ln/>
        </p:spPr>
        <p:txBody>
          <a:bodyPr wrap="square" lIns="0" tIns="0" rIns="0" bIns="0" rtlCol="0" anchor="ctr"/>
          <a:lstStyle/>
          <a:p>
            <a:pPr indent="0" marL="0">
              <a:buNone/>
            </a:pPr>
            <a:r>
              <a:rPr lang="en-US" sz="1200" b="1" dirty="0">
                <a:solidFill>
                  <a:srgbClr val="27AE60"/>
                </a:solidFill>
                <a:latin typeface="Calibri" pitchFamily="34" charset="0"/>
                <a:ea typeface="Calibri" pitchFamily="34" charset="-122"/>
                <a:cs typeface="Calibri" pitchFamily="34" charset="-120"/>
              </a:rPr>
              <a:t>~63,600 EGP</a:t>
            </a:r>
            <a:endParaRPr lang="en-US" sz="1200" dirty="0"/>
          </a:p>
        </p:txBody>
      </p:sp>
      <p:sp>
        <p:nvSpPr>
          <p:cNvPr id="9" name="Text 6"/>
          <p:cNvSpPr/>
          <p:nvPr/>
        </p:nvSpPr>
        <p:spPr>
          <a:xfrm>
            <a:off x="7360920" y="1344168"/>
            <a:ext cx="141732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saved/year (59%)</a:t>
            </a:r>
            <a:endParaRPr lang="en-US" sz="1000" dirty="0"/>
          </a:p>
        </p:txBody>
      </p:sp>
      <p:sp>
        <p:nvSpPr>
          <p:cNvPr id="10" name="Shape 7"/>
          <p:cNvSpPr/>
          <p:nvPr/>
        </p:nvSpPr>
        <p:spPr>
          <a:xfrm>
            <a:off x="5760720" y="1783080"/>
            <a:ext cx="3108960" cy="804672"/>
          </a:xfrm>
          <a:prstGeom prst="rect">
            <a:avLst/>
          </a:prstGeom>
          <a:solidFill>
            <a:srgbClr val="F4FAFB"/>
          </a:solidFill>
          <a:ln w="12700">
            <a:solidFill>
              <a:srgbClr val="E2E8F0"/>
            </a:solidFill>
            <a:prstDash val="solid"/>
          </a:ln>
          <a:effectLst>
            <a:outerShdw sx="100000" sy="100000" kx="0" ky="0" algn="bl" rotWithShape="0" blurRad="63500" dist="25400" dir="8100000">
              <a:srgbClr val="000000">
                <a:alpha val="7000"/>
              </a:srgbClr>
            </a:outerShdw>
          </a:effectLst>
        </p:spPr>
      </p:sp>
      <p:sp>
        <p:nvSpPr>
          <p:cNvPr id="11" name="Shape 8"/>
          <p:cNvSpPr/>
          <p:nvPr/>
        </p:nvSpPr>
        <p:spPr>
          <a:xfrm>
            <a:off x="5760720" y="1783080"/>
            <a:ext cx="54864" cy="804672"/>
          </a:xfrm>
          <a:prstGeom prst="rect">
            <a:avLst/>
          </a:prstGeom>
          <a:solidFill>
            <a:srgbClr val="028090"/>
          </a:solidFill>
          <a:ln w="12700">
            <a:solidFill>
              <a:srgbClr val="028090"/>
            </a:solidFill>
            <a:prstDash val="solid"/>
          </a:ln>
        </p:spPr>
      </p:sp>
      <p:sp>
        <p:nvSpPr>
          <p:cNvPr id="12" name="Text 9"/>
          <p:cNvSpPr/>
          <p:nvPr/>
        </p:nvSpPr>
        <p:spPr>
          <a:xfrm>
            <a:off x="5888736" y="1837944"/>
            <a:ext cx="1828800" cy="384048"/>
          </a:xfrm>
          <a:prstGeom prst="rect">
            <a:avLst/>
          </a:prstGeom>
          <a:noFill/>
          <a:ln/>
        </p:spPr>
        <p:txBody>
          <a:bodyPr wrap="square" lIns="0" tIns="0" rIns="0" bIns="0" rtlCol="0" anchor="ctr"/>
          <a:lstStyle/>
          <a:p>
            <a:pPr indent="0" marL="0">
              <a:buNone/>
            </a:pPr>
            <a:r>
              <a:rPr lang="en-US" sz="1100" b="1" dirty="0">
                <a:solidFill>
                  <a:srgbClr val="1A2B2C"/>
                </a:solidFill>
                <a:latin typeface="Calibri" pitchFamily="34" charset="0"/>
                <a:ea typeface="Calibri" pitchFamily="34" charset="-122"/>
                <a:cs typeface="Calibri" pitchFamily="34" charset="-120"/>
              </a:rPr>
              <a:t>360dialog</a:t>
            </a:r>
            <a:endParaRPr lang="en-US" sz="1100" dirty="0"/>
          </a:p>
        </p:txBody>
      </p:sp>
      <p:sp>
        <p:nvSpPr>
          <p:cNvPr id="13" name="Text 10"/>
          <p:cNvSpPr/>
          <p:nvPr/>
        </p:nvSpPr>
        <p:spPr>
          <a:xfrm>
            <a:off x="5888736" y="2221992"/>
            <a:ext cx="1463040" cy="292608"/>
          </a:xfrm>
          <a:prstGeom prst="rect">
            <a:avLst/>
          </a:prstGeom>
          <a:noFill/>
          <a:ln/>
        </p:spPr>
        <p:txBody>
          <a:bodyPr wrap="square" lIns="0" tIns="0" rIns="0" bIns="0" rtlCol="0" anchor="ctr"/>
          <a:lstStyle/>
          <a:p>
            <a:pPr indent="0" marL="0">
              <a:buNone/>
            </a:pPr>
            <a:r>
              <a:rPr lang="en-US" sz="1200" b="1" dirty="0">
                <a:solidFill>
                  <a:srgbClr val="028090"/>
                </a:solidFill>
                <a:latin typeface="Calibri" pitchFamily="34" charset="0"/>
                <a:ea typeface="Calibri" pitchFamily="34" charset="-122"/>
                <a:cs typeface="Calibri" pitchFamily="34" charset="-120"/>
              </a:rPr>
              <a:t>~40,200 EGP</a:t>
            </a:r>
            <a:endParaRPr lang="en-US" sz="1200" dirty="0"/>
          </a:p>
        </p:txBody>
      </p:sp>
      <p:sp>
        <p:nvSpPr>
          <p:cNvPr id="14" name="Text 11"/>
          <p:cNvSpPr/>
          <p:nvPr/>
        </p:nvSpPr>
        <p:spPr>
          <a:xfrm>
            <a:off x="7360920" y="2258568"/>
            <a:ext cx="141732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saved/year (37%)</a:t>
            </a:r>
            <a:endParaRPr lang="en-US" sz="1000" dirty="0"/>
          </a:p>
        </p:txBody>
      </p:sp>
      <p:sp>
        <p:nvSpPr>
          <p:cNvPr id="15" name="Shape 12"/>
          <p:cNvSpPr/>
          <p:nvPr/>
        </p:nvSpPr>
        <p:spPr>
          <a:xfrm>
            <a:off x="5760720" y="2697480"/>
            <a:ext cx="3108960" cy="804672"/>
          </a:xfrm>
          <a:prstGeom prst="rect">
            <a:avLst/>
          </a:prstGeom>
          <a:solidFill>
            <a:srgbClr val="F4FAFB"/>
          </a:solidFill>
          <a:ln w="12700">
            <a:solidFill>
              <a:srgbClr val="E2E8F0"/>
            </a:solidFill>
            <a:prstDash val="solid"/>
          </a:ln>
          <a:effectLst>
            <a:outerShdw sx="100000" sy="100000" kx="0" ky="0" algn="bl" rotWithShape="0" blurRad="63500" dist="25400" dir="8100000">
              <a:srgbClr val="000000">
                <a:alpha val="7000"/>
              </a:srgbClr>
            </a:outerShdw>
          </a:effectLst>
        </p:spPr>
      </p:sp>
      <p:sp>
        <p:nvSpPr>
          <p:cNvPr id="16" name="Shape 13"/>
          <p:cNvSpPr/>
          <p:nvPr/>
        </p:nvSpPr>
        <p:spPr>
          <a:xfrm>
            <a:off x="5760720" y="2697480"/>
            <a:ext cx="54864" cy="804672"/>
          </a:xfrm>
          <a:prstGeom prst="rect">
            <a:avLst/>
          </a:prstGeom>
          <a:solidFill>
            <a:srgbClr val="0E6B78"/>
          </a:solidFill>
          <a:ln w="12700">
            <a:solidFill>
              <a:srgbClr val="0E6B78"/>
            </a:solidFill>
            <a:prstDash val="solid"/>
          </a:ln>
        </p:spPr>
      </p:sp>
      <p:sp>
        <p:nvSpPr>
          <p:cNvPr id="17" name="Text 14"/>
          <p:cNvSpPr/>
          <p:nvPr/>
        </p:nvSpPr>
        <p:spPr>
          <a:xfrm>
            <a:off x="5888736" y="2752344"/>
            <a:ext cx="1828800" cy="384048"/>
          </a:xfrm>
          <a:prstGeom prst="rect">
            <a:avLst/>
          </a:prstGeom>
          <a:noFill/>
          <a:ln/>
        </p:spPr>
        <p:txBody>
          <a:bodyPr wrap="square" lIns="0" tIns="0" rIns="0" bIns="0" rtlCol="0" anchor="ctr"/>
          <a:lstStyle/>
          <a:p>
            <a:pPr indent="0" marL="0">
              <a:buNone/>
            </a:pPr>
            <a:r>
              <a:rPr lang="en-US" sz="1100" b="1" dirty="0">
                <a:solidFill>
                  <a:srgbClr val="1A2B2C"/>
                </a:solidFill>
                <a:latin typeface="Calibri" pitchFamily="34" charset="0"/>
                <a:ea typeface="Calibri" pitchFamily="34" charset="-122"/>
                <a:cs typeface="Calibri" pitchFamily="34" charset="-120"/>
              </a:rPr>
              <a:t>WATI</a:t>
            </a:r>
            <a:endParaRPr lang="en-US" sz="1100" dirty="0"/>
          </a:p>
        </p:txBody>
      </p:sp>
      <p:sp>
        <p:nvSpPr>
          <p:cNvPr id="18" name="Text 15"/>
          <p:cNvSpPr/>
          <p:nvPr/>
        </p:nvSpPr>
        <p:spPr>
          <a:xfrm>
            <a:off x="5888736" y="3136392"/>
            <a:ext cx="1463040" cy="292608"/>
          </a:xfrm>
          <a:prstGeom prst="rect">
            <a:avLst/>
          </a:prstGeom>
          <a:noFill/>
          <a:ln/>
        </p:spPr>
        <p:txBody>
          <a:bodyPr wrap="square" lIns="0" tIns="0" rIns="0" bIns="0" rtlCol="0" anchor="ctr"/>
          <a:lstStyle/>
          <a:p>
            <a:pPr indent="0" marL="0">
              <a:buNone/>
            </a:pPr>
            <a:r>
              <a:rPr lang="en-US" sz="1200" b="1" dirty="0">
                <a:solidFill>
                  <a:srgbClr val="0E6B78"/>
                </a:solidFill>
                <a:latin typeface="Calibri" pitchFamily="34" charset="0"/>
                <a:ea typeface="Calibri" pitchFamily="34" charset="-122"/>
                <a:cs typeface="Calibri" pitchFamily="34" charset="-120"/>
              </a:rPr>
              <a:t>~39,600 EGP</a:t>
            </a:r>
            <a:endParaRPr lang="en-US" sz="1200" dirty="0"/>
          </a:p>
        </p:txBody>
      </p:sp>
      <p:sp>
        <p:nvSpPr>
          <p:cNvPr id="19" name="Text 16"/>
          <p:cNvSpPr/>
          <p:nvPr/>
        </p:nvSpPr>
        <p:spPr>
          <a:xfrm>
            <a:off x="7360920" y="3172968"/>
            <a:ext cx="141732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saved/year (37%)</a:t>
            </a:r>
            <a:endParaRPr lang="en-US" sz="1000" dirty="0"/>
          </a:p>
        </p:txBody>
      </p:sp>
      <p:sp>
        <p:nvSpPr>
          <p:cNvPr id="20" name="Shape 17"/>
          <p:cNvSpPr/>
          <p:nvPr/>
        </p:nvSpPr>
        <p:spPr>
          <a:xfrm>
            <a:off x="5760720" y="3611880"/>
            <a:ext cx="3108960" cy="804672"/>
          </a:xfrm>
          <a:prstGeom prst="rect">
            <a:avLst/>
          </a:prstGeom>
          <a:solidFill>
            <a:srgbClr val="F4FAFB"/>
          </a:solidFill>
          <a:ln w="12700">
            <a:solidFill>
              <a:srgbClr val="E2E8F0"/>
            </a:solidFill>
            <a:prstDash val="solid"/>
          </a:ln>
          <a:effectLst>
            <a:outerShdw sx="100000" sy="100000" kx="0" ky="0" algn="bl" rotWithShape="0" blurRad="63500" dist="25400" dir="8100000">
              <a:srgbClr val="000000">
                <a:alpha val="7000"/>
              </a:srgbClr>
            </a:outerShdw>
          </a:effectLst>
        </p:spPr>
      </p:sp>
      <p:sp>
        <p:nvSpPr>
          <p:cNvPr id="21" name="Shape 18"/>
          <p:cNvSpPr/>
          <p:nvPr/>
        </p:nvSpPr>
        <p:spPr>
          <a:xfrm>
            <a:off x="5760720" y="3611880"/>
            <a:ext cx="54864" cy="804672"/>
          </a:xfrm>
          <a:prstGeom prst="rect">
            <a:avLst/>
          </a:prstGeom>
          <a:solidFill>
            <a:srgbClr val="E67E22"/>
          </a:solidFill>
          <a:ln w="12700">
            <a:solidFill>
              <a:srgbClr val="E67E22"/>
            </a:solidFill>
            <a:prstDash val="solid"/>
          </a:ln>
        </p:spPr>
      </p:sp>
      <p:sp>
        <p:nvSpPr>
          <p:cNvPr id="22" name="Text 19"/>
          <p:cNvSpPr/>
          <p:nvPr/>
        </p:nvSpPr>
        <p:spPr>
          <a:xfrm>
            <a:off x="5888736" y="3666744"/>
            <a:ext cx="1828800" cy="384048"/>
          </a:xfrm>
          <a:prstGeom prst="rect">
            <a:avLst/>
          </a:prstGeom>
          <a:noFill/>
          <a:ln/>
        </p:spPr>
        <p:txBody>
          <a:bodyPr wrap="square" lIns="0" tIns="0" rIns="0" bIns="0" rtlCol="0" anchor="ctr"/>
          <a:lstStyle/>
          <a:p>
            <a:pPr indent="0" marL="0">
              <a:buNone/>
            </a:pPr>
            <a:r>
              <a:rPr lang="en-US" sz="1100" b="1" dirty="0">
                <a:solidFill>
                  <a:srgbClr val="1A2B2C"/>
                </a:solidFill>
                <a:latin typeface="Calibri" pitchFamily="34" charset="0"/>
                <a:ea typeface="Calibri" pitchFamily="34" charset="-122"/>
                <a:cs typeface="Calibri" pitchFamily="34" charset="-120"/>
              </a:rPr>
              <a:t>Twilio</a:t>
            </a:r>
            <a:endParaRPr lang="en-US" sz="1100" dirty="0"/>
          </a:p>
        </p:txBody>
      </p:sp>
      <p:sp>
        <p:nvSpPr>
          <p:cNvPr id="23" name="Text 20"/>
          <p:cNvSpPr/>
          <p:nvPr/>
        </p:nvSpPr>
        <p:spPr>
          <a:xfrm>
            <a:off x="5888736" y="4050792"/>
            <a:ext cx="1463040" cy="292608"/>
          </a:xfrm>
          <a:prstGeom prst="rect">
            <a:avLst/>
          </a:prstGeom>
          <a:noFill/>
          <a:ln/>
        </p:spPr>
        <p:txBody>
          <a:bodyPr wrap="square" lIns="0" tIns="0" rIns="0" bIns="0" rtlCol="0" anchor="ctr"/>
          <a:lstStyle/>
          <a:p>
            <a:pPr indent="0" marL="0">
              <a:buNone/>
            </a:pPr>
            <a:r>
              <a:rPr lang="en-US" sz="1200" b="1" dirty="0">
                <a:solidFill>
                  <a:srgbClr val="E67E22"/>
                </a:solidFill>
                <a:latin typeface="Calibri" pitchFamily="34" charset="0"/>
                <a:ea typeface="Calibri" pitchFamily="34" charset="-122"/>
                <a:cs typeface="Calibri" pitchFamily="34" charset="-120"/>
              </a:rPr>
              <a:t>~30,600 EGP</a:t>
            </a:r>
            <a:endParaRPr lang="en-US" sz="1200" dirty="0"/>
          </a:p>
        </p:txBody>
      </p:sp>
      <p:sp>
        <p:nvSpPr>
          <p:cNvPr id="24" name="Text 21"/>
          <p:cNvSpPr/>
          <p:nvPr/>
        </p:nvSpPr>
        <p:spPr>
          <a:xfrm>
            <a:off x="7360920" y="4087368"/>
            <a:ext cx="141732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saved/year (28%)</a:t>
            </a:r>
            <a:endParaRPr lang="en-US" sz="1000" dirty="0"/>
          </a:p>
        </p:txBody>
      </p:sp>
      <p:sp>
        <p:nvSpPr>
          <p:cNvPr id="25" name="Shape 22"/>
          <p:cNvSpPr/>
          <p:nvPr/>
        </p:nvSpPr>
        <p:spPr>
          <a:xfrm>
            <a:off x="5760720" y="4599432"/>
            <a:ext cx="3108960" cy="402336"/>
          </a:xfrm>
          <a:prstGeom prst="rect">
            <a:avLst/>
          </a:prstGeom>
          <a:solidFill>
            <a:srgbClr val="FEF2F2"/>
          </a:solidFill>
          <a:ln w="12700">
            <a:solidFill>
              <a:srgbClr val="FECACA"/>
            </a:solidFill>
            <a:prstDash val="solid"/>
          </a:ln>
        </p:spPr>
      </p:sp>
      <p:sp>
        <p:nvSpPr>
          <p:cNvPr id="26" name="Text 23"/>
          <p:cNvSpPr/>
          <p:nvPr/>
        </p:nvSpPr>
        <p:spPr>
          <a:xfrm>
            <a:off x="5833872" y="4617720"/>
            <a:ext cx="2999232" cy="347472"/>
          </a:xfrm>
          <a:prstGeom prst="rect">
            <a:avLst/>
          </a:prstGeom>
          <a:noFill/>
          <a:ln/>
        </p:spPr>
        <p:txBody>
          <a:bodyPr wrap="square" lIns="0" tIns="0" rIns="0" bIns="0" rtlCol="0" anchor="ctr"/>
          <a:lstStyle/>
          <a:p>
            <a:pPr indent="0" marL="0">
              <a:buNone/>
            </a:pPr>
            <a:r>
              <a:rPr lang="en-US" sz="900" dirty="0">
                <a:solidFill>
                  <a:srgbClr val="C0392B"/>
                </a:solidFill>
                <a:latin typeface="Calibri" pitchFamily="34" charset="0"/>
                <a:ea typeface="Calibri" pitchFamily="34" charset="-122"/>
                <a:cs typeface="Calibri" pitchFamily="34" charset="-120"/>
              </a:rPr>
              <a:t>⚠ Self-hosted ~93,000 EGP saving is theoretical only — ban = 0% delivery for medical use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AFB"/>
        </a:solidFill>
      </p:bgPr>
    </p:bg>
    <p:spTree>
      <p:nvGrpSpPr>
        <p:cNvPr id="1" name=""/>
        <p:cNvGrpSpPr/>
        <p:nvPr/>
      </p:nvGrpSpPr>
      <p:grpSpPr>
        <a:xfrm>
          <a:off x="0" y="0"/>
          <a:ext cx="0" cy="0"/>
          <a:chOff x="0" y="0"/>
          <a:chExt cx="0" cy="0"/>
        </a:xfrm>
      </p:grpSpPr>
      <p:sp>
        <p:nvSpPr>
          <p:cNvPr id="2" name="Text 0"/>
          <p:cNvSpPr/>
          <p:nvPr/>
        </p:nvSpPr>
        <p:spPr>
          <a:xfrm>
            <a:off x="274320" y="128016"/>
            <a:ext cx="8595360" cy="438912"/>
          </a:xfrm>
          <a:prstGeom prst="rect">
            <a:avLst/>
          </a:prstGeom>
          <a:noFill/>
          <a:ln/>
        </p:spPr>
        <p:txBody>
          <a:bodyPr wrap="square" lIns="0" tIns="0" rIns="0" bIns="0" rtlCol="0" anchor="ctr"/>
          <a:lstStyle/>
          <a:p>
            <a:pPr indent="0" marL="0">
              <a:buNone/>
            </a:pPr>
            <a:r>
              <a:rPr lang="en-US" sz="2600" b="1" dirty="0">
                <a:solidFill>
                  <a:srgbClr val="028090"/>
                </a:solidFill>
                <a:latin typeface="Calibri" pitchFamily="34" charset="0"/>
                <a:ea typeface="Calibri" pitchFamily="34" charset="-122"/>
                <a:cs typeface="Calibri" pitchFamily="34" charset="-120"/>
              </a:rPr>
              <a:t>Risk Assessment Matrix</a:t>
            </a:r>
            <a:endParaRPr lang="en-US" sz="2600" dirty="0"/>
          </a:p>
        </p:txBody>
      </p:sp>
      <p:sp>
        <p:nvSpPr>
          <p:cNvPr id="3" name="Text 1"/>
          <p:cNvSpPr/>
          <p:nvPr/>
        </p:nvSpPr>
        <p:spPr>
          <a:xfrm>
            <a:off x="274320" y="530352"/>
            <a:ext cx="8595360" cy="256032"/>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Evaluated across dimensions that matter for medical lab operations</a:t>
            </a:r>
            <a:endParaRPr lang="en-US" sz="1100" dirty="0"/>
          </a:p>
        </p:txBody>
      </p:sp>
      <p:sp>
        <p:nvSpPr>
          <p:cNvPr id="4" name="Shape 2"/>
          <p:cNvSpPr/>
          <p:nvPr/>
        </p:nvSpPr>
        <p:spPr>
          <a:xfrm>
            <a:off x="274320" y="850392"/>
            <a:ext cx="201168" cy="182880"/>
          </a:xfrm>
          <a:prstGeom prst="rect">
            <a:avLst/>
          </a:prstGeom>
          <a:solidFill>
            <a:srgbClr val="27AE60"/>
          </a:solidFill>
          <a:ln w="12700">
            <a:solidFill>
              <a:srgbClr val="27AE60"/>
            </a:solidFill>
            <a:prstDash val="solid"/>
          </a:ln>
        </p:spPr>
      </p:sp>
      <p:sp>
        <p:nvSpPr>
          <p:cNvPr id="5" name="Text 3"/>
          <p:cNvSpPr/>
          <p:nvPr/>
        </p:nvSpPr>
        <p:spPr>
          <a:xfrm>
            <a:off x="512064" y="868680"/>
            <a:ext cx="1097280" cy="164592"/>
          </a:xfrm>
          <a:prstGeom prst="rect">
            <a:avLst/>
          </a:prstGeom>
          <a:noFill/>
          <a:ln/>
        </p:spPr>
        <p:txBody>
          <a:bodyPr wrap="square" lIns="0" tIns="0" rIns="0" bIns="0" rtlCol="0" anchor="ctr"/>
          <a:lstStyle/>
          <a:p>
            <a:pPr indent="0" marL="0">
              <a:buNone/>
            </a:pPr>
            <a:r>
              <a:rPr lang="en-US" sz="900" dirty="0">
                <a:solidFill>
                  <a:srgbClr val="1A2B2C"/>
                </a:solidFill>
                <a:latin typeface="Calibri" pitchFamily="34" charset="0"/>
                <a:ea typeface="Calibri" pitchFamily="34" charset="-122"/>
                <a:cs typeface="Calibri" pitchFamily="34" charset="-120"/>
              </a:rPr>
              <a:t>Low / Good</a:t>
            </a:r>
            <a:endParaRPr lang="en-US" sz="900" dirty="0"/>
          </a:p>
        </p:txBody>
      </p:sp>
      <p:sp>
        <p:nvSpPr>
          <p:cNvPr id="6" name="Shape 4"/>
          <p:cNvSpPr/>
          <p:nvPr/>
        </p:nvSpPr>
        <p:spPr>
          <a:xfrm>
            <a:off x="1920240" y="850392"/>
            <a:ext cx="201168" cy="182880"/>
          </a:xfrm>
          <a:prstGeom prst="rect">
            <a:avLst/>
          </a:prstGeom>
          <a:solidFill>
            <a:srgbClr val="F59E0B"/>
          </a:solidFill>
          <a:ln w="12700">
            <a:solidFill>
              <a:srgbClr val="F59E0B"/>
            </a:solidFill>
            <a:prstDash val="solid"/>
          </a:ln>
        </p:spPr>
      </p:sp>
      <p:sp>
        <p:nvSpPr>
          <p:cNvPr id="7" name="Text 5"/>
          <p:cNvSpPr/>
          <p:nvPr/>
        </p:nvSpPr>
        <p:spPr>
          <a:xfrm>
            <a:off x="2157984" y="868680"/>
            <a:ext cx="1097280" cy="164592"/>
          </a:xfrm>
          <a:prstGeom prst="rect">
            <a:avLst/>
          </a:prstGeom>
          <a:noFill/>
          <a:ln/>
        </p:spPr>
        <p:txBody>
          <a:bodyPr wrap="square" lIns="0" tIns="0" rIns="0" bIns="0" rtlCol="0" anchor="ctr"/>
          <a:lstStyle/>
          <a:p>
            <a:pPr indent="0" marL="0">
              <a:buNone/>
            </a:pPr>
            <a:r>
              <a:rPr lang="en-US" sz="900" dirty="0">
                <a:solidFill>
                  <a:srgbClr val="1A2B2C"/>
                </a:solidFill>
                <a:latin typeface="Calibri" pitchFamily="34" charset="0"/>
                <a:ea typeface="Calibri" pitchFamily="34" charset="-122"/>
                <a:cs typeface="Calibri" pitchFamily="34" charset="-120"/>
              </a:rPr>
              <a:t>Medium</a:t>
            </a:r>
            <a:endParaRPr lang="en-US" sz="900" dirty="0"/>
          </a:p>
        </p:txBody>
      </p:sp>
      <p:sp>
        <p:nvSpPr>
          <p:cNvPr id="8" name="Shape 6"/>
          <p:cNvSpPr/>
          <p:nvPr/>
        </p:nvSpPr>
        <p:spPr>
          <a:xfrm>
            <a:off x="3566160" y="850392"/>
            <a:ext cx="201168" cy="182880"/>
          </a:xfrm>
          <a:prstGeom prst="rect">
            <a:avLst/>
          </a:prstGeom>
          <a:solidFill>
            <a:srgbClr val="C0392B"/>
          </a:solidFill>
          <a:ln w="12700">
            <a:solidFill>
              <a:srgbClr val="C0392B"/>
            </a:solidFill>
            <a:prstDash val="solid"/>
          </a:ln>
        </p:spPr>
      </p:sp>
      <p:sp>
        <p:nvSpPr>
          <p:cNvPr id="9" name="Text 7"/>
          <p:cNvSpPr/>
          <p:nvPr/>
        </p:nvSpPr>
        <p:spPr>
          <a:xfrm>
            <a:off x="3803904" y="868680"/>
            <a:ext cx="1097280" cy="164592"/>
          </a:xfrm>
          <a:prstGeom prst="rect">
            <a:avLst/>
          </a:prstGeom>
          <a:noFill/>
          <a:ln/>
        </p:spPr>
        <p:txBody>
          <a:bodyPr wrap="square" lIns="0" tIns="0" rIns="0" bIns="0" rtlCol="0" anchor="ctr"/>
          <a:lstStyle/>
          <a:p>
            <a:pPr indent="0" marL="0">
              <a:buNone/>
            </a:pPr>
            <a:r>
              <a:rPr lang="en-US" sz="900" dirty="0">
                <a:solidFill>
                  <a:srgbClr val="1A2B2C"/>
                </a:solidFill>
                <a:latin typeface="Calibri" pitchFamily="34" charset="0"/>
                <a:ea typeface="Calibri" pitchFamily="34" charset="-122"/>
                <a:cs typeface="Calibri" pitchFamily="34" charset="-120"/>
              </a:rPr>
              <a:t>High / Bad</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274320" y="1078992"/>
          <a:ext cx="8595360" cy="3858768"/>
        </p:xfrm>
        <a:graphic>
          <a:graphicData uri="http://schemas.openxmlformats.org/drawingml/2006/table">
            <a:tbl>
              <a:tblPr/>
              <a:tblGrid>
                <a:gridCol w="1664208"/>
                <a:gridCol w="713232"/>
                <a:gridCol w="804672"/>
                <a:gridCol w="804672"/>
                <a:gridCol w="1005840"/>
                <a:gridCol w="804672"/>
                <a:gridCol w="777240"/>
                <a:gridCol w="1655064"/>
              </a:tblGrid>
              <a:tr h="428752">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Solution</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E6B78"/>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Ban Risk</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E6B78"/>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Reliability</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E6B78"/>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Compliance</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E6B78"/>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Support</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E6B78"/>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Downtime Risk</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E6B78"/>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Setup Ease</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E6B78"/>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Medical Fit</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E6B78"/>
                    </a:solidFill>
                  </a:tcPr>
                </a:tc>
              </a:tr>
              <a:tr h="428752">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SMS Misr (current)</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27AE60"/>
                          </a:solidFill>
                          <a:latin typeface="Calibri" pitchFamily="34" charset="0"/>
                          <a:ea typeface="Calibri" pitchFamily="34" charset="-122"/>
                          <a:cs typeface="Calibri" pitchFamily="34" charset="-120"/>
                        </a:rPr>
                        <a:t>None</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Full</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27AE60"/>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27AE60"/>
                          </a:solidFill>
                          <a:latin typeface="Calibri" pitchFamily="34" charset="0"/>
                          <a:ea typeface="Calibri" pitchFamily="34" charset="-122"/>
                          <a:cs typeface="Calibri" pitchFamily="34" charset="-120"/>
                        </a:rPr>
                        <a:t>Easy</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E67E22"/>
                          </a:solidFill>
                          <a:latin typeface="Calibri" pitchFamily="34" charset="0"/>
                          <a:ea typeface="Calibri" pitchFamily="34" charset="-122"/>
                          <a:cs typeface="Calibri" pitchFamily="34" charset="-120"/>
                        </a:rPr>
                        <a:t>Adequate</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8752">
                <a:tc>
                  <a:txBody>
                    <a:bodyPr/>
                    <a:lstStyle/>
                    <a:p>
                      <a:pPr indent="0" marL="0">
                        <a:buNone/>
                      </a:pPr>
                      <a:r>
                        <a:rPr lang="en-US" sz="1000" b="1" dirty="0">
                          <a:solidFill>
                            <a:srgbClr val="028090"/>
                          </a:solidFill>
                          <a:latin typeface="Calibri" pitchFamily="34" charset="0"/>
                          <a:ea typeface="Calibri" pitchFamily="34" charset="-122"/>
                          <a:cs typeface="Calibri" pitchFamily="34" charset="-120"/>
                        </a:rPr>
                        <a:t>Meta Cloud API ✓</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27AE60"/>
                          </a:solidFill>
                          <a:latin typeface="Calibri" pitchFamily="34" charset="0"/>
                          <a:ea typeface="Calibri" pitchFamily="34" charset="-122"/>
                          <a:cs typeface="Calibri" pitchFamily="34" charset="-120"/>
                        </a:rPr>
                        <a:t>None</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Very High</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Full</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F59E0B"/>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27AE60"/>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F59E0B"/>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27AE60"/>
                          </a:solidFill>
                          <a:latin typeface="Calibri" pitchFamily="34" charset="0"/>
                          <a:ea typeface="Calibri" pitchFamily="34" charset="-122"/>
                          <a:cs typeface="Calibri" pitchFamily="34" charset="-120"/>
                        </a:rPr>
                        <a:t>RECOMMENDED</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8752">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360dialog</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27AE60"/>
                          </a:solidFill>
                          <a:latin typeface="Calibri" pitchFamily="34" charset="0"/>
                          <a:ea typeface="Calibri" pitchFamily="34" charset="-122"/>
                          <a:cs typeface="Calibri" pitchFamily="34" charset="-120"/>
                        </a:rPr>
                        <a:t>None</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Very High</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Full</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27AE60"/>
                          </a:solidFill>
                          <a:latin typeface="Calibri" pitchFamily="34" charset="0"/>
                          <a:ea typeface="Calibri" pitchFamily="34" charset="-122"/>
                          <a:cs typeface="Calibri" pitchFamily="34" charset="-120"/>
                        </a:rPr>
                        <a:t>24/7 managed</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27AE60"/>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27AE60"/>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27AE60"/>
                          </a:solidFill>
                          <a:latin typeface="Calibri" pitchFamily="34" charset="0"/>
                          <a:ea typeface="Calibri" pitchFamily="34" charset="-122"/>
                          <a:cs typeface="Calibri" pitchFamily="34" charset="-120"/>
                        </a:rPr>
                        <a:t>Excellent</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8752">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WATI</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27AE60"/>
                          </a:solidFill>
                          <a:latin typeface="Calibri" pitchFamily="34" charset="0"/>
                          <a:ea typeface="Calibri" pitchFamily="34" charset="-122"/>
                          <a:cs typeface="Calibri" pitchFamily="34" charset="-120"/>
                        </a:rPr>
                        <a:t>None</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Full</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F59E0B"/>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27AE60"/>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27AE60"/>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028090"/>
                          </a:solidFill>
                          <a:latin typeface="Calibri" pitchFamily="34" charset="0"/>
                          <a:ea typeface="Calibri" pitchFamily="34" charset="-122"/>
                          <a:cs typeface="Calibri" pitchFamily="34" charset="-120"/>
                        </a:rPr>
                        <a:t>Good</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8752">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Twilio</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27AE60"/>
                          </a:solidFill>
                          <a:latin typeface="Calibri" pitchFamily="34" charset="0"/>
                          <a:ea typeface="Calibri" pitchFamily="34" charset="-122"/>
                          <a:cs typeface="Calibri" pitchFamily="34" charset="-120"/>
                        </a:rPr>
                        <a:t>None</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Very High</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Full</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27AE60"/>
                          </a:solidFill>
                          <a:latin typeface="Calibri" pitchFamily="34" charset="0"/>
                          <a:ea typeface="Calibri" pitchFamily="34" charset="-122"/>
                          <a:cs typeface="Calibri" pitchFamily="34" charset="-120"/>
                        </a:rPr>
                        <a:t>Enterprise SLA</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27AE60"/>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F59E0B"/>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27AE60"/>
                          </a:solidFill>
                          <a:latin typeface="Calibri" pitchFamily="34" charset="0"/>
                          <a:ea typeface="Calibri" pitchFamily="34" charset="-122"/>
                          <a:cs typeface="Calibri" pitchFamily="34" charset="-120"/>
                        </a:rPr>
                        <a:t>Excellent</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8752">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Evolution API</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C0392B"/>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C0392B"/>
                          </a:solidFill>
                          <a:latin typeface="Calibri" pitchFamily="34" charset="0"/>
                          <a:ea typeface="Calibri" pitchFamily="34" charset="-122"/>
                          <a:cs typeface="Calibri" pitchFamily="34" charset="-120"/>
                        </a:rPr>
                        <a:t>Risky</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C0392B"/>
                          </a:solidFill>
                          <a:latin typeface="Calibri" pitchFamily="34" charset="0"/>
                          <a:ea typeface="Calibri" pitchFamily="34" charset="-122"/>
                          <a:cs typeface="Calibri" pitchFamily="34" charset="-120"/>
                        </a:rPr>
                        <a:t>Community</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C0392B"/>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C0392B"/>
                          </a:solidFill>
                          <a:latin typeface="Calibri" pitchFamily="34" charset="0"/>
                          <a:ea typeface="Calibri" pitchFamily="34" charset="-122"/>
                          <a:cs typeface="Calibri" pitchFamily="34" charset="-120"/>
                        </a:rPr>
                        <a:t>Hard</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C0392B"/>
                          </a:solidFill>
                          <a:latin typeface="Calibri" pitchFamily="34" charset="0"/>
                          <a:ea typeface="Calibri" pitchFamily="34" charset="-122"/>
                          <a:cs typeface="Calibri" pitchFamily="34" charset="-120"/>
                        </a:rPr>
                        <a:t>DO NOT USE</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8752">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WhatsMeow/WuzAPI</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E67E22"/>
                          </a:solidFill>
                          <a:latin typeface="Calibri" pitchFamily="34" charset="0"/>
                          <a:ea typeface="Calibri" pitchFamily="34" charset="-122"/>
                          <a:cs typeface="Calibri" pitchFamily="34" charset="-120"/>
                        </a:rPr>
                        <a:t>Med-High</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F59E0B"/>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C0392B"/>
                          </a:solidFill>
                          <a:latin typeface="Calibri" pitchFamily="34" charset="0"/>
                          <a:ea typeface="Calibri" pitchFamily="34" charset="-122"/>
                          <a:cs typeface="Calibri" pitchFamily="34" charset="-120"/>
                        </a:rPr>
                        <a:t>Risky</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C0392B"/>
                          </a:solidFill>
                          <a:latin typeface="Calibri" pitchFamily="34" charset="0"/>
                          <a:ea typeface="Calibri" pitchFamily="34" charset="-122"/>
                          <a:cs typeface="Calibri" pitchFamily="34" charset="-120"/>
                        </a:rPr>
                        <a:t>Community</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F59E0B"/>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F59E0B"/>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C0392B"/>
                          </a:solidFill>
                          <a:latin typeface="Calibri" pitchFamily="34" charset="0"/>
                          <a:ea typeface="Calibri" pitchFamily="34" charset="-122"/>
                          <a:cs typeface="Calibri" pitchFamily="34" charset="-120"/>
                        </a:rPr>
                        <a:t>DO NOT USE</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8752">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Baileys</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C0392B"/>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B2C"/>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C0392B"/>
                          </a:solidFill>
                          <a:latin typeface="Calibri" pitchFamily="34" charset="0"/>
                          <a:ea typeface="Calibri" pitchFamily="34" charset="-122"/>
                          <a:cs typeface="Calibri" pitchFamily="34" charset="-120"/>
                        </a:rPr>
                        <a:t>Risky</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C0392B"/>
                          </a:solidFill>
                          <a:latin typeface="Calibri" pitchFamily="34" charset="0"/>
                          <a:ea typeface="Calibri" pitchFamily="34" charset="-122"/>
                          <a:cs typeface="Calibri" pitchFamily="34" charset="-120"/>
                        </a:rPr>
                        <a:t>Community</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C0392B"/>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C0392B"/>
                          </a:solidFill>
                          <a:latin typeface="Calibri" pitchFamily="34" charset="0"/>
                          <a:ea typeface="Calibri" pitchFamily="34" charset="-122"/>
                          <a:cs typeface="Calibri" pitchFamily="34" charset="-120"/>
                        </a:rPr>
                        <a:t>Very Hard</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C0392B"/>
                          </a:solidFill>
                          <a:latin typeface="Calibri" pitchFamily="34" charset="0"/>
                          <a:ea typeface="Calibri" pitchFamily="34" charset="-122"/>
                          <a:cs typeface="Calibri" pitchFamily="34" charset="-120"/>
                        </a:rPr>
                        <a:t>DO NOT USE</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AFB"/>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21C1E"/>
          </a:solidFill>
          <a:ln w="12700">
            <a:solidFill>
              <a:srgbClr val="021C1E"/>
            </a:solidFill>
            <a:prstDash val="solid"/>
          </a:ln>
        </p:spPr>
      </p:sp>
      <p:sp>
        <p:nvSpPr>
          <p:cNvPr id="3" name="Text 1"/>
          <p:cNvSpPr/>
          <p:nvPr/>
        </p:nvSpPr>
        <p:spPr>
          <a:xfrm>
            <a:off x="457200" y="164592"/>
            <a:ext cx="8229600" cy="438912"/>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Business Analysis — Healthcare Context</a:t>
            </a:r>
            <a:endParaRPr lang="en-US" sz="2200" dirty="0"/>
          </a:p>
        </p:txBody>
      </p:sp>
      <p:sp>
        <p:nvSpPr>
          <p:cNvPr id="4" name="Shape 2"/>
          <p:cNvSpPr/>
          <p:nvPr/>
        </p:nvSpPr>
        <p:spPr>
          <a:xfrm>
            <a:off x="182880" y="932688"/>
            <a:ext cx="2852928" cy="4005072"/>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7000"/>
              </a:srgbClr>
            </a:outerShdw>
          </a:effectLst>
        </p:spPr>
      </p:sp>
      <p:sp>
        <p:nvSpPr>
          <p:cNvPr id="5" name="Shape 3"/>
          <p:cNvSpPr/>
          <p:nvPr/>
        </p:nvSpPr>
        <p:spPr>
          <a:xfrm>
            <a:off x="182880" y="932688"/>
            <a:ext cx="2852928" cy="109728"/>
          </a:xfrm>
          <a:prstGeom prst="rect">
            <a:avLst/>
          </a:prstGeom>
          <a:solidFill>
            <a:srgbClr val="C0392B"/>
          </a:solidFill>
          <a:ln w="12700">
            <a:solidFill>
              <a:srgbClr val="C0392B"/>
            </a:solidFill>
            <a:prstDash val="solid"/>
          </a:ln>
        </p:spPr>
      </p:sp>
      <p:sp>
        <p:nvSpPr>
          <p:cNvPr id="6" name="Text 4"/>
          <p:cNvSpPr/>
          <p:nvPr/>
        </p:nvSpPr>
        <p:spPr>
          <a:xfrm>
            <a:off x="274320" y="1078992"/>
            <a:ext cx="2651760" cy="438912"/>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Reliability Is Non-Negotiable</a:t>
            </a:r>
            <a:endParaRPr lang="en-US" sz="1200" dirty="0"/>
          </a:p>
        </p:txBody>
      </p:sp>
      <p:sp>
        <p:nvSpPr>
          <p:cNvPr id="7" name="Text 5"/>
          <p:cNvSpPr/>
          <p:nvPr/>
        </p:nvSpPr>
        <p:spPr>
          <a:xfrm>
            <a:off x="274320" y="1572768"/>
            <a:ext cx="2670048" cy="3291840"/>
          </a:xfrm>
          <a:prstGeom prst="rect">
            <a:avLst/>
          </a:prstGeom>
          <a:noFill/>
          <a:ln/>
        </p:spPr>
        <p:txBody>
          <a:bodyPr wrap="square" lIns="0" tIns="0" rIns="0" bIns="0" rtlCol="0" anchor="ctr"/>
          <a:lstStyle/>
          <a:p>
            <a:pPr marL="342900" indent="-342900">
              <a:buSzPct val="100000"/>
              <a:buChar char="•"/>
            </a:pPr>
            <a:r>
              <a:rPr lang="en-US" sz="1050" dirty="0">
                <a:solidFill>
                  <a:srgbClr val="1A2B2C"/>
                </a:solidFill>
                <a:latin typeface="Calibri" pitchFamily="34" charset="0"/>
                <a:ea typeface="Calibri" pitchFamily="34" charset="-122"/>
                <a:cs typeface="Calibri" pitchFamily="34" charset="-120"/>
              </a:rPr>
              <a:t>Lab results are time-sensitive — delivery failure directly impacts patient care and lab reputation</a:t>
            </a:r>
            <a:endParaRPr lang="en-US" sz="1050" dirty="0"/>
          </a:p>
          <a:p>
            <a:pPr marL="342900" indent="-342900">
              <a:buSzPct val="100000"/>
              <a:buChar char="•"/>
            </a:pPr>
            <a:r>
              <a:rPr lang="en-US" sz="1050" dirty="0">
                <a:solidFill>
                  <a:srgbClr val="1A2B2C"/>
                </a:solidFill>
                <a:latin typeface="Calibri" pitchFamily="34" charset="0"/>
                <a:ea typeface="Calibri" pitchFamily="34" charset="-122"/>
                <a:cs typeface="Calibri" pitchFamily="34" charset="-120"/>
              </a:rPr>
              <a:t>A WhatsApp account ban = immediate 100% message failure with zero fallback and zero notice</a:t>
            </a:r>
            <a:endParaRPr lang="en-US" sz="1050" dirty="0"/>
          </a:p>
          <a:p>
            <a:pPr marL="342900" indent="-342900">
              <a:buSzPct val="100000"/>
              <a:buChar char="•"/>
            </a:pPr>
            <a:r>
              <a:rPr lang="en-US" sz="1050" dirty="0">
                <a:solidFill>
                  <a:srgbClr val="1A2B2C"/>
                </a:solidFill>
                <a:latin typeface="Calibri" pitchFamily="34" charset="0"/>
                <a:ea typeface="Calibri" pitchFamily="34" charset="-122"/>
                <a:cs typeface="Calibri" pitchFamily="34" charset="-120"/>
              </a:rPr>
              <a:t>Unofficial APIs have no SLA, no support channel, and no contractual uptime guarantee</a:t>
            </a:r>
            <a:endParaRPr lang="en-US" sz="1050" dirty="0"/>
          </a:p>
          <a:p>
            <a:pPr marL="342900" indent="-342900">
              <a:buSzPct val="100000"/>
              <a:buChar char="•"/>
            </a:pPr>
            <a:r>
              <a:rPr lang="en-US" sz="1050" dirty="0">
                <a:solidFill>
                  <a:srgbClr val="1A2B2C"/>
                </a:solidFill>
                <a:latin typeface="Calibri" pitchFamily="34" charset="0"/>
                <a:ea typeface="Calibri" pitchFamily="34" charset="-122"/>
                <a:cs typeface="Calibri" pitchFamily="34" charset="-120"/>
              </a:rPr>
              <a:t>Official providers: Meta Cloud API hosted on Meta's global infrastructure with 99.9%+ uptime</a:t>
            </a:r>
            <a:endParaRPr lang="en-US" sz="1050" dirty="0"/>
          </a:p>
        </p:txBody>
      </p:sp>
      <p:sp>
        <p:nvSpPr>
          <p:cNvPr id="8" name="Shape 6"/>
          <p:cNvSpPr/>
          <p:nvPr/>
        </p:nvSpPr>
        <p:spPr>
          <a:xfrm>
            <a:off x="3182112" y="932688"/>
            <a:ext cx="2852928" cy="4005072"/>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7000"/>
              </a:srgbClr>
            </a:outerShdw>
          </a:effectLst>
        </p:spPr>
      </p:sp>
      <p:sp>
        <p:nvSpPr>
          <p:cNvPr id="9" name="Shape 7"/>
          <p:cNvSpPr/>
          <p:nvPr/>
        </p:nvSpPr>
        <p:spPr>
          <a:xfrm>
            <a:off x="3182112" y="932688"/>
            <a:ext cx="2852928" cy="109728"/>
          </a:xfrm>
          <a:prstGeom prst="rect">
            <a:avLst/>
          </a:prstGeom>
          <a:solidFill>
            <a:srgbClr val="E67E22"/>
          </a:solidFill>
          <a:ln w="12700">
            <a:solidFill>
              <a:srgbClr val="E67E22"/>
            </a:solidFill>
            <a:prstDash val="solid"/>
          </a:ln>
        </p:spPr>
      </p:sp>
      <p:sp>
        <p:nvSpPr>
          <p:cNvPr id="10" name="Text 8"/>
          <p:cNvSpPr/>
          <p:nvPr/>
        </p:nvSpPr>
        <p:spPr>
          <a:xfrm>
            <a:off x="3273552" y="1078992"/>
            <a:ext cx="2651760" cy="438912"/>
          </a:xfrm>
          <a:prstGeom prst="rect">
            <a:avLst/>
          </a:prstGeom>
          <a:noFill/>
          <a:ln/>
        </p:spPr>
        <p:txBody>
          <a:bodyPr wrap="square" lIns="0" tIns="0" rIns="0" bIns="0" rtlCol="0" anchor="ctr"/>
          <a:lstStyle/>
          <a:p>
            <a:pPr indent="0" marL="0">
              <a:buNone/>
            </a:pPr>
            <a:r>
              <a:rPr lang="en-US" sz="1200" b="1" dirty="0">
                <a:solidFill>
                  <a:srgbClr val="E67E22"/>
                </a:solidFill>
                <a:latin typeface="Calibri" pitchFamily="34" charset="0"/>
                <a:ea typeface="Calibri" pitchFamily="34" charset="-122"/>
                <a:cs typeface="Calibri" pitchFamily="34" charset="-120"/>
              </a:rPr>
              <a:t>Compliance &amp; Reputation</a:t>
            </a:r>
            <a:endParaRPr lang="en-US" sz="1200" dirty="0"/>
          </a:p>
        </p:txBody>
      </p:sp>
      <p:sp>
        <p:nvSpPr>
          <p:cNvPr id="11" name="Text 9"/>
          <p:cNvSpPr/>
          <p:nvPr/>
        </p:nvSpPr>
        <p:spPr>
          <a:xfrm>
            <a:off x="3273552" y="1572768"/>
            <a:ext cx="2670048" cy="3291840"/>
          </a:xfrm>
          <a:prstGeom prst="rect">
            <a:avLst/>
          </a:prstGeom>
          <a:noFill/>
          <a:ln/>
        </p:spPr>
        <p:txBody>
          <a:bodyPr wrap="square" lIns="0" tIns="0" rIns="0" bIns="0" rtlCol="0" anchor="ctr"/>
          <a:lstStyle/>
          <a:p>
            <a:pPr marL="342900" indent="-342900">
              <a:buSzPct val="100000"/>
              <a:buChar char="•"/>
            </a:pPr>
            <a:r>
              <a:rPr lang="en-US" sz="1050" dirty="0">
                <a:solidFill>
                  <a:srgbClr val="1A2B2C"/>
                </a:solidFill>
                <a:latin typeface="Calibri" pitchFamily="34" charset="0"/>
                <a:ea typeface="Calibri" pitchFamily="34" charset="-122"/>
                <a:cs typeface="Calibri" pitchFamily="34" charset="-120"/>
              </a:rPr>
              <a:t>Medical data via unofficial channels violates data handling best practices</a:t>
            </a:r>
            <a:endParaRPr lang="en-US" sz="1050" dirty="0"/>
          </a:p>
          <a:p>
            <a:pPr marL="342900" indent="-342900">
              <a:buSzPct val="100000"/>
              <a:buChar char="•"/>
            </a:pPr>
            <a:r>
              <a:rPr lang="en-US" sz="1050" dirty="0">
                <a:solidFill>
                  <a:srgbClr val="1A2B2C"/>
                </a:solidFill>
                <a:latin typeface="Calibri" pitchFamily="34" charset="0"/>
                <a:ea typeface="Calibri" pitchFamily="34" charset="-122"/>
                <a:cs typeface="Calibri" pitchFamily="34" charset="-120"/>
              </a:rPr>
              <a:t>Egypt's data protection regulations increasingly scrutinize health data flows</a:t>
            </a:r>
            <a:endParaRPr lang="en-US" sz="1050" dirty="0"/>
          </a:p>
          <a:p>
            <a:pPr marL="342900" indent="-342900">
              <a:buSzPct val="100000"/>
              <a:buChar char="•"/>
            </a:pPr>
            <a:r>
              <a:rPr lang="en-US" sz="1050" dirty="0">
                <a:solidFill>
                  <a:srgbClr val="1A2B2C"/>
                </a:solidFill>
                <a:latin typeface="Calibri" pitchFamily="34" charset="0"/>
                <a:ea typeface="Calibri" pitchFamily="34" charset="-122"/>
                <a:cs typeface="Calibri" pitchFamily="34" charset="-120"/>
              </a:rPr>
              <a:t>An unofficial API ban becomes a public incident — 'lab results not delivered'</a:t>
            </a:r>
            <a:endParaRPr lang="en-US" sz="1050" dirty="0"/>
          </a:p>
          <a:p>
            <a:pPr marL="342900" indent="-342900">
              <a:buSzPct val="100000"/>
              <a:buChar char="•"/>
            </a:pPr>
            <a:r>
              <a:rPr lang="en-US" sz="1050" dirty="0">
                <a:solidFill>
                  <a:srgbClr val="1A2B2C"/>
                </a:solidFill>
                <a:latin typeface="Calibri" pitchFamily="34" charset="0"/>
                <a:ea typeface="Calibri" pitchFamily="34" charset="-122"/>
                <a:cs typeface="Calibri" pitchFamily="34" charset="-120"/>
              </a:rPr>
              <a:t>Official WhatsApp API is Meta-approved and compatible with data privacy frameworks</a:t>
            </a:r>
            <a:endParaRPr lang="en-US" sz="1050" dirty="0"/>
          </a:p>
        </p:txBody>
      </p:sp>
      <p:sp>
        <p:nvSpPr>
          <p:cNvPr id="12" name="Shape 10"/>
          <p:cNvSpPr/>
          <p:nvPr/>
        </p:nvSpPr>
        <p:spPr>
          <a:xfrm>
            <a:off x="6181344" y="932688"/>
            <a:ext cx="2852928" cy="4005072"/>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7000"/>
              </a:srgbClr>
            </a:outerShdw>
          </a:effectLst>
        </p:spPr>
      </p:sp>
      <p:sp>
        <p:nvSpPr>
          <p:cNvPr id="13" name="Shape 11"/>
          <p:cNvSpPr/>
          <p:nvPr/>
        </p:nvSpPr>
        <p:spPr>
          <a:xfrm>
            <a:off x="6181344" y="932688"/>
            <a:ext cx="2852928" cy="109728"/>
          </a:xfrm>
          <a:prstGeom prst="rect">
            <a:avLst/>
          </a:prstGeom>
          <a:solidFill>
            <a:srgbClr val="028090"/>
          </a:solidFill>
          <a:ln w="12700">
            <a:solidFill>
              <a:srgbClr val="028090"/>
            </a:solidFill>
            <a:prstDash val="solid"/>
          </a:ln>
        </p:spPr>
      </p:sp>
      <p:sp>
        <p:nvSpPr>
          <p:cNvPr id="14" name="Text 12"/>
          <p:cNvSpPr/>
          <p:nvPr/>
        </p:nvSpPr>
        <p:spPr>
          <a:xfrm>
            <a:off x="6272784" y="1078992"/>
            <a:ext cx="2651760" cy="438912"/>
          </a:xfrm>
          <a:prstGeom prst="rect">
            <a:avLst/>
          </a:prstGeom>
          <a:noFill/>
          <a:ln/>
        </p:spPr>
        <p:txBody>
          <a:bodyPr wrap="square" lIns="0" tIns="0" rIns="0" bIns="0" rtlCol="0" anchor="ctr"/>
          <a:lstStyle/>
          <a:p>
            <a:pPr indent="0" marL="0">
              <a:buNone/>
            </a:pPr>
            <a:r>
              <a:rPr lang="en-US" sz="1200" b="1" dirty="0">
                <a:solidFill>
                  <a:srgbClr val="028090"/>
                </a:solidFill>
                <a:latin typeface="Calibri" pitchFamily="34" charset="0"/>
                <a:ea typeface="Calibri" pitchFamily="34" charset="-122"/>
                <a:cs typeface="Calibri" pitchFamily="34" charset="-120"/>
              </a:rPr>
              <a:t>Scalability &amp; Operations</a:t>
            </a:r>
            <a:endParaRPr lang="en-US" sz="1200" dirty="0"/>
          </a:p>
        </p:txBody>
      </p:sp>
      <p:sp>
        <p:nvSpPr>
          <p:cNvPr id="15" name="Text 13"/>
          <p:cNvSpPr/>
          <p:nvPr/>
        </p:nvSpPr>
        <p:spPr>
          <a:xfrm>
            <a:off x="6272784" y="1572768"/>
            <a:ext cx="2670048" cy="3291840"/>
          </a:xfrm>
          <a:prstGeom prst="rect">
            <a:avLst/>
          </a:prstGeom>
          <a:noFill/>
          <a:ln/>
        </p:spPr>
        <p:txBody>
          <a:bodyPr wrap="square" lIns="0" tIns="0" rIns="0" bIns="0" rtlCol="0" anchor="ctr"/>
          <a:lstStyle/>
          <a:p>
            <a:pPr marL="342900" indent="-342900">
              <a:buSzPct val="100000"/>
              <a:buChar char="•"/>
            </a:pPr>
            <a:r>
              <a:rPr lang="en-US" sz="1050" dirty="0">
                <a:solidFill>
                  <a:srgbClr val="1A2B2C"/>
                </a:solidFill>
                <a:latin typeface="Calibri" pitchFamily="34" charset="0"/>
                <a:ea typeface="Calibri" pitchFamily="34" charset="-122"/>
                <a:cs typeface="Calibri" pitchFamily="34" charset="-120"/>
              </a:rPr>
              <a:t>Official APIs scale linearly — no re-engineering needed going from 500 to 5,000 msg/day</a:t>
            </a:r>
            <a:endParaRPr lang="en-US" sz="1050" dirty="0"/>
          </a:p>
          <a:p>
            <a:pPr marL="342900" indent="-342900">
              <a:buSzPct val="100000"/>
              <a:buChar char="•"/>
            </a:pPr>
            <a:r>
              <a:rPr lang="en-US" sz="1050" dirty="0">
                <a:solidFill>
                  <a:srgbClr val="1A2B2C"/>
                </a:solidFill>
                <a:latin typeface="Calibri" pitchFamily="34" charset="0"/>
                <a:ea typeface="Calibri" pitchFamily="34" charset="-122"/>
                <a:cs typeface="Calibri" pitchFamily="34" charset="-120"/>
              </a:rPr>
              <a:t>Self-hosted requires session management, reconnection logic, and active monitoring overhead</a:t>
            </a:r>
            <a:endParaRPr lang="en-US" sz="1050" dirty="0"/>
          </a:p>
          <a:p>
            <a:pPr marL="342900" indent="-342900">
              <a:buSzPct val="100000"/>
              <a:buChar char="•"/>
            </a:pPr>
            <a:r>
              <a:rPr lang="en-US" sz="1050" dirty="0">
                <a:solidFill>
                  <a:srgbClr val="1A2B2C"/>
                </a:solidFill>
                <a:latin typeface="Calibri" pitchFamily="34" charset="0"/>
                <a:ea typeface="Calibri" pitchFamily="34" charset="-122"/>
                <a:cs typeface="Calibri" pitchFamily="34" charset="-120"/>
              </a:rPr>
              <a:t>Multi-lab setup: official API handles multiple senders via separate WABA numbers cleanly</a:t>
            </a:r>
            <a:endParaRPr lang="en-US" sz="1050" dirty="0"/>
          </a:p>
          <a:p>
            <a:pPr marL="342900" indent="-342900">
              <a:buSzPct val="100000"/>
              <a:buChar char="•"/>
            </a:pPr>
            <a:r>
              <a:rPr lang="en-US" sz="1050" dirty="0">
                <a:solidFill>
                  <a:srgbClr val="1A2B2C"/>
                </a:solidFill>
                <a:latin typeface="Calibri" pitchFamily="34" charset="0"/>
                <a:ea typeface="Calibri" pitchFamily="34" charset="-122"/>
                <a:cs typeface="Calibri" pitchFamily="34" charset="-120"/>
              </a:rPr>
              <a:t>Meta Cloud API webhooks integrate cleanly with any Node/Python/Go backend stack</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8229600" cy="438912"/>
          </a:xfrm>
          <a:prstGeom prst="rect">
            <a:avLst/>
          </a:prstGeom>
          <a:noFill/>
          <a:ln/>
        </p:spPr>
        <p:txBody>
          <a:bodyPr wrap="square" lIns="0" tIns="0" rIns="0" bIns="0" rtlCol="0" anchor="ctr"/>
          <a:lstStyle/>
          <a:p>
            <a:pPr indent="0" marL="0">
              <a:buNone/>
            </a:pPr>
            <a:r>
              <a:rPr lang="en-US" sz="2600" b="1" dirty="0">
                <a:solidFill>
                  <a:srgbClr val="028090"/>
                </a:solidFill>
                <a:latin typeface="Calibri" pitchFamily="34" charset="0"/>
                <a:ea typeface="Calibri" pitchFamily="34" charset="-122"/>
                <a:cs typeface="Calibri" pitchFamily="34" charset="-120"/>
              </a:rPr>
              <a:t>Proof of Concept — Week 1 Demo</a:t>
            </a:r>
            <a:endParaRPr lang="en-US" sz="2600" dirty="0"/>
          </a:p>
        </p:txBody>
      </p:sp>
      <p:sp>
        <p:nvSpPr>
          <p:cNvPr id="3" name="Text 1"/>
          <p:cNvSpPr/>
          <p:nvPr/>
        </p:nvSpPr>
        <p:spPr>
          <a:xfrm>
            <a:off x="457200" y="566928"/>
            <a:ext cx="8229600" cy="256032"/>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Live in under a week · Free · No business documents needed · Just a Facebook account + phone number</a:t>
            </a:r>
            <a:endParaRPr lang="en-US" sz="1100" dirty="0"/>
          </a:p>
        </p:txBody>
      </p:sp>
      <p:sp>
        <p:nvSpPr>
          <p:cNvPr id="4" name="Shape 2"/>
          <p:cNvSpPr/>
          <p:nvPr/>
        </p:nvSpPr>
        <p:spPr>
          <a:xfrm>
            <a:off x="274320" y="987552"/>
            <a:ext cx="502920" cy="502920"/>
          </a:xfrm>
          <a:prstGeom prst="rect">
            <a:avLst/>
          </a:prstGeom>
          <a:solidFill>
            <a:srgbClr val="028090"/>
          </a:solidFill>
          <a:ln w="12700">
            <a:solidFill>
              <a:srgbClr val="028090"/>
            </a:solidFill>
            <a:prstDash val="solid"/>
          </a:ln>
        </p:spPr>
      </p:sp>
      <p:sp>
        <p:nvSpPr>
          <p:cNvPr id="5" name="Text 3"/>
          <p:cNvSpPr/>
          <p:nvPr/>
        </p:nvSpPr>
        <p:spPr>
          <a:xfrm>
            <a:off x="274320" y="987552"/>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6" name="Text 4"/>
          <p:cNvSpPr/>
          <p:nvPr/>
        </p:nvSpPr>
        <p:spPr>
          <a:xfrm>
            <a:off x="859536" y="996696"/>
            <a:ext cx="4069080" cy="219456"/>
          </a:xfrm>
          <a:prstGeom prst="rect">
            <a:avLst/>
          </a:prstGeom>
          <a:noFill/>
          <a:ln/>
        </p:spPr>
        <p:txBody>
          <a:bodyPr wrap="square" lIns="0" tIns="0" rIns="0" bIns="0" rtlCol="0" anchor="ctr"/>
          <a:lstStyle/>
          <a:p>
            <a:pPr indent="0" marL="0">
              <a:buNone/>
            </a:pPr>
            <a:r>
              <a:rPr lang="en-US" sz="1100" b="1" dirty="0">
                <a:solidFill>
                  <a:srgbClr val="1A2B2C"/>
                </a:solidFill>
                <a:latin typeface="Calibri" pitchFamily="34" charset="0"/>
                <a:ea typeface="Calibri" pitchFamily="34" charset="-122"/>
                <a:cs typeface="Calibri" pitchFamily="34" charset="-120"/>
              </a:rPr>
              <a:t>Create Meta Developer Account</a:t>
            </a:r>
            <a:endParaRPr lang="en-US" sz="1100" dirty="0"/>
          </a:p>
        </p:txBody>
      </p:sp>
      <p:sp>
        <p:nvSpPr>
          <p:cNvPr id="7" name="Text 5"/>
          <p:cNvSpPr/>
          <p:nvPr/>
        </p:nvSpPr>
        <p:spPr>
          <a:xfrm>
            <a:off x="859536" y="1225296"/>
            <a:ext cx="4069080" cy="329184"/>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Go to developers.facebook.com → Get Started → Log in with any Facebook account</a:t>
            </a:r>
            <a:endParaRPr lang="en-US" sz="950" dirty="0"/>
          </a:p>
        </p:txBody>
      </p:sp>
      <p:sp>
        <p:nvSpPr>
          <p:cNvPr id="8" name="Shape 6"/>
          <p:cNvSpPr/>
          <p:nvPr/>
        </p:nvSpPr>
        <p:spPr>
          <a:xfrm>
            <a:off x="274320" y="1664208"/>
            <a:ext cx="502920" cy="502920"/>
          </a:xfrm>
          <a:prstGeom prst="rect">
            <a:avLst/>
          </a:prstGeom>
          <a:solidFill>
            <a:srgbClr val="028090"/>
          </a:solidFill>
          <a:ln w="12700">
            <a:solidFill>
              <a:srgbClr val="028090"/>
            </a:solidFill>
            <a:prstDash val="solid"/>
          </a:ln>
        </p:spPr>
      </p:sp>
      <p:sp>
        <p:nvSpPr>
          <p:cNvPr id="9" name="Text 7"/>
          <p:cNvSpPr/>
          <p:nvPr/>
        </p:nvSpPr>
        <p:spPr>
          <a:xfrm>
            <a:off x="274320" y="166420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0" name="Text 8"/>
          <p:cNvSpPr/>
          <p:nvPr/>
        </p:nvSpPr>
        <p:spPr>
          <a:xfrm>
            <a:off x="859536" y="1673352"/>
            <a:ext cx="4069080" cy="219456"/>
          </a:xfrm>
          <a:prstGeom prst="rect">
            <a:avLst/>
          </a:prstGeom>
          <a:noFill/>
          <a:ln/>
        </p:spPr>
        <p:txBody>
          <a:bodyPr wrap="square" lIns="0" tIns="0" rIns="0" bIns="0" rtlCol="0" anchor="ctr"/>
          <a:lstStyle/>
          <a:p>
            <a:pPr indent="0" marL="0">
              <a:buNone/>
            </a:pPr>
            <a:r>
              <a:rPr lang="en-US" sz="1100" b="1" dirty="0">
                <a:solidFill>
                  <a:srgbClr val="1A2B2C"/>
                </a:solidFill>
                <a:latin typeface="Calibri" pitchFamily="34" charset="0"/>
                <a:ea typeface="Calibri" pitchFamily="34" charset="-122"/>
                <a:cs typeface="Calibri" pitchFamily="34" charset="-120"/>
              </a:rPr>
              <a:t>Create App → Select 'Business'</a:t>
            </a:r>
            <a:endParaRPr lang="en-US" sz="1100" dirty="0"/>
          </a:p>
        </p:txBody>
      </p:sp>
      <p:sp>
        <p:nvSpPr>
          <p:cNvPr id="11" name="Text 9"/>
          <p:cNvSpPr/>
          <p:nvPr/>
        </p:nvSpPr>
        <p:spPr>
          <a:xfrm>
            <a:off x="859536" y="1901952"/>
            <a:ext cx="4069080" cy="329184"/>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App Dashboard → Create App → Business type → Add WhatsApp product → click Set Up</a:t>
            </a:r>
            <a:endParaRPr lang="en-US" sz="950" dirty="0"/>
          </a:p>
        </p:txBody>
      </p:sp>
      <p:sp>
        <p:nvSpPr>
          <p:cNvPr id="12" name="Shape 10"/>
          <p:cNvSpPr/>
          <p:nvPr/>
        </p:nvSpPr>
        <p:spPr>
          <a:xfrm>
            <a:off x="274320" y="2340864"/>
            <a:ext cx="502920" cy="502920"/>
          </a:xfrm>
          <a:prstGeom prst="rect">
            <a:avLst/>
          </a:prstGeom>
          <a:solidFill>
            <a:srgbClr val="028090"/>
          </a:solidFill>
          <a:ln w="12700">
            <a:solidFill>
              <a:srgbClr val="028090"/>
            </a:solidFill>
            <a:prstDash val="solid"/>
          </a:ln>
        </p:spPr>
      </p:sp>
      <p:sp>
        <p:nvSpPr>
          <p:cNvPr id="13" name="Text 11"/>
          <p:cNvSpPr/>
          <p:nvPr/>
        </p:nvSpPr>
        <p:spPr>
          <a:xfrm>
            <a:off x="274320" y="2340864"/>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4" name="Text 12"/>
          <p:cNvSpPr/>
          <p:nvPr/>
        </p:nvSpPr>
        <p:spPr>
          <a:xfrm>
            <a:off x="859536" y="2350008"/>
            <a:ext cx="4069080" cy="219456"/>
          </a:xfrm>
          <a:prstGeom prst="rect">
            <a:avLst/>
          </a:prstGeom>
          <a:noFill/>
          <a:ln/>
        </p:spPr>
        <p:txBody>
          <a:bodyPr wrap="square" lIns="0" tIns="0" rIns="0" bIns="0" rtlCol="0" anchor="ctr"/>
          <a:lstStyle/>
          <a:p>
            <a:pPr indent="0" marL="0">
              <a:buNone/>
            </a:pPr>
            <a:r>
              <a:rPr lang="en-US" sz="1100" b="1" dirty="0">
                <a:solidFill>
                  <a:srgbClr val="1A2B2C"/>
                </a:solidFill>
                <a:latin typeface="Calibri" pitchFamily="34" charset="0"/>
                <a:ea typeface="Calibri" pitchFamily="34" charset="-122"/>
                <a:cs typeface="Calibri" pitchFamily="34" charset="-120"/>
              </a:rPr>
              <a:t>Access Free Sandbox</a:t>
            </a:r>
            <a:endParaRPr lang="en-US" sz="1100" dirty="0"/>
          </a:p>
        </p:txBody>
      </p:sp>
      <p:sp>
        <p:nvSpPr>
          <p:cNvPr id="15" name="Text 13"/>
          <p:cNvSpPr/>
          <p:nvPr/>
        </p:nvSpPr>
        <p:spPr>
          <a:xfrm>
            <a:off x="859536" y="2578608"/>
            <a:ext cx="4069080" cy="329184"/>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WhatsApp → Getting Started → Meta provides a free test number automatically. No real SIM needed.</a:t>
            </a:r>
            <a:endParaRPr lang="en-US" sz="950" dirty="0"/>
          </a:p>
        </p:txBody>
      </p:sp>
      <p:sp>
        <p:nvSpPr>
          <p:cNvPr id="16" name="Shape 14"/>
          <p:cNvSpPr/>
          <p:nvPr/>
        </p:nvSpPr>
        <p:spPr>
          <a:xfrm>
            <a:off x="274320" y="3017520"/>
            <a:ext cx="502920" cy="502920"/>
          </a:xfrm>
          <a:prstGeom prst="rect">
            <a:avLst/>
          </a:prstGeom>
          <a:solidFill>
            <a:srgbClr val="028090"/>
          </a:solidFill>
          <a:ln w="12700">
            <a:solidFill>
              <a:srgbClr val="028090"/>
            </a:solidFill>
            <a:prstDash val="solid"/>
          </a:ln>
        </p:spPr>
      </p:sp>
      <p:sp>
        <p:nvSpPr>
          <p:cNvPr id="17" name="Text 15"/>
          <p:cNvSpPr/>
          <p:nvPr/>
        </p:nvSpPr>
        <p:spPr>
          <a:xfrm>
            <a:off x="274320" y="301752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18" name="Text 16"/>
          <p:cNvSpPr/>
          <p:nvPr/>
        </p:nvSpPr>
        <p:spPr>
          <a:xfrm>
            <a:off x="859536" y="3026664"/>
            <a:ext cx="4069080" cy="219456"/>
          </a:xfrm>
          <a:prstGeom prst="rect">
            <a:avLst/>
          </a:prstGeom>
          <a:noFill/>
          <a:ln/>
        </p:spPr>
        <p:txBody>
          <a:bodyPr wrap="square" lIns="0" tIns="0" rIns="0" bIns="0" rtlCol="0" anchor="ctr"/>
          <a:lstStyle/>
          <a:p>
            <a:pPr indent="0" marL="0">
              <a:buNone/>
            </a:pPr>
            <a:r>
              <a:rPr lang="en-US" sz="1100" b="1" dirty="0">
                <a:solidFill>
                  <a:srgbClr val="1A2B2C"/>
                </a:solidFill>
                <a:latin typeface="Calibri" pitchFamily="34" charset="0"/>
                <a:ea typeface="Calibri" pitchFamily="34" charset="-122"/>
                <a:cs typeface="Calibri" pitchFamily="34" charset="-120"/>
              </a:rPr>
              <a:t>Copy Temp Token</a:t>
            </a:r>
            <a:endParaRPr lang="en-US" sz="1100" dirty="0"/>
          </a:p>
        </p:txBody>
      </p:sp>
      <p:sp>
        <p:nvSpPr>
          <p:cNvPr id="19" name="Text 17"/>
          <p:cNvSpPr/>
          <p:nvPr/>
        </p:nvSpPr>
        <p:spPr>
          <a:xfrm>
            <a:off x="859536" y="3255264"/>
            <a:ext cx="4069080" cy="329184"/>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Copy the 24-hour access token shown on the page. This is your Bearer token for API calls.</a:t>
            </a:r>
            <a:endParaRPr lang="en-US" sz="950" dirty="0"/>
          </a:p>
        </p:txBody>
      </p:sp>
      <p:sp>
        <p:nvSpPr>
          <p:cNvPr id="20" name="Shape 18"/>
          <p:cNvSpPr/>
          <p:nvPr/>
        </p:nvSpPr>
        <p:spPr>
          <a:xfrm>
            <a:off x="274320" y="3694176"/>
            <a:ext cx="502920" cy="502920"/>
          </a:xfrm>
          <a:prstGeom prst="rect">
            <a:avLst/>
          </a:prstGeom>
          <a:solidFill>
            <a:srgbClr val="028090"/>
          </a:solidFill>
          <a:ln w="12700">
            <a:solidFill>
              <a:srgbClr val="028090"/>
            </a:solidFill>
            <a:prstDash val="solid"/>
          </a:ln>
        </p:spPr>
      </p:sp>
      <p:sp>
        <p:nvSpPr>
          <p:cNvPr id="21" name="Text 19"/>
          <p:cNvSpPr/>
          <p:nvPr/>
        </p:nvSpPr>
        <p:spPr>
          <a:xfrm>
            <a:off x="274320" y="3694176"/>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22" name="Text 20"/>
          <p:cNvSpPr/>
          <p:nvPr/>
        </p:nvSpPr>
        <p:spPr>
          <a:xfrm>
            <a:off x="859536" y="3703320"/>
            <a:ext cx="4069080" cy="219456"/>
          </a:xfrm>
          <a:prstGeom prst="rect">
            <a:avLst/>
          </a:prstGeom>
          <a:noFill/>
          <a:ln/>
        </p:spPr>
        <p:txBody>
          <a:bodyPr wrap="square" lIns="0" tIns="0" rIns="0" bIns="0" rtlCol="0" anchor="ctr"/>
          <a:lstStyle/>
          <a:p>
            <a:pPr indent="0" marL="0">
              <a:buNone/>
            </a:pPr>
            <a:r>
              <a:rPr lang="en-US" sz="1100" b="1" dirty="0">
                <a:solidFill>
                  <a:srgbClr val="1A2B2C"/>
                </a:solidFill>
                <a:latin typeface="Calibri" pitchFamily="34" charset="0"/>
                <a:ea typeface="Calibri" pitchFamily="34" charset="-122"/>
                <a:cs typeface="Calibri" pitchFamily="34" charset="-120"/>
              </a:rPr>
              <a:t>Add Your Phone as Recipient</a:t>
            </a:r>
            <a:endParaRPr lang="en-US" sz="1100" dirty="0"/>
          </a:p>
        </p:txBody>
      </p:sp>
      <p:sp>
        <p:nvSpPr>
          <p:cNvPr id="23" name="Text 21"/>
          <p:cNvSpPr/>
          <p:nvPr/>
        </p:nvSpPr>
        <p:spPr>
          <a:xfrm>
            <a:off x="859536" y="3931920"/>
            <a:ext cx="4069080" cy="329184"/>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Add up to 5 real WhatsApp numbers. Only these can receive messages during sandbox testing.</a:t>
            </a:r>
            <a:endParaRPr lang="en-US" sz="950" dirty="0"/>
          </a:p>
        </p:txBody>
      </p:sp>
      <p:sp>
        <p:nvSpPr>
          <p:cNvPr id="24" name="Shape 22"/>
          <p:cNvSpPr/>
          <p:nvPr/>
        </p:nvSpPr>
        <p:spPr>
          <a:xfrm>
            <a:off x="274320" y="4370832"/>
            <a:ext cx="502920" cy="502920"/>
          </a:xfrm>
          <a:prstGeom prst="rect">
            <a:avLst/>
          </a:prstGeom>
          <a:solidFill>
            <a:srgbClr val="028090"/>
          </a:solidFill>
          <a:ln w="12700">
            <a:solidFill>
              <a:srgbClr val="028090"/>
            </a:solidFill>
            <a:prstDash val="solid"/>
          </a:ln>
        </p:spPr>
      </p:sp>
      <p:sp>
        <p:nvSpPr>
          <p:cNvPr id="25" name="Text 23"/>
          <p:cNvSpPr/>
          <p:nvPr/>
        </p:nvSpPr>
        <p:spPr>
          <a:xfrm>
            <a:off x="274320" y="4370832"/>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06</a:t>
            </a:r>
            <a:endParaRPr lang="en-US" sz="1400" dirty="0"/>
          </a:p>
        </p:txBody>
      </p:sp>
      <p:sp>
        <p:nvSpPr>
          <p:cNvPr id="26" name="Text 24"/>
          <p:cNvSpPr/>
          <p:nvPr/>
        </p:nvSpPr>
        <p:spPr>
          <a:xfrm>
            <a:off x="859536" y="4379976"/>
            <a:ext cx="4069080" cy="219456"/>
          </a:xfrm>
          <a:prstGeom prst="rect">
            <a:avLst/>
          </a:prstGeom>
          <a:noFill/>
          <a:ln/>
        </p:spPr>
        <p:txBody>
          <a:bodyPr wrap="square" lIns="0" tIns="0" rIns="0" bIns="0" rtlCol="0" anchor="ctr"/>
          <a:lstStyle/>
          <a:p>
            <a:pPr indent="0" marL="0">
              <a:buNone/>
            </a:pPr>
            <a:r>
              <a:rPr lang="en-US" sz="1100" b="1" dirty="0">
                <a:solidFill>
                  <a:srgbClr val="1A2B2C"/>
                </a:solidFill>
                <a:latin typeface="Calibri" pitchFamily="34" charset="0"/>
                <a:ea typeface="Calibri" pitchFamily="34" charset="-122"/>
                <a:cs typeface="Calibri" pitchFamily="34" charset="-120"/>
              </a:rPr>
              <a:t>Send Test → PDF → Link</a:t>
            </a:r>
            <a:endParaRPr lang="en-US" sz="1100" dirty="0"/>
          </a:p>
        </p:txBody>
      </p:sp>
      <p:sp>
        <p:nvSpPr>
          <p:cNvPr id="27" name="Text 25"/>
          <p:cNvSpPr/>
          <p:nvPr/>
        </p:nvSpPr>
        <p:spPr>
          <a:xfrm>
            <a:off x="859536" y="4608576"/>
            <a:ext cx="4069080" cy="329184"/>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cURL/Postman: first send hello_world template, then send a document (PDF), then a link template.</a:t>
            </a:r>
            <a:endParaRPr lang="en-US" sz="950" dirty="0"/>
          </a:p>
        </p:txBody>
      </p:sp>
      <p:sp>
        <p:nvSpPr>
          <p:cNvPr id="28" name="Shape 26"/>
          <p:cNvSpPr/>
          <p:nvPr/>
        </p:nvSpPr>
        <p:spPr>
          <a:xfrm>
            <a:off x="5349240" y="987552"/>
            <a:ext cx="3547872" cy="3913632"/>
          </a:xfrm>
          <a:prstGeom prst="rect">
            <a:avLst/>
          </a:prstGeom>
          <a:solidFill>
            <a:srgbClr val="F4FAFB"/>
          </a:solidFill>
          <a:ln w="12700">
            <a:solidFill>
              <a:srgbClr val="E2E8F0"/>
            </a:solidFill>
            <a:prstDash val="solid"/>
          </a:ln>
          <a:effectLst>
            <a:outerShdw sx="100000" sy="100000" kx="0" ky="0" algn="bl" rotWithShape="0" blurRad="63500" dist="25400" dir="8100000">
              <a:srgbClr val="000000">
                <a:alpha val="7000"/>
              </a:srgbClr>
            </a:outerShdw>
          </a:effectLst>
        </p:spPr>
      </p:sp>
      <p:sp>
        <p:nvSpPr>
          <p:cNvPr id="29" name="Text 27"/>
          <p:cNvSpPr/>
          <p:nvPr/>
        </p:nvSpPr>
        <p:spPr>
          <a:xfrm>
            <a:off x="5486400" y="1060704"/>
            <a:ext cx="3291840" cy="329184"/>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What to Test</a:t>
            </a:r>
            <a:endParaRPr lang="en-US" sz="1300" dirty="0"/>
          </a:p>
        </p:txBody>
      </p:sp>
      <p:sp>
        <p:nvSpPr>
          <p:cNvPr id="30" name="Shape 28"/>
          <p:cNvSpPr/>
          <p:nvPr/>
        </p:nvSpPr>
        <p:spPr>
          <a:xfrm>
            <a:off x="5413248" y="1481328"/>
            <a:ext cx="3383280" cy="566928"/>
          </a:xfrm>
          <a:prstGeom prst="rect">
            <a:avLst/>
          </a:prstGeom>
          <a:solidFill>
            <a:srgbClr val="FFFFFF"/>
          </a:solidFill>
          <a:ln w="12700">
            <a:solidFill>
              <a:srgbClr val="E2E8F0"/>
            </a:solidFill>
            <a:prstDash val="solid"/>
          </a:ln>
        </p:spPr>
      </p:sp>
      <p:sp>
        <p:nvSpPr>
          <p:cNvPr id="31" name="Shape 29"/>
          <p:cNvSpPr/>
          <p:nvPr/>
        </p:nvSpPr>
        <p:spPr>
          <a:xfrm>
            <a:off x="5413248" y="1481328"/>
            <a:ext cx="54864" cy="566928"/>
          </a:xfrm>
          <a:prstGeom prst="rect">
            <a:avLst/>
          </a:prstGeom>
          <a:solidFill>
            <a:srgbClr val="00A896"/>
          </a:solidFill>
          <a:ln w="12700">
            <a:solidFill>
              <a:srgbClr val="00A896"/>
            </a:solidFill>
            <a:prstDash val="solid"/>
          </a:ln>
        </p:spPr>
      </p:sp>
      <p:sp>
        <p:nvSpPr>
          <p:cNvPr id="32" name="Text 30"/>
          <p:cNvSpPr/>
          <p:nvPr/>
        </p:nvSpPr>
        <p:spPr>
          <a:xfrm>
            <a:off x="5532120" y="1517904"/>
            <a:ext cx="3200400" cy="201168"/>
          </a:xfrm>
          <a:prstGeom prst="rect">
            <a:avLst/>
          </a:prstGeom>
          <a:noFill/>
          <a:ln/>
        </p:spPr>
        <p:txBody>
          <a:bodyPr wrap="square" lIns="0" tIns="0" rIns="0" bIns="0"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Text template</a:t>
            </a:r>
            <a:endParaRPr lang="en-US" sz="1100" dirty="0"/>
          </a:p>
        </p:txBody>
      </p:sp>
      <p:sp>
        <p:nvSpPr>
          <p:cNvPr id="33" name="Text 31"/>
          <p:cNvSpPr/>
          <p:nvPr/>
        </p:nvSpPr>
        <p:spPr>
          <a:xfrm>
            <a:off x="5532120" y="1737360"/>
            <a:ext cx="320040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hello_world pre-approved by Meta → immediate delivery, no template submission needed</a:t>
            </a:r>
            <a:endParaRPr lang="en-US" sz="950" dirty="0"/>
          </a:p>
        </p:txBody>
      </p:sp>
      <p:sp>
        <p:nvSpPr>
          <p:cNvPr id="34" name="Shape 32"/>
          <p:cNvSpPr/>
          <p:nvPr/>
        </p:nvSpPr>
        <p:spPr>
          <a:xfrm>
            <a:off x="5413248" y="2130552"/>
            <a:ext cx="3383280" cy="566928"/>
          </a:xfrm>
          <a:prstGeom prst="rect">
            <a:avLst/>
          </a:prstGeom>
          <a:solidFill>
            <a:srgbClr val="FFFFFF"/>
          </a:solidFill>
          <a:ln w="12700">
            <a:solidFill>
              <a:srgbClr val="E2E8F0"/>
            </a:solidFill>
            <a:prstDash val="solid"/>
          </a:ln>
        </p:spPr>
      </p:sp>
      <p:sp>
        <p:nvSpPr>
          <p:cNvPr id="35" name="Shape 33"/>
          <p:cNvSpPr/>
          <p:nvPr/>
        </p:nvSpPr>
        <p:spPr>
          <a:xfrm>
            <a:off x="5413248" y="2130552"/>
            <a:ext cx="54864" cy="566928"/>
          </a:xfrm>
          <a:prstGeom prst="rect">
            <a:avLst/>
          </a:prstGeom>
          <a:solidFill>
            <a:srgbClr val="00A896"/>
          </a:solidFill>
          <a:ln w="12700">
            <a:solidFill>
              <a:srgbClr val="00A896"/>
            </a:solidFill>
            <a:prstDash val="solid"/>
          </a:ln>
        </p:spPr>
      </p:sp>
      <p:sp>
        <p:nvSpPr>
          <p:cNvPr id="36" name="Text 34"/>
          <p:cNvSpPr/>
          <p:nvPr/>
        </p:nvSpPr>
        <p:spPr>
          <a:xfrm>
            <a:off x="5532120" y="2167128"/>
            <a:ext cx="3200400" cy="201168"/>
          </a:xfrm>
          <a:prstGeom prst="rect">
            <a:avLst/>
          </a:prstGeom>
          <a:noFill/>
          <a:ln/>
        </p:spPr>
        <p:txBody>
          <a:bodyPr wrap="square" lIns="0" tIns="0" rIns="0" bIns="0"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PDF delivery</a:t>
            </a:r>
            <a:endParaRPr lang="en-US" sz="1100" dirty="0"/>
          </a:p>
        </p:txBody>
      </p:sp>
      <p:sp>
        <p:nvSpPr>
          <p:cNvPr id="37" name="Text 35"/>
          <p:cNvSpPr/>
          <p:nvPr/>
        </p:nvSpPr>
        <p:spPr>
          <a:xfrm>
            <a:off x="5532120" y="2386584"/>
            <a:ext cx="320040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type: document → link to any public PDF URL → shows as downloadable file in WhatsApp</a:t>
            </a:r>
            <a:endParaRPr lang="en-US" sz="950" dirty="0"/>
          </a:p>
        </p:txBody>
      </p:sp>
      <p:sp>
        <p:nvSpPr>
          <p:cNvPr id="38" name="Shape 36"/>
          <p:cNvSpPr/>
          <p:nvPr/>
        </p:nvSpPr>
        <p:spPr>
          <a:xfrm>
            <a:off x="5413248" y="2779776"/>
            <a:ext cx="3383280" cy="566928"/>
          </a:xfrm>
          <a:prstGeom prst="rect">
            <a:avLst/>
          </a:prstGeom>
          <a:solidFill>
            <a:srgbClr val="FFFFFF"/>
          </a:solidFill>
          <a:ln w="12700">
            <a:solidFill>
              <a:srgbClr val="E2E8F0"/>
            </a:solidFill>
            <a:prstDash val="solid"/>
          </a:ln>
        </p:spPr>
      </p:sp>
      <p:sp>
        <p:nvSpPr>
          <p:cNvPr id="39" name="Shape 37"/>
          <p:cNvSpPr/>
          <p:nvPr/>
        </p:nvSpPr>
        <p:spPr>
          <a:xfrm>
            <a:off x="5413248" y="2779776"/>
            <a:ext cx="54864" cy="566928"/>
          </a:xfrm>
          <a:prstGeom prst="rect">
            <a:avLst/>
          </a:prstGeom>
          <a:solidFill>
            <a:srgbClr val="00A896"/>
          </a:solidFill>
          <a:ln w="12700">
            <a:solidFill>
              <a:srgbClr val="00A896"/>
            </a:solidFill>
            <a:prstDash val="solid"/>
          </a:ln>
        </p:spPr>
      </p:sp>
      <p:sp>
        <p:nvSpPr>
          <p:cNvPr id="40" name="Text 38"/>
          <p:cNvSpPr/>
          <p:nvPr/>
        </p:nvSpPr>
        <p:spPr>
          <a:xfrm>
            <a:off x="5532120" y="2816352"/>
            <a:ext cx="3200400" cy="201168"/>
          </a:xfrm>
          <a:prstGeom prst="rect">
            <a:avLst/>
          </a:prstGeom>
          <a:noFill/>
          <a:ln/>
        </p:spPr>
        <p:txBody>
          <a:bodyPr wrap="square" lIns="0" tIns="0" rIns="0" bIns="0"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Link message</a:t>
            </a:r>
            <a:endParaRPr lang="en-US" sz="1100" dirty="0"/>
          </a:p>
        </p:txBody>
      </p:sp>
      <p:sp>
        <p:nvSpPr>
          <p:cNvPr id="41" name="Text 39"/>
          <p:cNvSpPr/>
          <p:nvPr/>
        </p:nvSpPr>
        <p:spPr>
          <a:xfrm>
            <a:off x="5532120" y="3035808"/>
            <a:ext cx="320040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include URL in template body → patient taps to open lab results portal</a:t>
            </a:r>
            <a:endParaRPr lang="en-US" sz="950" dirty="0"/>
          </a:p>
        </p:txBody>
      </p:sp>
      <p:sp>
        <p:nvSpPr>
          <p:cNvPr id="42" name="Shape 40"/>
          <p:cNvSpPr/>
          <p:nvPr/>
        </p:nvSpPr>
        <p:spPr>
          <a:xfrm>
            <a:off x="5413248" y="3429000"/>
            <a:ext cx="3383280" cy="566928"/>
          </a:xfrm>
          <a:prstGeom prst="rect">
            <a:avLst/>
          </a:prstGeom>
          <a:solidFill>
            <a:srgbClr val="FFFFFF"/>
          </a:solidFill>
          <a:ln w="12700">
            <a:solidFill>
              <a:srgbClr val="E2E8F0"/>
            </a:solidFill>
            <a:prstDash val="solid"/>
          </a:ln>
        </p:spPr>
      </p:sp>
      <p:sp>
        <p:nvSpPr>
          <p:cNvPr id="43" name="Shape 41"/>
          <p:cNvSpPr/>
          <p:nvPr/>
        </p:nvSpPr>
        <p:spPr>
          <a:xfrm>
            <a:off x="5413248" y="3429000"/>
            <a:ext cx="54864" cy="566928"/>
          </a:xfrm>
          <a:prstGeom prst="rect">
            <a:avLst/>
          </a:prstGeom>
          <a:solidFill>
            <a:srgbClr val="00A896"/>
          </a:solidFill>
          <a:ln w="12700">
            <a:solidFill>
              <a:srgbClr val="00A896"/>
            </a:solidFill>
            <a:prstDash val="solid"/>
          </a:ln>
        </p:spPr>
      </p:sp>
      <p:sp>
        <p:nvSpPr>
          <p:cNvPr id="44" name="Text 42"/>
          <p:cNvSpPr/>
          <p:nvPr/>
        </p:nvSpPr>
        <p:spPr>
          <a:xfrm>
            <a:off x="5532120" y="3465576"/>
            <a:ext cx="3200400" cy="201168"/>
          </a:xfrm>
          <a:prstGeom prst="rect">
            <a:avLst/>
          </a:prstGeom>
          <a:noFill/>
          <a:ln/>
        </p:spPr>
        <p:txBody>
          <a:bodyPr wrap="square" lIns="0" tIns="0" rIns="0" bIns="0"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Delivery receipt</a:t>
            </a:r>
            <a:endParaRPr lang="en-US" sz="1100" dirty="0"/>
          </a:p>
        </p:txBody>
      </p:sp>
      <p:sp>
        <p:nvSpPr>
          <p:cNvPr id="45" name="Text 43"/>
          <p:cNvSpPr/>
          <p:nvPr/>
        </p:nvSpPr>
        <p:spPr>
          <a:xfrm>
            <a:off x="5532120" y="3685032"/>
            <a:ext cx="320040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webhook POST event: sent → delivered → read — verify read receipts work</a:t>
            </a:r>
            <a:endParaRPr lang="en-US" sz="950" dirty="0"/>
          </a:p>
        </p:txBody>
      </p:sp>
      <p:sp>
        <p:nvSpPr>
          <p:cNvPr id="46" name="Shape 44"/>
          <p:cNvSpPr/>
          <p:nvPr/>
        </p:nvSpPr>
        <p:spPr>
          <a:xfrm>
            <a:off x="5413248" y="4078224"/>
            <a:ext cx="3383280" cy="566928"/>
          </a:xfrm>
          <a:prstGeom prst="rect">
            <a:avLst/>
          </a:prstGeom>
          <a:solidFill>
            <a:srgbClr val="FFFFFF"/>
          </a:solidFill>
          <a:ln w="12700">
            <a:solidFill>
              <a:srgbClr val="E2E8F0"/>
            </a:solidFill>
            <a:prstDash val="solid"/>
          </a:ln>
        </p:spPr>
      </p:sp>
      <p:sp>
        <p:nvSpPr>
          <p:cNvPr id="47" name="Shape 45"/>
          <p:cNvSpPr/>
          <p:nvPr/>
        </p:nvSpPr>
        <p:spPr>
          <a:xfrm>
            <a:off x="5413248" y="4078224"/>
            <a:ext cx="54864" cy="566928"/>
          </a:xfrm>
          <a:prstGeom prst="rect">
            <a:avLst/>
          </a:prstGeom>
          <a:solidFill>
            <a:srgbClr val="00A896"/>
          </a:solidFill>
          <a:ln w="12700">
            <a:solidFill>
              <a:srgbClr val="00A896"/>
            </a:solidFill>
            <a:prstDash val="solid"/>
          </a:ln>
        </p:spPr>
      </p:sp>
      <p:sp>
        <p:nvSpPr>
          <p:cNvPr id="48" name="Text 46"/>
          <p:cNvSpPr/>
          <p:nvPr/>
        </p:nvSpPr>
        <p:spPr>
          <a:xfrm>
            <a:off x="5532120" y="4114800"/>
            <a:ext cx="3200400" cy="201168"/>
          </a:xfrm>
          <a:prstGeom prst="rect">
            <a:avLst/>
          </a:prstGeom>
          <a:noFill/>
          <a:ln/>
        </p:spPr>
        <p:txBody>
          <a:bodyPr wrap="square" lIns="0" tIns="0" rIns="0" bIns="0"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24h window test</a:t>
            </a:r>
            <a:endParaRPr lang="en-US" sz="1100" dirty="0"/>
          </a:p>
        </p:txBody>
      </p:sp>
      <p:sp>
        <p:nvSpPr>
          <p:cNvPr id="49" name="Text 47"/>
          <p:cNvSpPr/>
          <p:nvPr/>
        </p:nvSpPr>
        <p:spPr>
          <a:xfrm>
            <a:off x="5532120" y="4334256"/>
            <a:ext cx="320040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Patient replies → verify you can now send free-form text without templates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AFB"/>
        </a:solidFill>
      </p:bgPr>
    </p:bg>
    <p:spTree>
      <p:nvGrpSpPr>
        <p:cNvPr id="1" name=""/>
        <p:cNvGrpSpPr/>
        <p:nvPr/>
      </p:nvGrpSpPr>
      <p:grpSpPr>
        <a:xfrm>
          <a:off x="0" y="0"/>
          <a:ext cx="0" cy="0"/>
          <a:chOff x="0" y="0"/>
          <a:chExt cx="0" cy="0"/>
        </a:xfrm>
      </p:grpSpPr>
      <p:sp>
        <p:nvSpPr>
          <p:cNvPr id="2" name="Text 0"/>
          <p:cNvSpPr/>
          <p:nvPr/>
        </p:nvSpPr>
        <p:spPr>
          <a:xfrm>
            <a:off x="457200" y="164592"/>
            <a:ext cx="8229600" cy="438912"/>
          </a:xfrm>
          <a:prstGeom prst="rect">
            <a:avLst/>
          </a:prstGeom>
          <a:noFill/>
          <a:ln/>
        </p:spPr>
        <p:txBody>
          <a:bodyPr wrap="square" lIns="0" tIns="0" rIns="0" bIns="0" rtlCol="0" anchor="ctr"/>
          <a:lstStyle/>
          <a:p>
            <a:pPr indent="0" marL="0">
              <a:buNone/>
            </a:pPr>
            <a:r>
              <a:rPr lang="en-US" sz="2600" b="1" dirty="0">
                <a:solidFill>
                  <a:srgbClr val="028090"/>
                </a:solidFill>
                <a:latin typeface="Calibri" pitchFamily="34" charset="0"/>
                <a:ea typeface="Calibri" pitchFamily="34" charset="-122"/>
                <a:cs typeface="Calibri" pitchFamily="34" charset="-120"/>
              </a:rPr>
              <a:t>PoC → Production Roadmap</a:t>
            </a:r>
            <a:endParaRPr lang="en-US" sz="2600" dirty="0"/>
          </a:p>
        </p:txBody>
      </p:sp>
      <p:sp>
        <p:nvSpPr>
          <p:cNvPr id="3" name="Text 1"/>
          <p:cNvSpPr/>
          <p:nvPr/>
        </p:nvSpPr>
        <p:spPr>
          <a:xfrm>
            <a:off x="457200" y="566928"/>
            <a:ext cx="8229600" cy="256032"/>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What is needed to go from demo to live patient notifications</a:t>
            </a:r>
            <a:endParaRPr lang="en-US" sz="1100" dirty="0"/>
          </a:p>
        </p:txBody>
      </p:sp>
      <p:sp>
        <p:nvSpPr>
          <p:cNvPr id="4" name="Shape 2"/>
          <p:cNvSpPr/>
          <p:nvPr/>
        </p:nvSpPr>
        <p:spPr>
          <a:xfrm>
            <a:off x="201168" y="987552"/>
            <a:ext cx="2057400" cy="3858768"/>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7000"/>
              </a:srgbClr>
            </a:outerShdw>
          </a:effectLst>
        </p:spPr>
      </p:sp>
      <p:sp>
        <p:nvSpPr>
          <p:cNvPr id="5" name="Shape 3"/>
          <p:cNvSpPr/>
          <p:nvPr/>
        </p:nvSpPr>
        <p:spPr>
          <a:xfrm>
            <a:off x="201168" y="987552"/>
            <a:ext cx="2057400" cy="128016"/>
          </a:xfrm>
          <a:prstGeom prst="rect">
            <a:avLst/>
          </a:prstGeom>
          <a:solidFill>
            <a:srgbClr val="00A896"/>
          </a:solidFill>
          <a:ln w="12700">
            <a:solidFill>
              <a:srgbClr val="00A896"/>
            </a:solidFill>
            <a:prstDash val="solid"/>
          </a:ln>
        </p:spPr>
      </p:sp>
      <p:sp>
        <p:nvSpPr>
          <p:cNvPr id="6" name="Text 4"/>
          <p:cNvSpPr/>
          <p:nvPr/>
        </p:nvSpPr>
        <p:spPr>
          <a:xfrm>
            <a:off x="292608" y="1152144"/>
            <a:ext cx="1874520" cy="237744"/>
          </a:xfrm>
          <a:prstGeom prst="rect">
            <a:avLst/>
          </a:prstGeom>
          <a:noFill/>
          <a:ln/>
        </p:spPr>
        <p:txBody>
          <a:bodyPr wrap="square" lIns="0" tIns="0" rIns="0" bIns="0" rtlCol="0" anchor="ctr"/>
          <a:lstStyle/>
          <a:p>
            <a:pPr indent="0" marL="0">
              <a:buNone/>
            </a:pPr>
            <a:r>
              <a:rPr lang="en-US" sz="1000" b="1" spc="100" kern="0" dirty="0">
                <a:solidFill>
                  <a:srgbClr val="00A896"/>
                </a:solidFill>
                <a:latin typeface="Calibri" pitchFamily="34" charset="0"/>
                <a:ea typeface="Calibri" pitchFamily="34" charset="-122"/>
                <a:cs typeface="Calibri" pitchFamily="34" charset="-120"/>
              </a:rPr>
              <a:t>Phase 1</a:t>
            </a:r>
            <a:endParaRPr lang="en-US" sz="1000" dirty="0"/>
          </a:p>
        </p:txBody>
      </p:sp>
      <p:sp>
        <p:nvSpPr>
          <p:cNvPr id="7" name="Text 5"/>
          <p:cNvSpPr/>
          <p:nvPr/>
        </p:nvSpPr>
        <p:spPr>
          <a:xfrm>
            <a:off x="292608" y="1371600"/>
            <a:ext cx="1874520" cy="347472"/>
          </a:xfrm>
          <a:prstGeom prst="rect">
            <a:avLst/>
          </a:prstGeom>
          <a:noFill/>
          <a:ln/>
        </p:spPr>
        <p:txBody>
          <a:bodyPr wrap="square" lIns="0" tIns="0" rIns="0" bIns="0" rtlCol="0" anchor="ctr"/>
          <a:lstStyle/>
          <a:p>
            <a:pPr indent="0" marL="0">
              <a:buNone/>
            </a:pPr>
            <a:r>
              <a:rPr lang="en-US" sz="1500" b="1" dirty="0">
                <a:solidFill>
                  <a:srgbClr val="1A2B2C"/>
                </a:solidFill>
                <a:latin typeface="Calibri" pitchFamily="34" charset="0"/>
                <a:ea typeface="Calibri" pitchFamily="34" charset="-122"/>
                <a:cs typeface="Calibri" pitchFamily="34" charset="-120"/>
              </a:rPr>
              <a:t>Demo</a:t>
            </a:r>
            <a:endParaRPr lang="en-US" sz="1500" dirty="0"/>
          </a:p>
        </p:txBody>
      </p:sp>
      <p:sp>
        <p:nvSpPr>
          <p:cNvPr id="8" name="Shape 6"/>
          <p:cNvSpPr/>
          <p:nvPr/>
        </p:nvSpPr>
        <p:spPr>
          <a:xfrm>
            <a:off x="292608" y="1755648"/>
            <a:ext cx="1280160" cy="219456"/>
          </a:xfrm>
          <a:prstGeom prst="rect">
            <a:avLst/>
          </a:prstGeom>
          <a:solidFill>
            <a:srgbClr val="00A896"/>
          </a:solidFill>
          <a:ln w="12700">
            <a:solidFill>
              <a:srgbClr val="00A896"/>
            </a:solidFill>
            <a:prstDash val="solid"/>
          </a:ln>
        </p:spPr>
      </p:sp>
      <p:sp>
        <p:nvSpPr>
          <p:cNvPr id="9" name="Text 7"/>
          <p:cNvSpPr/>
          <p:nvPr/>
        </p:nvSpPr>
        <p:spPr>
          <a:xfrm>
            <a:off x="292608" y="1755648"/>
            <a:ext cx="1280160"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Week 1</a:t>
            </a:r>
            <a:endParaRPr lang="en-US" sz="1000" dirty="0"/>
          </a:p>
        </p:txBody>
      </p:sp>
      <p:sp>
        <p:nvSpPr>
          <p:cNvPr id="10" name="Text 8"/>
          <p:cNvSpPr/>
          <p:nvPr/>
        </p:nvSpPr>
        <p:spPr>
          <a:xfrm>
            <a:off x="292608" y="2066544"/>
            <a:ext cx="1920240" cy="2724912"/>
          </a:xfrm>
          <a:prstGeom prst="rect">
            <a:avLst/>
          </a:prstGeom>
          <a:noFill/>
          <a:ln/>
        </p:spPr>
        <p:txBody>
          <a:bodyPr wrap="square" lIns="0" tIns="0" rIns="0" bIns="0" rtlCol="0" anchor="ctr"/>
          <a:lstStyle/>
          <a:p>
            <a:pPr marL="342900" indent="-342900">
              <a:buSzPct val="100000"/>
              <a:buChar char="•"/>
            </a:pPr>
            <a:r>
              <a:rPr lang="en-US" sz="1000" dirty="0">
                <a:solidFill>
                  <a:srgbClr val="1A2B2C"/>
                </a:solidFill>
                <a:latin typeface="Calibri" pitchFamily="34" charset="0"/>
                <a:ea typeface="Calibri" pitchFamily="34" charset="-122"/>
                <a:cs typeface="Calibri" pitchFamily="34" charset="-120"/>
              </a:rPr>
              <a:t>Meta Developer sandbox</a:t>
            </a:r>
            <a:endParaRPr lang="en-US" sz="1000" dirty="0"/>
          </a:p>
          <a:p>
            <a:pPr marL="342900" indent="-342900">
              <a:buSzPct val="100000"/>
              <a:buChar char="•"/>
            </a:pPr>
            <a:r>
              <a:rPr lang="en-US" sz="1000" dirty="0">
                <a:solidFill>
                  <a:srgbClr val="1A2B2C"/>
                </a:solidFill>
                <a:latin typeface="Calibri" pitchFamily="34" charset="0"/>
                <a:ea typeface="Calibri" pitchFamily="34" charset="-122"/>
                <a:cs typeface="Calibri" pitchFamily="34" charset="-120"/>
              </a:rPr>
              <a:t>Free test number &amp; temp token</a:t>
            </a:r>
            <a:endParaRPr lang="en-US" sz="1000" dirty="0"/>
          </a:p>
          <a:p>
            <a:pPr marL="342900" indent="-342900">
              <a:buSzPct val="100000"/>
              <a:buChar char="•"/>
            </a:pPr>
            <a:r>
              <a:rPr lang="en-US" sz="1000" dirty="0">
                <a:solidFill>
                  <a:srgbClr val="1A2B2C"/>
                </a:solidFill>
                <a:latin typeface="Calibri" pitchFamily="34" charset="0"/>
                <a:ea typeface="Calibri" pitchFamily="34" charset="-122"/>
                <a:cs typeface="Calibri" pitchFamily="34" charset="-120"/>
              </a:rPr>
              <a:t>5 test recipients (your phones)</a:t>
            </a:r>
            <a:endParaRPr lang="en-US" sz="1000" dirty="0"/>
          </a:p>
          <a:p>
            <a:pPr marL="342900" indent="-342900">
              <a:buSzPct val="100000"/>
              <a:buChar char="•"/>
            </a:pPr>
            <a:r>
              <a:rPr lang="en-US" sz="1000" dirty="0">
                <a:solidFill>
                  <a:srgbClr val="1A2B2C"/>
                </a:solidFill>
                <a:latin typeface="Calibri" pitchFamily="34" charset="0"/>
                <a:ea typeface="Calibri" pitchFamily="34" charset="-122"/>
                <a:cs typeface="Calibri" pitchFamily="34" charset="-120"/>
              </a:rPr>
              <a:t>Send hello_world + PDF + link</a:t>
            </a:r>
            <a:endParaRPr lang="en-US" sz="1000" dirty="0"/>
          </a:p>
          <a:p>
            <a:pPr marL="342900" indent="-342900">
              <a:buSzPct val="100000"/>
              <a:buChar char="•"/>
            </a:pPr>
            <a:r>
              <a:rPr lang="en-US" sz="1000" dirty="0">
                <a:solidFill>
                  <a:srgbClr val="1A2B2C"/>
                </a:solidFill>
                <a:latin typeface="Calibri" pitchFamily="34" charset="0"/>
                <a:ea typeface="Calibri" pitchFamily="34" charset="-122"/>
                <a:cs typeface="Calibri" pitchFamily="34" charset="-120"/>
              </a:rPr>
              <a:t>Webhook via ngrok</a:t>
            </a:r>
            <a:endParaRPr lang="en-US" sz="1000" dirty="0"/>
          </a:p>
          <a:p>
            <a:pPr marL="342900" indent="-342900">
              <a:buSzPct val="100000"/>
              <a:buChar char="•"/>
            </a:pPr>
            <a:r>
              <a:rPr lang="en-US" sz="1000" dirty="0">
                <a:solidFill>
                  <a:srgbClr val="1A2B2C"/>
                </a:solidFill>
                <a:latin typeface="Calibri" pitchFamily="34" charset="0"/>
                <a:ea typeface="Calibri" pitchFamily="34" charset="-122"/>
                <a:cs typeface="Calibri" pitchFamily="34" charset="-120"/>
              </a:rPr>
              <a:t>Confirm read receipts work</a:t>
            </a:r>
            <a:endParaRPr lang="en-US" sz="1000" dirty="0"/>
          </a:p>
        </p:txBody>
      </p:sp>
      <p:sp>
        <p:nvSpPr>
          <p:cNvPr id="11" name="Shape 9"/>
          <p:cNvSpPr/>
          <p:nvPr/>
        </p:nvSpPr>
        <p:spPr>
          <a:xfrm>
            <a:off x="2423160" y="987552"/>
            <a:ext cx="2057400" cy="3858768"/>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7000"/>
              </a:srgbClr>
            </a:outerShdw>
          </a:effectLst>
        </p:spPr>
      </p:sp>
      <p:sp>
        <p:nvSpPr>
          <p:cNvPr id="12" name="Shape 10"/>
          <p:cNvSpPr/>
          <p:nvPr/>
        </p:nvSpPr>
        <p:spPr>
          <a:xfrm>
            <a:off x="2423160" y="987552"/>
            <a:ext cx="2057400" cy="128016"/>
          </a:xfrm>
          <a:prstGeom prst="rect">
            <a:avLst/>
          </a:prstGeom>
          <a:solidFill>
            <a:srgbClr val="028090"/>
          </a:solidFill>
          <a:ln w="12700">
            <a:solidFill>
              <a:srgbClr val="028090"/>
            </a:solidFill>
            <a:prstDash val="solid"/>
          </a:ln>
        </p:spPr>
      </p:sp>
      <p:sp>
        <p:nvSpPr>
          <p:cNvPr id="13" name="Text 11"/>
          <p:cNvSpPr/>
          <p:nvPr/>
        </p:nvSpPr>
        <p:spPr>
          <a:xfrm>
            <a:off x="2514600" y="1152144"/>
            <a:ext cx="1874520" cy="237744"/>
          </a:xfrm>
          <a:prstGeom prst="rect">
            <a:avLst/>
          </a:prstGeom>
          <a:noFill/>
          <a:ln/>
        </p:spPr>
        <p:txBody>
          <a:bodyPr wrap="square" lIns="0" tIns="0" rIns="0" bIns="0" rtlCol="0" anchor="ctr"/>
          <a:lstStyle/>
          <a:p>
            <a:pPr indent="0" marL="0">
              <a:buNone/>
            </a:pPr>
            <a:r>
              <a:rPr lang="en-US" sz="1000" b="1" spc="100" kern="0" dirty="0">
                <a:solidFill>
                  <a:srgbClr val="028090"/>
                </a:solidFill>
                <a:latin typeface="Calibri" pitchFamily="34" charset="0"/>
                <a:ea typeface="Calibri" pitchFamily="34" charset="-122"/>
                <a:cs typeface="Calibri" pitchFamily="34" charset="-120"/>
              </a:rPr>
              <a:t>Phase 2</a:t>
            </a:r>
            <a:endParaRPr lang="en-US" sz="1000" dirty="0"/>
          </a:p>
        </p:txBody>
      </p:sp>
      <p:sp>
        <p:nvSpPr>
          <p:cNvPr id="14" name="Text 12"/>
          <p:cNvSpPr/>
          <p:nvPr/>
        </p:nvSpPr>
        <p:spPr>
          <a:xfrm>
            <a:off x="2514600" y="1371600"/>
            <a:ext cx="1874520" cy="347472"/>
          </a:xfrm>
          <a:prstGeom prst="rect">
            <a:avLst/>
          </a:prstGeom>
          <a:noFill/>
          <a:ln/>
        </p:spPr>
        <p:txBody>
          <a:bodyPr wrap="square" lIns="0" tIns="0" rIns="0" bIns="0" rtlCol="0" anchor="ctr"/>
          <a:lstStyle/>
          <a:p>
            <a:pPr indent="0" marL="0">
              <a:buNone/>
            </a:pPr>
            <a:r>
              <a:rPr lang="en-US" sz="1500" b="1" dirty="0">
                <a:solidFill>
                  <a:srgbClr val="1A2B2C"/>
                </a:solidFill>
                <a:latin typeface="Calibri" pitchFamily="34" charset="0"/>
                <a:ea typeface="Calibri" pitchFamily="34" charset="-122"/>
                <a:cs typeface="Calibri" pitchFamily="34" charset="-120"/>
              </a:rPr>
              <a:t>Business Setup</a:t>
            </a:r>
            <a:endParaRPr lang="en-US" sz="1500" dirty="0"/>
          </a:p>
        </p:txBody>
      </p:sp>
      <p:sp>
        <p:nvSpPr>
          <p:cNvPr id="15" name="Shape 13"/>
          <p:cNvSpPr/>
          <p:nvPr/>
        </p:nvSpPr>
        <p:spPr>
          <a:xfrm>
            <a:off x="2514600" y="1755648"/>
            <a:ext cx="1280160" cy="219456"/>
          </a:xfrm>
          <a:prstGeom prst="rect">
            <a:avLst/>
          </a:prstGeom>
          <a:solidFill>
            <a:srgbClr val="028090"/>
          </a:solidFill>
          <a:ln w="12700">
            <a:solidFill>
              <a:srgbClr val="028090"/>
            </a:solidFill>
            <a:prstDash val="solid"/>
          </a:ln>
        </p:spPr>
      </p:sp>
      <p:sp>
        <p:nvSpPr>
          <p:cNvPr id="16" name="Text 14"/>
          <p:cNvSpPr/>
          <p:nvPr/>
        </p:nvSpPr>
        <p:spPr>
          <a:xfrm>
            <a:off x="2514600" y="1755648"/>
            <a:ext cx="1280160"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Weeks 2–4</a:t>
            </a:r>
            <a:endParaRPr lang="en-US" sz="1000" dirty="0"/>
          </a:p>
        </p:txBody>
      </p:sp>
      <p:sp>
        <p:nvSpPr>
          <p:cNvPr id="17" name="Text 15"/>
          <p:cNvSpPr/>
          <p:nvPr/>
        </p:nvSpPr>
        <p:spPr>
          <a:xfrm>
            <a:off x="2514600" y="2066544"/>
            <a:ext cx="1920240" cy="2724912"/>
          </a:xfrm>
          <a:prstGeom prst="rect">
            <a:avLst/>
          </a:prstGeom>
          <a:noFill/>
          <a:ln/>
        </p:spPr>
        <p:txBody>
          <a:bodyPr wrap="square" lIns="0" tIns="0" rIns="0" bIns="0" rtlCol="0" anchor="ctr"/>
          <a:lstStyle/>
          <a:p>
            <a:pPr marL="342900" indent="-342900">
              <a:buSzPct val="100000"/>
              <a:buChar char="•"/>
            </a:pPr>
            <a:r>
              <a:rPr lang="en-US" sz="1000" dirty="0">
                <a:solidFill>
                  <a:srgbClr val="1A2B2C"/>
                </a:solidFill>
                <a:latin typeface="Calibri" pitchFamily="34" charset="0"/>
                <a:ea typeface="Calibri" pitchFamily="34" charset="-122"/>
                <a:cs typeface="Calibri" pitchFamily="34" charset="-120"/>
              </a:rPr>
              <a:t>BSP embedded signup OR clean FB account</a:t>
            </a:r>
            <a:endParaRPr lang="en-US" sz="1000" dirty="0"/>
          </a:p>
          <a:p>
            <a:pPr marL="342900" indent="-342900">
              <a:buSzPct val="100000"/>
              <a:buChar char="•"/>
            </a:pPr>
            <a:r>
              <a:rPr lang="en-US" sz="1000" dirty="0">
                <a:solidFill>
                  <a:srgbClr val="1A2B2C"/>
                </a:solidFill>
                <a:latin typeface="Calibri" pitchFamily="34" charset="0"/>
                <a:ea typeface="Calibri" pitchFamily="34" charset="-122"/>
                <a:cs typeface="Calibri" pitchFamily="34" charset="-120"/>
              </a:rPr>
              <a:t>WABA (WhatsApp Business Account) creation</a:t>
            </a:r>
            <a:endParaRPr lang="en-US" sz="1000" dirty="0"/>
          </a:p>
          <a:p>
            <a:pPr marL="342900" indent="-342900">
              <a:buSzPct val="100000"/>
              <a:buChar char="•"/>
            </a:pPr>
            <a:r>
              <a:rPr lang="en-US" sz="1000" dirty="0">
                <a:solidFill>
                  <a:srgbClr val="1A2B2C"/>
                </a:solidFill>
                <a:latin typeface="Calibri" pitchFamily="34" charset="0"/>
                <a:ea typeface="Calibri" pitchFamily="34" charset="-122"/>
                <a:cs typeface="Calibri" pitchFamily="34" charset="-120"/>
              </a:rPr>
              <a:t>Real phone number (new SIM or VoIP)</a:t>
            </a:r>
            <a:endParaRPr lang="en-US" sz="1000" dirty="0"/>
          </a:p>
          <a:p>
            <a:pPr marL="342900" indent="-342900">
              <a:buSzPct val="100000"/>
              <a:buChar char="•"/>
            </a:pPr>
            <a:r>
              <a:rPr lang="en-US" sz="1000" dirty="0">
                <a:solidFill>
                  <a:srgbClr val="1A2B2C"/>
                </a:solidFill>
                <a:latin typeface="Calibri" pitchFamily="34" charset="0"/>
                <a:ea typeface="Calibri" pitchFamily="34" charset="-122"/>
                <a:cs typeface="Calibri" pitchFamily="34" charset="-120"/>
              </a:rPr>
              <a:t>Permanent System User token</a:t>
            </a:r>
            <a:endParaRPr lang="en-US" sz="1000" dirty="0"/>
          </a:p>
          <a:p>
            <a:pPr marL="342900" indent="-342900">
              <a:buSzPct val="100000"/>
              <a:buChar char="•"/>
            </a:pPr>
            <a:r>
              <a:rPr lang="en-US" sz="1000" dirty="0">
                <a:solidFill>
                  <a:srgbClr val="1A2B2C"/>
                </a:solidFill>
                <a:latin typeface="Calibri" pitchFamily="34" charset="0"/>
                <a:ea typeface="Calibri" pitchFamily="34" charset="-122"/>
                <a:cs typeface="Calibri" pitchFamily="34" charset="-120"/>
              </a:rPr>
              <a:t>Meta Business Manager (via colleague if needed)</a:t>
            </a:r>
            <a:endParaRPr lang="en-US" sz="1000" dirty="0"/>
          </a:p>
          <a:p>
            <a:pPr marL="342900" indent="-342900">
              <a:buSzPct val="100000"/>
              <a:buChar char="•"/>
            </a:pPr>
            <a:r>
              <a:rPr lang="en-US" sz="1000" dirty="0">
                <a:solidFill>
                  <a:srgbClr val="1A2B2C"/>
                </a:solidFill>
                <a:latin typeface="Calibri" pitchFamily="34" charset="0"/>
                <a:ea typeface="Calibri" pitchFamily="34" charset="-122"/>
                <a:cs typeface="Calibri" pitchFamily="34" charset="-120"/>
              </a:rPr>
              <a:t>Skip documents — not required</a:t>
            </a:r>
            <a:endParaRPr lang="en-US" sz="1000" dirty="0"/>
          </a:p>
        </p:txBody>
      </p:sp>
      <p:sp>
        <p:nvSpPr>
          <p:cNvPr id="18" name="Shape 16"/>
          <p:cNvSpPr/>
          <p:nvPr/>
        </p:nvSpPr>
        <p:spPr>
          <a:xfrm>
            <a:off x="4645152" y="987552"/>
            <a:ext cx="2057400" cy="3858768"/>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7000"/>
              </a:srgbClr>
            </a:outerShdw>
          </a:effectLst>
        </p:spPr>
      </p:sp>
      <p:sp>
        <p:nvSpPr>
          <p:cNvPr id="19" name="Shape 17"/>
          <p:cNvSpPr/>
          <p:nvPr/>
        </p:nvSpPr>
        <p:spPr>
          <a:xfrm>
            <a:off x="4645152" y="987552"/>
            <a:ext cx="2057400" cy="128016"/>
          </a:xfrm>
          <a:prstGeom prst="rect">
            <a:avLst/>
          </a:prstGeom>
          <a:solidFill>
            <a:srgbClr val="0E6B78"/>
          </a:solidFill>
          <a:ln w="12700">
            <a:solidFill>
              <a:srgbClr val="0E6B78"/>
            </a:solidFill>
            <a:prstDash val="solid"/>
          </a:ln>
        </p:spPr>
      </p:sp>
      <p:sp>
        <p:nvSpPr>
          <p:cNvPr id="20" name="Text 18"/>
          <p:cNvSpPr/>
          <p:nvPr/>
        </p:nvSpPr>
        <p:spPr>
          <a:xfrm>
            <a:off x="4736592" y="1152144"/>
            <a:ext cx="1874520" cy="237744"/>
          </a:xfrm>
          <a:prstGeom prst="rect">
            <a:avLst/>
          </a:prstGeom>
          <a:noFill/>
          <a:ln/>
        </p:spPr>
        <p:txBody>
          <a:bodyPr wrap="square" lIns="0" tIns="0" rIns="0" bIns="0" rtlCol="0" anchor="ctr"/>
          <a:lstStyle/>
          <a:p>
            <a:pPr indent="0" marL="0">
              <a:buNone/>
            </a:pPr>
            <a:r>
              <a:rPr lang="en-US" sz="1000" b="1" spc="100" kern="0" dirty="0">
                <a:solidFill>
                  <a:srgbClr val="0E6B78"/>
                </a:solidFill>
                <a:latin typeface="Calibri" pitchFamily="34" charset="0"/>
                <a:ea typeface="Calibri" pitchFamily="34" charset="-122"/>
                <a:cs typeface="Calibri" pitchFamily="34" charset="-120"/>
              </a:rPr>
              <a:t>Phase 3</a:t>
            </a:r>
            <a:endParaRPr lang="en-US" sz="1000" dirty="0"/>
          </a:p>
        </p:txBody>
      </p:sp>
      <p:sp>
        <p:nvSpPr>
          <p:cNvPr id="21" name="Text 19"/>
          <p:cNvSpPr/>
          <p:nvPr/>
        </p:nvSpPr>
        <p:spPr>
          <a:xfrm>
            <a:off x="4736592" y="1371600"/>
            <a:ext cx="1874520" cy="347472"/>
          </a:xfrm>
          <a:prstGeom prst="rect">
            <a:avLst/>
          </a:prstGeom>
          <a:noFill/>
          <a:ln/>
        </p:spPr>
        <p:txBody>
          <a:bodyPr wrap="square" lIns="0" tIns="0" rIns="0" bIns="0" rtlCol="0" anchor="ctr"/>
          <a:lstStyle/>
          <a:p>
            <a:pPr indent="0" marL="0">
              <a:buNone/>
            </a:pPr>
            <a:r>
              <a:rPr lang="en-US" sz="1500" b="1" dirty="0">
                <a:solidFill>
                  <a:srgbClr val="1A2B2C"/>
                </a:solidFill>
                <a:latin typeface="Calibri" pitchFamily="34" charset="0"/>
                <a:ea typeface="Calibri" pitchFamily="34" charset="-122"/>
                <a:cs typeface="Calibri" pitchFamily="34" charset="-120"/>
              </a:rPr>
              <a:t>Templates</a:t>
            </a:r>
            <a:endParaRPr lang="en-US" sz="1500" dirty="0"/>
          </a:p>
        </p:txBody>
      </p:sp>
      <p:sp>
        <p:nvSpPr>
          <p:cNvPr id="22" name="Shape 20"/>
          <p:cNvSpPr/>
          <p:nvPr/>
        </p:nvSpPr>
        <p:spPr>
          <a:xfrm>
            <a:off x="4736592" y="1755648"/>
            <a:ext cx="1280160" cy="219456"/>
          </a:xfrm>
          <a:prstGeom prst="rect">
            <a:avLst/>
          </a:prstGeom>
          <a:solidFill>
            <a:srgbClr val="0E6B78"/>
          </a:solidFill>
          <a:ln w="12700">
            <a:solidFill>
              <a:srgbClr val="0E6B78"/>
            </a:solidFill>
            <a:prstDash val="solid"/>
          </a:ln>
        </p:spPr>
      </p:sp>
      <p:sp>
        <p:nvSpPr>
          <p:cNvPr id="23" name="Text 21"/>
          <p:cNvSpPr/>
          <p:nvPr/>
        </p:nvSpPr>
        <p:spPr>
          <a:xfrm>
            <a:off x="4736592" y="1755648"/>
            <a:ext cx="1280160"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Weeks 3–5</a:t>
            </a:r>
            <a:endParaRPr lang="en-US" sz="1000" dirty="0"/>
          </a:p>
        </p:txBody>
      </p:sp>
      <p:sp>
        <p:nvSpPr>
          <p:cNvPr id="24" name="Text 22"/>
          <p:cNvSpPr/>
          <p:nvPr/>
        </p:nvSpPr>
        <p:spPr>
          <a:xfrm>
            <a:off x="4736592" y="2066544"/>
            <a:ext cx="1920240" cy="2724912"/>
          </a:xfrm>
          <a:prstGeom prst="rect">
            <a:avLst/>
          </a:prstGeom>
          <a:noFill/>
          <a:ln/>
        </p:spPr>
        <p:txBody>
          <a:bodyPr wrap="square" lIns="0" tIns="0" rIns="0" bIns="0" rtlCol="0" anchor="ctr"/>
          <a:lstStyle/>
          <a:p>
            <a:pPr marL="342900" indent="-342900">
              <a:buSzPct val="100000"/>
              <a:buChar char="•"/>
            </a:pPr>
            <a:r>
              <a:rPr lang="en-US" sz="1000" dirty="0">
                <a:solidFill>
                  <a:srgbClr val="1A2B2C"/>
                </a:solidFill>
                <a:latin typeface="Calibri" pitchFamily="34" charset="0"/>
                <a:ea typeface="Calibri" pitchFamily="34" charset="-122"/>
                <a:cs typeface="Calibri" pitchFamily="34" charset="-120"/>
              </a:rPr>
              <a:t>Design utility templates (Arabic + English)</a:t>
            </a:r>
            <a:endParaRPr lang="en-US" sz="1000" dirty="0"/>
          </a:p>
          <a:p>
            <a:pPr marL="342900" indent="-342900">
              <a:buSzPct val="100000"/>
              <a:buChar char="•"/>
            </a:pPr>
            <a:r>
              <a:rPr lang="en-US" sz="1000" dirty="0">
                <a:solidFill>
                  <a:srgbClr val="1A2B2C"/>
                </a:solidFill>
                <a:latin typeface="Calibri" pitchFamily="34" charset="0"/>
                <a:ea typeface="Calibri" pitchFamily="34" charset="-122"/>
                <a:cs typeface="Calibri" pitchFamily="34" charset="-120"/>
              </a:rPr>
              <a:t>Submit via Meta Business Manager</a:t>
            </a:r>
            <a:endParaRPr lang="en-US" sz="1000" dirty="0"/>
          </a:p>
          <a:p>
            <a:pPr marL="342900" indent="-342900">
              <a:buSzPct val="100000"/>
              <a:buChar char="•"/>
            </a:pPr>
            <a:r>
              <a:rPr lang="en-US" sz="1000" dirty="0">
                <a:solidFill>
                  <a:srgbClr val="1A2B2C"/>
                </a:solidFill>
                <a:latin typeface="Calibri" pitchFamily="34" charset="0"/>
                <a:ea typeface="Calibri" pitchFamily="34" charset="-122"/>
                <a:cs typeface="Calibri" pitchFamily="34" charset="-120"/>
              </a:rPr>
              <a:t>Template: lab result ready + patient name</a:t>
            </a:r>
            <a:endParaRPr lang="en-US" sz="1000" dirty="0"/>
          </a:p>
          <a:p>
            <a:pPr marL="342900" indent="-342900">
              <a:buSzPct val="100000"/>
              <a:buChar char="•"/>
            </a:pPr>
            <a:r>
              <a:rPr lang="en-US" sz="1000" dirty="0">
                <a:solidFill>
                  <a:srgbClr val="1A2B2C"/>
                </a:solidFill>
                <a:latin typeface="Calibri" pitchFamily="34" charset="0"/>
                <a:ea typeface="Calibri" pitchFamily="34" charset="-122"/>
                <a:cs typeface="Calibri" pitchFamily="34" charset="-120"/>
              </a:rPr>
              <a:t>Template: PDF link for result download</a:t>
            </a:r>
            <a:endParaRPr lang="en-US" sz="1000" dirty="0"/>
          </a:p>
          <a:p>
            <a:pPr marL="342900" indent="-342900">
              <a:buSzPct val="100000"/>
              <a:buChar char="•"/>
            </a:pPr>
            <a:r>
              <a:rPr lang="en-US" sz="1000" dirty="0">
                <a:solidFill>
                  <a:srgbClr val="1A2B2C"/>
                </a:solidFill>
                <a:latin typeface="Calibri" pitchFamily="34" charset="0"/>
                <a:ea typeface="Calibri" pitchFamily="34" charset="-122"/>
                <a:cs typeface="Calibri" pitchFamily="34" charset="-120"/>
              </a:rPr>
              <a:t>Approval timeline: 24–48 hours</a:t>
            </a:r>
            <a:endParaRPr lang="en-US" sz="1000" dirty="0"/>
          </a:p>
          <a:p>
            <a:pPr marL="342900" indent="-342900">
              <a:buSzPct val="100000"/>
              <a:buChar char="•"/>
            </a:pPr>
            <a:r>
              <a:rPr lang="en-US" sz="1000" dirty="0">
                <a:solidFill>
                  <a:srgbClr val="1A2B2C"/>
                </a:solidFill>
                <a:latin typeface="Calibri" pitchFamily="34" charset="0"/>
                <a:ea typeface="Calibri" pitchFamily="34" charset="-122"/>
                <a:cs typeface="Calibri" pitchFamily="34" charset="-120"/>
              </a:rPr>
              <a:t>Build versioning workflow</a:t>
            </a:r>
            <a:endParaRPr lang="en-US" sz="1000" dirty="0"/>
          </a:p>
        </p:txBody>
      </p:sp>
      <p:sp>
        <p:nvSpPr>
          <p:cNvPr id="25" name="Shape 23"/>
          <p:cNvSpPr/>
          <p:nvPr/>
        </p:nvSpPr>
        <p:spPr>
          <a:xfrm>
            <a:off x="6867144" y="987552"/>
            <a:ext cx="2057400" cy="3858768"/>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7000"/>
              </a:srgbClr>
            </a:outerShdw>
          </a:effectLst>
        </p:spPr>
      </p:sp>
      <p:sp>
        <p:nvSpPr>
          <p:cNvPr id="26" name="Shape 24"/>
          <p:cNvSpPr/>
          <p:nvPr/>
        </p:nvSpPr>
        <p:spPr>
          <a:xfrm>
            <a:off x="6867144" y="987552"/>
            <a:ext cx="2057400" cy="128016"/>
          </a:xfrm>
          <a:prstGeom prst="rect">
            <a:avLst/>
          </a:prstGeom>
          <a:solidFill>
            <a:srgbClr val="021C1E"/>
          </a:solidFill>
          <a:ln w="12700">
            <a:solidFill>
              <a:srgbClr val="021C1E"/>
            </a:solidFill>
            <a:prstDash val="solid"/>
          </a:ln>
        </p:spPr>
      </p:sp>
      <p:sp>
        <p:nvSpPr>
          <p:cNvPr id="27" name="Text 25"/>
          <p:cNvSpPr/>
          <p:nvPr/>
        </p:nvSpPr>
        <p:spPr>
          <a:xfrm>
            <a:off x="6958584" y="1152144"/>
            <a:ext cx="1874520" cy="237744"/>
          </a:xfrm>
          <a:prstGeom prst="rect">
            <a:avLst/>
          </a:prstGeom>
          <a:noFill/>
          <a:ln/>
        </p:spPr>
        <p:txBody>
          <a:bodyPr wrap="square" lIns="0" tIns="0" rIns="0" bIns="0" rtlCol="0" anchor="ctr"/>
          <a:lstStyle/>
          <a:p>
            <a:pPr indent="0" marL="0">
              <a:buNone/>
            </a:pPr>
            <a:r>
              <a:rPr lang="en-US" sz="1000" b="1" spc="100" kern="0" dirty="0">
                <a:solidFill>
                  <a:srgbClr val="021C1E"/>
                </a:solidFill>
                <a:latin typeface="Calibri" pitchFamily="34" charset="0"/>
                <a:ea typeface="Calibri" pitchFamily="34" charset="-122"/>
                <a:cs typeface="Calibri" pitchFamily="34" charset="-120"/>
              </a:rPr>
              <a:t>Phase 4</a:t>
            </a:r>
            <a:endParaRPr lang="en-US" sz="1000" dirty="0"/>
          </a:p>
        </p:txBody>
      </p:sp>
      <p:sp>
        <p:nvSpPr>
          <p:cNvPr id="28" name="Text 26"/>
          <p:cNvSpPr/>
          <p:nvPr/>
        </p:nvSpPr>
        <p:spPr>
          <a:xfrm>
            <a:off x="6958584" y="1371600"/>
            <a:ext cx="1874520" cy="347472"/>
          </a:xfrm>
          <a:prstGeom prst="rect">
            <a:avLst/>
          </a:prstGeom>
          <a:noFill/>
          <a:ln/>
        </p:spPr>
        <p:txBody>
          <a:bodyPr wrap="square" lIns="0" tIns="0" rIns="0" bIns="0" rtlCol="0" anchor="ctr"/>
          <a:lstStyle/>
          <a:p>
            <a:pPr indent="0" marL="0">
              <a:buNone/>
            </a:pPr>
            <a:r>
              <a:rPr lang="en-US" sz="1500" b="1" dirty="0">
                <a:solidFill>
                  <a:srgbClr val="1A2B2C"/>
                </a:solidFill>
                <a:latin typeface="Calibri" pitchFamily="34" charset="0"/>
                <a:ea typeface="Calibri" pitchFamily="34" charset="-122"/>
                <a:cs typeface="Calibri" pitchFamily="34" charset="-120"/>
              </a:rPr>
              <a:t>Production Build</a:t>
            </a:r>
            <a:endParaRPr lang="en-US" sz="1500" dirty="0"/>
          </a:p>
        </p:txBody>
      </p:sp>
      <p:sp>
        <p:nvSpPr>
          <p:cNvPr id="29" name="Shape 27"/>
          <p:cNvSpPr/>
          <p:nvPr/>
        </p:nvSpPr>
        <p:spPr>
          <a:xfrm>
            <a:off x="6958584" y="1755648"/>
            <a:ext cx="1280160" cy="219456"/>
          </a:xfrm>
          <a:prstGeom prst="rect">
            <a:avLst/>
          </a:prstGeom>
          <a:solidFill>
            <a:srgbClr val="021C1E"/>
          </a:solidFill>
          <a:ln w="12700">
            <a:solidFill>
              <a:srgbClr val="021C1E"/>
            </a:solidFill>
            <a:prstDash val="solid"/>
          </a:ln>
        </p:spPr>
      </p:sp>
      <p:sp>
        <p:nvSpPr>
          <p:cNvPr id="30" name="Text 28"/>
          <p:cNvSpPr/>
          <p:nvPr/>
        </p:nvSpPr>
        <p:spPr>
          <a:xfrm>
            <a:off x="6958584" y="1755648"/>
            <a:ext cx="1280160"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Weeks 4–8</a:t>
            </a:r>
            <a:endParaRPr lang="en-US" sz="1000" dirty="0"/>
          </a:p>
        </p:txBody>
      </p:sp>
      <p:sp>
        <p:nvSpPr>
          <p:cNvPr id="31" name="Text 29"/>
          <p:cNvSpPr/>
          <p:nvPr/>
        </p:nvSpPr>
        <p:spPr>
          <a:xfrm>
            <a:off x="6958584" y="2066544"/>
            <a:ext cx="1920240" cy="2724912"/>
          </a:xfrm>
          <a:prstGeom prst="rect">
            <a:avLst/>
          </a:prstGeom>
          <a:noFill/>
          <a:ln/>
        </p:spPr>
        <p:txBody>
          <a:bodyPr wrap="square" lIns="0" tIns="0" rIns="0" bIns="0" rtlCol="0" anchor="ctr"/>
          <a:lstStyle/>
          <a:p>
            <a:pPr marL="342900" indent="-342900">
              <a:buSzPct val="100000"/>
              <a:buChar char="•"/>
            </a:pPr>
            <a:r>
              <a:rPr lang="en-US" sz="1000" dirty="0">
                <a:solidFill>
                  <a:srgbClr val="1A2B2C"/>
                </a:solidFill>
                <a:latin typeface="Calibri" pitchFamily="34" charset="0"/>
                <a:ea typeface="Calibri" pitchFamily="34" charset="-122"/>
                <a:cs typeface="Calibri" pitchFamily="34" charset="-120"/>
              </a:rPr>
              <a:t>Backend: Node/Python/Go + REST calls</a:t>
            </a:r>
            <a:endParaRPr lang="en-US" sz="1000" dirty="0"/>
          </a:p>
          <a:p>
            <a:pPr marL="342900" indent="-342900">
              <a:buSzPct val="100000"/>
              <a:buChar char="•"/>
            </a:pPr>
            <a:r>
              <a:rPr lang="en-US" sz="1000" dirty="0">
                <a:solidFill>
                  <a:srgbClr val="1A2B2C"/>
                </a:solidFill>
                <a:latin typeface="Calibri" pitchFamily="34" charset="0"/>
                <a:ea typeface="Calibri" pitchFamily="34" charset="-122"/>
                <a:cs typeface="Calibri" pitchFamily="34" charset="-120"/>
              </a:rPr>
              <a:t>Webhook: delivery receipts + reply handling</a:t>
            </a:r>
            <a:endParaRPr lang="en-US" sz="1000" dirty="0"/>
          </a:p>
          <a:p>
            <a:pPr marL="342900" indent="-342900">
              <a:buSzPct val="100000"/>
              <a:buChar char="•"/>
            </a:pPr>
            <a:r>
              <a:rPr lang="en-US" sz="1000" dirty="0">
                <a:solidFill>
                  <a:srgbClr val="1A2B2C"/>
                </a:solidFill>
                <a:latin typeface="Calibri" pitchFamily="34" charset="0"/>
                <a:ea typeface="Calibri" pitchFamily="34" charset="-122"/>
                <a:cs typeface="Calibri" pitchFamily="34" charset="-120"/>
              </a:rPr>
              <a:t>Redis queue: rate limiting + retry logic</a:t>
            </a:r>
            <a:endParaRPr lang="en-US" sz="1000" dirty="0"/>
          </a:p>
          <a:p>
            <a:pPr marL="342900" indent="-342900">
              <a:buSzPct val="100000"/>
              <a:buChar char="•"/>
            </a:pPr>
            <a:r>
              <a:rPr lang="en-US" sz="1000" dirty="0">
                <a:solidFill>
                  <a:srgbClr val="1A2B2C"/>
                </a:solidFill>
                <a:latin typeface="Calibri" pitchFamily="34" charset="0"/>
                <a:ea typeface="Calibri" pitchFamily="34" charset="-122"/>
                <a:cs typeface="Calibri" pitchFamily="34" charset="-120"/>
              </a:rPr>
              <a:t>VPS: $20/month + SSL + uptime monitoring</a:t>
            </a:r>
            <a:endParaRPr lang="en-US" sz="1000" dirty="0"/>
          </a:p>
          <a:p>
            <a:pPr marL="342900" indent="-342900">
              <a:buSzPct val="100000"/>
              <a:buChar char="•"/>
            </a:pPr>
            <a:r>
              <a:rPr lang="en-US" sz="1000" dirty="0">
                <a:solidFill>
                  <a:srgbClr val="1A2B2C"/>
                </a:solidFill>
                <a:latin typeface="Calibri" pitchFamily="34" charset="0"/>
                <a:ea typeface="Calibri" pitchFamily="34" charset="-122"/>
                <a:cs typeface="Calibri" pitchFamily="34" charset="-120"/>
              </a:rPr>
              <a:t>Fallback: SMS if WA delivery fails in 30m</a:t>
            </a:r>
            <a:endParaRPr lang="en-US" sz="1000" dirty="0"/>
          </a:p>
          <a:p>
            <a:pPr marL="342900" indent="-342900">
              <a:buSzPct val="100000"/>
              <a:buChar char="•"/>
            </a:pPr>
            <a:r>
              <a:rPr lang="en-US" sz="1000" dirty="0">
                <a:solidFill>
                  <a:srgbClr val="1A2B2C"/>
                </a:solidFill>
                <a:latin typeface="Calibri" pitchFamily="34" charset="0"/>
                <a:ea typeface="Calibri" pitchFamily="34" charset="-122"/>
                <a:cs typeface="Calibri" pitchFamily="34" charset="-120"/>
              </a:rPr>
              <a:t>Load test at 500 msg/day before go-live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8229600" cy="438912"/>
          </a:xfrm>
          <a:prstGeom prst="rect">
            <a:avLst/>
          </a:prstGeom>
          <a:noFill/>
          <a:ln/>
        </p:spPr>
        <p:txBody>
          <a:bodyPr wrap="square" lIns="0" tIns="0" rIns="0" bIns="0" rtlCol="0" anchor="ctr"/>
          <a:lstStyle/>
          <a:p>
            <a:pPr indent="0" marL="0">
              <a:buNone/>
            </a:pPr>
            <a:r>
              <a:rPr lang="en-US" sz="2600" b="1" dirty="0">
                <a:solidFill>
                  <a:srgbClr val="028090"/>
                </a:solidFill>
                <a:latin typeface="Calibri" pitchFamily="34" charset="0"/>
                <a:ea typeface="Calibri" pitchFamily="34" charset="-122"/>
                <a:cs typeface="Calibri" pitchFamily="34" charset="-120"/>
              </a:rPr>
              <a:t>Recommended Architecture</a:t>
            </a:r>
            <a:endParaRPr lang="en-US" sz="2600" dirty="0"/>
          </a:p>
        </p:txBody>
      </p:sp>
      <p:sp>
        <p:nvSpPr>
          <p:cNvPr id="3" name="Text 1"/>
          <p:cNvSpPr/>
          <p:nvPr/>
        </p:nvSpPr>
        <p:spPr>
          <a:xfrm>
            <a:off x="457200" y="566928"/>
            <a:ext cx="8229600" cy="256032"/>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Meta Cloud API integration · Egyptian medical lab system · 500 messages/day</a:t>
            </a:r>
            <a:endParaRPr lang="en-US" sz="1100" dirty="0"/>
          </a:p>
        </p:txBody>
      </p:sp>
      <p:sp>
        <p:nvSpPr>
          <p:cNvPr id="4" name="Shape 2"/>
          <p:cNvSpPr/>
          <p:nvPr/>
        </p:nvSpPr>
        <p:spPr>
          <a:xfrm>
            <a:off x="137160" y="2057400"/>
            <a:ext cx="1572768" cy="1005840"/>
          </a:xfrm>
          <a:prstGeom prst="rect">
            <a:avLst/>
          </a:prstGeom>
          <a:solidFill>
            <a:srgbClr val="E0F2F4"/>
          </a:solidFill>
          <a:ln w="12700">
            <a:solidFill>
              <a:srgbClr val="00A896"/>
            </a:solidFill>
            <a:prstDash val="solid"/>
          </a:ln>
          <a:effectLst>
            <a:outerShdw sx="100000" sy="100000" kx="0" ky="0" algn="bl" rotWithShape="0" blurRad="63500" dist="25400" dir="8100000">
              <a:srgbClr val="000000">
                <a:alpha val="7000"/>
              </a:srgbClr>
            </a:outerShdw>
          </a:effectLst>
        </p:spPr>
      </p:sp>
      <p:sp>
        <p:nvSpPr>
          <p:cNvPr id="5" name="Text 3"/>
          <p:cNvSpPr/>
          <p:nvPr/>
        </p:nvSpPr>
        <p:spPr>
          <a:xfrm>
            <a:off x="210312" y="2148840"/>
            <a:ext cx="1426464" cy="502920"/>
          </a:xfrm>
          <a:prstGeom prst="rect">
            <a:avLst/>
          </a:prstGeom>
          <a:noFill/>
          <a:ln/>
        </p:spPr>
        <p:txBody>
          <a:bodyPr wrap="square" lIns="0" tIns="0" rIns="0" bIns="0" rtlCol="0" anchor="ctr"/>
          <a:lstStyle/>
          <a:p>
            <a:pPr algn="ctr" indent="0" marL="0">
              <a:buNone/>
            </a:pPr>
            <a:r>
              <a:rPr lang="en-US" sz="1000" b="1" dirty="0">
                <a:solidFill>
                  <a:srgbClr val="1A2B2C"/>
                </a:solidFill>
                <a:latin typeface="Calibri" pitchFamily="34" charset="0"/>
                <a:ea typeface="Calibri" pitchFamily="34" charset="-122"/>
                <a:cs typeface="Calibri" pitchFamily="34" charset="-120"/>
              </a:rPr>
              <a:t>Lab System</a:t>
            </a:r>
            <a:endParaRPr lang="en-US" sz="1000" dirty="0"/>
          </a:p>
          <a:p>
            <a:pPr algn="ctr" indent="0" marL="0">
              <a:buNone/>
            </a:pPr>
            <a:r>
              <a:rPr lang="en-US" sz="1000" b="1" dirty="0">
                <a:solidFill>
                  <a:srgbClr val="1A2B2C"/>
                </a:solidFill>
                <a:latin typeface="Calibri" pitchFamily="34" charset="0"/>
                <a:ea typeface="Calibri" pitchFamily="34" charset="-122"/>
                <a:cs typeface="Calibri" pitchFamily="34" charset="-120"/>
              </a:rPr>
              <a:t>(LIS)</a:t>
            </a:r>
            <a:endParaRPr lang="en-US" sz="1000" dirty="0"/>
          </a:p>
        </p:txBody>
      </p:sp>
      <p:sp>
        <p:nvSpPr>
          <p:cNvPr id="6" name="Text 4"/>
          <p:cNvSpPr/>
          <p:nvPr/>
        </p:nvSpPr>
        <p:spPr>
          <a:xfrm>
            <a:off x="192024" y="2660904"/>
            <a:ext cx="1463040" cy="329184"/>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Result ready event</a:t>
            </a:r>
            <a:endParaRPr lang="en-US" sz="800" dirty="0"/>
          </a:p>
        </p:txBody>
      </p:sp>
      <p:sp>
        <p:nvSpPr>
          <p:cNvPr id="7" name="Shape 5"/>
          <p:cNvSpPr/>
          <p:nvPr/>
        </p:nvSpPr>
        <p:spPr>
          <a:xfrm>
            <a:off x="1965960" y="2057400"/>
            <a:ext cx="1719072" cy="1005840"/>
          </a:xfrm>
          <a:prstGeom prst="rect">
            <a:avLst/>
          </a:prstGeom>
          <a:solidFill>
            <a:srgbClr val="E0F2F4"/>
          </a:solidFill>
          <a:ln w="12700">
            <a:solidFill>
              <a:srgbClr val="028090"/>
            </a:solidFill>
            <a:prstDash val="solid"/>
          </a:ln>
          <a:effectLst>
            <a:outerShdw sx="100000" sy="100000" kx="0" ky="0" algn="bl" rotWithShape="0" blurRad="63500" dist="25400" dir="8100000">
              <a:srgbClr val="000000">
                <a:alpha val="7000"/>
              </a:srgbClr>
            </a:outerShdw>
          </a:effectLst>
        </p:spPr>
      </p:sp>
      <p:sp>
        <p:nvSpPr>
          <p:cNvPr id="8" name="Text 6"/>
          <p:cNvSpPr/>
          <p:nvPr/>
        </p:nvSpPr>
        <p:spPr>
          <a:xfrm>
            <a:off x="2039112" y="2148840"/>
            <a:ext cx="1572768" cy="502920"/>
          </a:xfrm>
          <a:prstGeom prst="rect">
            <a:avLst/>
          </a:prstGeom>
          <a:noFill/>
          <a:ln/>
        </p:spPr>
        <p:txBody>
          <a:bodyPr wrap="square" lIns="0" tIns="0" rIns="0" bIns="0" rtlCol="0" anchor="ctr"/>
          <a:lstStyle/>
          <a:p>
            <a:pPr algn="ctr" indent="0" marL="0">
              <a:buNone/>
            </a:pPr>
            <a:r>
              <a:rPr lang="en-US" sz="1000" b="1" dirty="0">
                <a:solidFill>
                  <a:srgbClr val="1A2B2C"/>
                </a:solidFill>
                <a:latin typeface="Calibri" pitchFamily="34" charset="0"/>
                <a:ea typeface="Calibri" pitchFamily="34" charset="-122"/>
                <a:cs typeface="Calibri" pitchFamily="34" charset="-120"/>
              </a:rPr>
              <a:t>Backend Service</a:t>
            </a:r>
            <a:endParaRPr lang="en-US" sz="1000" dirty="0"/>
          </a:p>
          <a:p>
            <a:pPr algn="ctr" indent="0" marL="0">
              <a:buNone/>
            </a:pPr>
            <a:r>
              <a:rPr lang="en-US" sz="1000" b="1" dirty="0">
                <a:solidFill>
                  <a:srgbClr val="1A2B2C"/>
                </a:solidFill>
                <a:latin typeface="Calibri" pitchFamily="34" charset="0"/>
                <a:ea typeface="Calibri" pitchFamily="34" charset="-122"/>
                <a:cs typeface="Calibri" pitchFamily="34" charset="-120"/>
              </a:rPr>
              <a:t>(Node/Go/Python)</a:t>
            </a:r>
            <a:endParaRPr lang="en-US" sz="1000" dirty="0"/>
          </a:p>
        </p:txBody>
      </p:sp>
      <p:sp>
        <p:nvSpPr>
          <p:cNvPr id="9" name="Text 7"/>
          <p:cNvSpPr/>
          <p:nvPr/>
        </p:nvSpPr>
        <p:spPr>
          <a:xfrm>
            <a:off x="2020824" y="2660904"/>
            <a:ext cx="1609344" cy="329184"/>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Queue + rate limit</a:t>
            </a:r>
            <a:endParaRPr lang="en-US" sz="800" dirty="0"/>
          </a:p>
        </p:txBody>
      </p:sp>
      <p:sp>
        <p:nvSpPr>
          <p:cNvPr id="10" name="Shape 8"/>
          <p:cNvSpPr/>
          <p:nvPr/>
        </p:nvSpPr>
        <p:spPr>
          <a:xfrm>
            <a:off x="2148840" y="3566160"/>
            <a:ext cx="1353312" cy="822960"/>
          </a:xfrm>
          <a:prstGeom prst="rect">
            <a:avLst/>
          </a:prstGeom>
          <a:solidFill>
            <a:srgbClr val="FFF8E1"/>
          </a:solidFill>
          <a:ln w="12700">
            <a:solidFill>
              <a:srgbClr val="F59E0B"/>
            </a:solidFill>
            <a:prstDash val="solid"/>
          </a:ln>
          <a:effectLst>
            <a:outerShdw sx="100000" sy="100000" kx="0" ky="0" algn="bl" rotWithShape="0" blurRad="63500" dist="25400" dir="8100000">
              <a:srgbClr val="000000">
                <a:alpha val="7000"/>
              </a:srgbClr>
            </a:outerShdw>
          </a:effectLst>
        </p:spPr>
      </p:sp>
      <p:sp>
        <p:nvSpPr>
          <p:cNvPr id="11" name="Text 9"/>
          <p:cNvSpPr/>
          <p:nvPr/>
        </p:nvSpPr>
        <p:spPr>
          <a:xfrm>
            <a:off x="2221992" y="3657600"/>
            <a:ext cx="1207008" cy="502920"/>
          </a:xfrm>
          <a:prstGeom prst="rect">
            <a:avLst/>
          </a:prstGeom>
          <a:noFill/>
          <a:ln/>
        </p:spPr>
        <p:txBody>
          <a:bodyPr wrap="square" lIns="0" tIns="0" rIns="0" bIns="0" rtlCol="0" anchor="ctr"/>
          <a:lstStyle/>
          <a:p>
            <a:pPr algn="ctr" indent="0" marL="0">
              <a:buNone/>
            </a:pPr>
            <a:r>
              <a:rPr lang="en-US" sz="1000" b="1" dirty="0">
                <a:solidFill>
                  <a:srgbClr val="1A2B2C"/>
                </a:solidFill>
                <a:latin typeface="Calibri" pitchFamily="34" charset="0"/>
                <a:ea typeface="Calibri" pitchFamily="34" charset="-122"/>
                <a:cs typeface="Calibri" pitchFamily="34" charset="-120"/>
              </a:rPr>
              <a:t>Redis Queue</a:t>
            </a:r>
            <a:endParaRPr lang="en-US" sz="1000" dirty="0"/>
          </a:p>
        </p:txBody>
      </p:sp>
      <p:sp>
        <p:nvSpPr>
          <p:cNvPr id="12" name="Text 10"/>
          <p:cNvSpPr/>
          <p:nvPr/>
        </p:nvSpPr>
        <p:spPr>
          <a:xfrm>
            <a:off x="2203704" y="4169664"/>
            <a:ext cx="1243584" cy="329184"/>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Retry + dedup logic</a:t>
            </a:r>
            <a:endParaRPr lang="en-US" sz="800" dirty="0"/>
          </a:p>
        </p:txBody>
      </p:sp>
      <p:sp>
        <p:nvSpPr>
          <p:cNvPr id="13" name="Shape 11"/>
          <p:cNvSpPr/>
          <p:nvPr/>
        </p:nvSpPr>
        <p:spPr>
          <a:xfrm>
            <a:off x="3913632" y="2057400"/>
            <a:ext cx="1828800" cy="1005840"/>
          </a:xfrm>
          <a:prstGeom prst="rect">
            <a:avLst/>
          </a:prstGeom>
          <a:solidFill>
            <a:srgbClr val="021C1E"/>
          </a:solidFill>
          <a:ln w="12700">
            <a:solidFill>
              <a:srgbClr val="00A896"/>
            </a:solidFill>
            <a:prstDash val="solid"/>
          </a:ln>
          <a:effectLst>
            <a:outerShdw sx="100000" sy="100000" kx="0" ky="0" algn="bl" rotWithShape="0" blurRad="63500" dist="25400" dir="8100000">
              <a:srgbClr val="000000">
                <a:alpha val="7000"/>
              </a:srgbClr>
            </a:outerShdw>
          </a:effectLst>
        </p:spPr>
      </p:sp>
      <p:sp>
        <p:nvSpPr>
          <p:cNvPr id="14" name="Text 12"/>
          <p:cNvSpPr/>
          <p:nvPr/>
        </p:nvSpPr>
        <p:spPr>
          <a:xfrm>
            <a:off x="3986784" y="2148840"/>
            <a:ext cx="1682496"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Meta Cloud API</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(graph.facebook.com)</a:t>
            </a:r>
            <a:endParaRPr lang="en-US" sz="1000" dirty="0"/>
          </a:p>
        </p:txBody>
      </p:sp>
      <p:sp>
        <p:nvSpPr>
          <p:cNvPr id="15" name="Text 13"/>
          <p:cNvSpPr/>
          <p:nvPr/>
        </p:nvSpPr>
        <p:spPr>
          <a:xfrm>
            <a:off x="3968496" y="2660904"/>
            <a:ext cx="1719072" cy="329184"/>
          </a:xfrm>
          <a:prstGeom prst="rect">
            <a:avLst/>
          </a:prstGeom>
          <a:noFill/>
          <a:ln/>
        </p:spPr>
        <p:txBody>
          <a:bodyPr wrap="square" lIns="0" tIns="0" rIns="0" bIns="0"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v21.0/messages</a:t>
            </a:r>
            <a:endParaRPr lang="en-US" sz="800" dirty="0"/>
          </a:p>
        </p:txBody>
      </p:sp>
      <p:sp>
        <p:nvSpPr>
          <p:cNvPr id="16" name="Shape 14"/>
          <p:cNvSpPr/>
          <p:nvPr/>
        </p:nvSpPr>
        <p:spPr>
          <a:xfrm>
            <a:off x="6080760" y="2057400"/>
            <a:ext cx="1627632" cy="1005840"/>
          </a:xfrm>
          <a:prstGeom prst="rect">
            <a:avLst/>
          </a:prstGeom>
          <a:solidFill>
            <a:srgbClr val="E0F2F4"/>
          </a:solidFill>
          <a:ln w="12700">
            <a:solidFill>
              <a:srgbClr val="00A896"/>
            </a:solidFill>
            <a:prstDash val="solid"/>
          </a:ln>
          <a:effectLst>
            <a:outerShdw sx="100000" sy="100000" kx="0" ky="0" algn="bl" rotWithShape="0" blurRad="63500" dist="25400" dir="8100000">
              <a:srgbClr val="000000">
                <a:alpha val="7000"/>
              </a:srgbClr>
            </a:outerShdw>
          </a:effectLst>
        </p:spPr>
      </p:sp>
      <p:sp>
        <p:nvSpPr>
          <p:cNvPr id="17" name="Text 15"/>
          <p:cNvSpPr/>
          <p:nvPr/>
        </p:nvSpPr>
        <p:spPr>
          <a:xfrm>
            <a:off x="6153912" y="2148840"/>
            <a:ext cx="1481328" cy="502920"/>
          </a:xfrm>
          <a:prstGeom prst="rect">
            <a:avLst/>
          </a:prstGeom>
          <a:noFill/>
          <a:ln/>
        </p:spPr>
        <p:txBody>
          <a:bodyPr wrap="square" lIns="0" tIns="0" rIns="0" bIns="0" rtlCol="0" anchor="ctr"/>
          <a:lstStyle/>
          <a:p>
            <a:pPr algn="ctr" indent="0" marL="0">
              <a:buNone/>
            </a:pPr>
            <a:r>
              <a:rPr lang="en-US" sz="1000" b="1" dirty="0">
                <a:solidFill>
                  <a:srgbClr val="1A2B2C"/>
                </a:solidFill>
                <a:latin typeface="Calibri" pitchFamily="34" charset="0"/>
                <a:ea typeface="Calibri" pitchFamily="34" charset="-122"/>
                <a:cs typeface="Calibri" pitchFamily="34" charset="-120"/>
              </a:rPr>
              <a:t>WhatsApp Network</a:t>
            </a:r>
            <a:endParaRPr lang="en-US" sz="1000" dirty="0"/>
          </a:p>
          <a:p>
            <a:pPr algn="ctr" indent="0" marL="0">
              <a:buNone/>
            </a:pPr>
            <a:r>
              <a:rPr lang="en-US" sz="1000" b="1" dirty="0">
                <a:solidFill>
                  <a:srgbClr val="1A2B2C"/>
                </a:solidFill>
                <a:latin typeface="Calibri" pitchFamily="34" charset="0"/>
                <a:ea typeface="Calibri" pitchFamily="34" charset="-122"/>
                <a:cs typeface="Calibri" pitchFamily="34" charset="-120"/>
              </a:rPr>
              <a:t>(Meta Global Infra)</a:t>
            </a:r>
            <a:endParaRPr lang="en-US" sz="1000" dirty="0"/>
          </a:p>
        </p:txBody>
      </p:sp>
      <p:sp>
        <p:nvSpPr>
          <p:cNvPr id="18" name="Text 16"/>
          <p:cNvSpPr/>
          <p:nvPr/>
        </p:nvSpPr>
        <p:spPr>
          <a:xfrm>
            <a:off x="6135624" y="2660904"/>
            <a:ext cx="1517904" cy="329184"/>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99.9%+ uptime</a:t>
            </a:r>
            <a:endParaRPr lang="en-US" sz="800" dirty="0"/>
          </a:p>
        </p:txBody>
      </p:sp>
      <p:sp>
        <p:nvSpPr>
          <p:cNvPr id="19" name="Shape 17"/>
          <p:cNvSpPr/>
          <p:nvPr/>
        </p:nvSpPr>
        <p:spPr>
          <a:xfrm>
            <a:off x="7955280" y="2057400"/>
            <a:ext cx="1078992" cy="1005840"/>
          </a:xfrm>
          <a:prstGeom prst="rect">
            <a:avLst/>
          </a:prstGeom>
          <a:solidFill>
            <a:srgbClr val="E0F2F4"/>
          </a:solidFill>
          <a:ln w="12700">
            <a:solidFill>
              <a:srgbClr val="27AE60"/>
            </a:solidFill>
            <a:prstDash val="solid"/>
          </a:ln>
          <a:effectLst>
            <a:outerShdw sx="100000" sy="100000" kx="0" ky="0" algn="bl" rotWithShape="0" blurRad="63500" dist="25400" dir="8100000">
              <a:srgbClr val="000000">
                <a:alpha val="7000"/>
              </a:srgbClr>
            </a:outerShdw>
          </a:effectLst>
        </p:spPr>
      </p:sp>
      <p:sp>
        <p:nvSpPr>
          <p:cNvPr id="20" name="Text 18"/>
          <p:cNvSpPr/>
          <p:nvPr/>
        </p:nvSpPr>
        <p:spPr>
          <a:xfrm>
            <a:off x="8028432" y="2148840"/>
            <a:ext cx="932688" cy="502920"/>
          </a:xfrm>
          <a:prstGeom prst="rect">
            <a:avLst/>
          </a:prstGeom>
          <a:noFill/>
          <a:ln/>
        </p:spPr>
        <p:txBody>
          <a:bodyPr wrap="square" lIns="0" tIns="0" rIns="0" bIns="0" rtlCol="0" anchor="ctr"/>
          <a:lstStyle/>
          <a:p>
            <a:pPr algn="ctr" indent="0" marL="0">
              <a:buNone/>
            </a:pPr>
            <a:r>
              <a:rPr lang="en-US" sz="1000" b="1" dirty="0">
                <a:solidFill>
                  <a:srgbClr val="1A2B2C"/>
                </a:solidFill>
                <a:latin typeface="Calibri" pitchFamily="34" charset="0"/>
                <a:ea typeface="Calibri" pitchFamily="34" charset="-122"/>
                <a:cs typeface="Calibri" pitchFamily="34" charset="-120"/>
              </a:rPr>
              <a:t>Patient's Phone</a:t>
            </a:r>
            <a:endParaRPr lang="en-US" sz="1000" dirty="0"/>
          </a:p>
        </p:txBody>
      </p:sp>
      <p:sp>
        <p:nvSpPr>
          <p:cNvPr id="21" name="Text 19"/>
          <p:cNvSpPr/>
          <p:nvPr/>
        </p:nvSpPr>
        <p:spPr>
          <a:xfrm>
            <a:off x="8010144" y="2660904"/>
            <a:ext cx="969264" cy="329184"/>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PDF · Link · Text</a:t>
            </a:r>
            <a:endParaRPr lang="en-US" sz="800" dirty="0"/>
          </a:p>
        </p:txBody>
      </p:sp>
      <p:sp>
        <p:nvSpPr>
          <p:cNvPr id="22" name="Shape 20"/>
          <p:cNvSpPr/>
          <p:nvPr/>
        </p:nvSpPr>
        <p:spPr>
          <a:xfrm>
            <a:off x="3913632" y="3566160"/>
            <a:ext cx="1828800" cy="822960"/>
          </a:xfrm>
          <a:prstGeom prst="rect">
            <a:avLst/>
          </a:prstGeom>
          <a:solidFill>
            <a:srgbClr val="F0FFF4"/>
          </a:solidFill>
          <a:ln w="12700">
            <a:solidFill>
              <a:srgbClr val="27AE60"/>
            </a:solidFill>
            <a:prstDash val="solid"/>
          </a:ln>
          <a:effectLst>
            <a:outerShdw sx="100000" sy="100000" kx="0" ky="0" algn="bl" rotWithShape="0" blurRad="63500" dist="25400" dir="8100000">
              <a:srgbClr val="000000">
                <a:alpha val="7000"/>
              </a:srgbClr>
            </a:outerShdw>
          </a:effectLst>
        </p:spPr>
      </p:sp>
      <p:sp>
        <p:nvSpPr>
          <p:cNvPr id="23" name="Text 21"/>
          <p:cNvSpPr/>
          <p:nvPr/>
        </p:nvSpPr>
        <p:spPr>
          <a:xfrm>
            <a:off x="3986784" y="3657600"/>
            <a:ext cx="1682496" cy="502920"/>
          </a:xfrm>
          <a:prstGeom prst="rect">
            <a:avLst/>
          </a:prstGeom>
          <a:noFill/>
          <a:ln/>
        </p:spPr>
        <p:txBody>
          <a:bodyPr wrap="square" lIns="0" tIns="0" rIns="0" bIns="0" rtlCol="0" anchor="ctr"/>
          <a:lstStyle/>
          <a:p>
            <a:pPr algn="ctr" indent="0" marL="0">
              <a:buNone/>
            </a:pPr>
            <a:r>
              <a:rPr lang="en-US" sz="1000" b="1" dirty="0">
                <a:solidFill>
                  <a:srgbClr val="1A2B2C"/>
                </a:solidFill>
                <a:latin typeface="Calibri" pitchFamily="34" charset="0"/>
                <a:ea typeface="Calibri" pitchFamily="34" charset="-122"/>
                <a:cs typeface="Calibri" pitchFamily="34" charset="-120"/>
              </a:rPr>
              <a:t>Webhook Handler</a:t>
            </a:r>
            <a:endParaRPr lang="en-US" sz="1000" dirty="0"/>
          </a:p>
        </p:txBody>
      </p:sp>
      <p:sp>
        <p:nvSpPr>
          <p:cNvPr id="24" name="Text 22"/>
          <p:cNvSpPr/>
          <p:nvPr/>
        </p:nvSpPr>
        <p:spPr>
          <a:xfrm>
            <a:off x="3968496" y="4169664"/>
            <a:ext cx="1719072" cy="329184"/>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Delivery · Read · Reply</a:t>
            </a:r>
            <a:endParaRPr lang="en-US" sz="800" dirty="0"/>
          </a:p>
        </p:txBody>
      </p:sp>
      <p:sp>
        <p:nvSpPr>
          <p:cNvPr id="25" name="Shape 23"/>
          <p:cNvSpPr/>
          <p:nvPr/>
        </p:nvSpPr>
        <p:spPr>
          <a:xfrm>
            <a:off x="1709928" y="2560320"/>
            <a:ext cx="256032" cy="0"/>
          </a:xfrm>
          <a:prstGeom prst="line">
            <a:avLst/>
          </a:prstGeom>
          <a:noFill/>
          <a:ln w="25400">
            <a:solidFill>
              <a:srgbClr val="028090"/>
            </a:solidFill>
            <a:prstDash val="solid"/>
          </a:ln>
        </p:spPr>
      </p:sp>
      <p:sp>
        <p:nvSpPr>
          <p:cNvPr id="26" name="Shape 24"/>
          <p:cNvSpPr/>
          <p:nvPr/>
        </p:nvSpPr>
        <p:spPr>
          <a:xfrm>
            <a:off x="3685032" y="2560320"/>
            <a:ext cx="228600" cy="0"/>
          </a:xfrm>
          <a:prstGeom prst="line">
            <a:avLst/>
          </a:prstGeom>
          <a:noFill/>
          <a:ln w="25400">
            <a:solidFill>
              <a:srgbClr val="028090"/>
            </a:solidFill>
            <a:prstDash val="solid"/>
          </a:ln>
        </p:spPr>
      </p:sp>
      <p:sp>
        <p:nvSpPr>
          <p:cNvPr id="27" name="Shape 25"/>
          <p:cNvSpPr/>
          <p:nvPr/>
        </p:nvSpPr>
        <p:spPr>
          <a:xfrm>
            <a:off x="5879592" y="2560320"/>
            <a:ext cx="201168" cy="0"/>
          </a:xfrm>
          <a:prstGeom prst="line">
            <a:avLst/>
          </a:prstGeom>
          <a:noFill/>
          <a:ln w="25400">
            <a:solidFill>
              <a:srgbClr val="028090"/>
            </a:solidFill>
            <a:prstDash val="solid"/>
          </a:ln>
        </p:spPr>
      </p:sp>
      <p:sp>
        <p:nvSpPr>
          <p:cNvPr id="28" name="Shape 26"/>
          <p:cNvSpPr/>
          <p:nvPr/>
        </p:nvSpPr>
        <p:spPr>
          <a:xfrm>
            <a:off x="7754112" y="2560320"/>
            <a:ext cx="201168" cy="0"/>
          </a:xfrm>
          <a:prstGeom prst="line">
            <a:avLst/>
          </a:prstGeom>
          <a:noFill/>
          <a:ln w="25400">
            <a:solidFill>
              <a:srgbClr val="028090"/>
            </a:solidFill>
            <a:prstDash val="solid"/>
          </a:ln>
        </p:spPr>
      </p:sp>
      <p:sp>
        <p:nvSpPr>
          <p:cNvPr id="29" name="Shape 27"/>
          <p:cNvSpPr/>
          <p:nvPr/>
        </p:nvSpPr>
        <p:spPr>
          <a:xfrm>
            <a:off x="2825496" y="3063240"/>
            <a:ext cx="0" cy="502920"/>
          </a:xfrm>
          <a:prstGeom prst="line">
            <a:avLst/>
          </a:prstGeom>
          <a:noFill/>
          <a:ln w="19050">
            <a:solidFill>
              <a:srgbClr val="F59E0B"/>
            </a:solidFill>
            <a:prstDash val="solid"/>
          </a:ln>
        </p:spPr>
      </p:sp>
      <p:sp>
        <p:nvSpPr>
          <p:cNvPr id="30" name="Shape 28"/>
          <p:cNvSpPr/>
          <p:nvPr/>
        </p:nvSpPr>
        <p:spPr>
          <a:xfrm>
            <a:off x="4828032" y="3063240"/>
            <a:ext cx="0" cy="502920"/>
          </a:xfrm>
          <a:prstGeom prst="line">
            <a:avLst/>
          </a:prstGeom>
          <a:noFill/>
          <a:ln w="19050">
            <a:solidFill>
              <a:srgbClr val="27AE60"/>
            </a:solidFill>
            <a:prstDash val="solid"/>
          </a:ln>
        </p:spPr>
      </p:sp>
      <p:sp>
        <p:nvSpPr>
          <p:cNvPr id="31" name="Shape 29"/>
          <p:cNvSpPr/>
          <p:nvPr/>
        </p:nvSpPr>
        <p:spPr>
          <a:xfrm>
            <a:off x="137160" y="4645152"/>
            <a:ext cx="8869680" cy="365760"/>
          </a:xfrm>
          <a:prstGeom prst="rect">
            <a:avLst/>
          </a:prstGeom>
          <a:solidFill>
            <a:srgbClr val="E0F2F4"/>
          </a:solidFill>
          <a:ln w="12700">
            <a:solidFill>
              <a:srgbClr val="00A896"/>
            </a:solidFill>
            <a:prstDash val="solid"/>
          </a:ln>
        </p:spPr>
      </p:sp>
      <p:sp>
        <p:nvSpPr>
          <p:cNvPr id="32" name="Text 30"/>
          <p:cNvSpPr/>
          <p:nvPr/>
        </p:nvSpPr>
        <p:spPr>
          <a:xfrm>
            <a:off x="228600" y="4663440"/>
            <a:ext cx="8732520" cy="329184"/>
          </a:xfrm>
          <a:prstGeom prst="rect">
            <a:avLst/>
          </a:prstGeom>
          <a:noFill/>
          <a:ln/>
        </p:spPr>
        <p:txBody>
          <a:bodyPr wrap="square" lIns="0" tIns="0" rIns="0" bIns="0" rtlCol="0" anchor="ctr"/>
          <a:lstStyle/>
          <a:p>
            <a:pPr indent="0" marL="0">
              <a:buNone/>
            </a:pPr>
            <a:r>
              <a:rPr lang="en-US" sz="950" b="1" dirty="0">
                <a:solidFill>
                  <a:srgbClr val="028090"/>
                </a:solidFill>
                <a:latin typeface="Calibri" pitchFamily="34" charset="0"/>
                <a:ea typeface="Calibri" pitchFamily="34" charset="-122"/>
                <a:cs typeface="Calibri" pitchFamily="34" charset="-120"/>
              </a:rPr>
              <a:t>KEY COMPONENTS: </a:t>
            </a:r>
            <a:pPr indent="0" marL="0">
              <a:buNone/>
            </a:pPr>
            <a:r>
              <a:rPr lang="en-US" sz="950" dirty="0">
                <a:solidFill>
                  <a:srgbClr val="1A2B2C"/>
                </a:solidFill>
                <a:latin typeface="Calibri" pitchFamily="34" charset="0"/>
                <a:ea typeface="Calibri" pitchFamily="34" charset="-122"/>
                <a:cs typeface="Calibri" pitchFamily="34" charset="-120"/>
              </a:rPr>
              <a:t>Redis queue prevents message flooding (500/day = ~21/hour), handles retry if Meta returns 5xx errors. Webhook handler captures read receipts and triggers SMS fallback if WhatsApp delivery confirmation not received within 30 minutes. System User permanent token stored in environment variables only — never in code.</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21C1E"/>
        </a:solidFill>
      </p:bgPr>
    </p:bg>
    <p:spTree>
      <p:nvGrpSpPr>
        <p:cNvPr id="1" name=""/>
        <p:cNvGrpSpPr/>
        <p:nvPr/>
      </p:nvGrpSpPr>
      <p:grpSpPr>
        <a:xfrm>
          <a:off x="0" y="0"/>
          <a:ext cx="0" cy="0"/>
          <a:chOff x="0" y="0"/>
          <a:chExt cx="0" cy="0"/>
        </a:xfrm>
      </p:grpSpPr>
      <p:sp>
        <p:nvSpPr>
          <p:cNvPr id="2" name="Text 0"/>
          <p:cNvSpPr/>
          <p:nvPr/>
        </p:nvSpPr>
        <p:spPr>
          <a:xfrm>
            <a:off x="457200" y="201168"/>
            <a:ext cx="8229600" cy="475488"/>
          </a:xfrm>
          <a:prstGeom prst="rect">
            <a:avLst/>
          </a:prstGeom>
          <a:noFill/>
          <a:ln/>
        </p:spPr>
        <p:txBody>
          <a:bodyPr wrap="square" lIns="0" tIns="0" rIns="0" bIns="0" rtlCol="0" anchor="ctr"/>
          <a:lstStyle/>
          <a:p>
            <a:pPr indent="0" marL="0">
              <a:buNone/>
            </a:pPr>
            <a:r>
              <a:rPr lang="en-US" sz="2800" b="1" dirty="0">
                <a:solidFill>
                  <a:srgbClr val="00A896"/>
                </a:solidFill>
                <a:latin typeface="Calibri" pitchFamily="34" charset="0"/>
                <a:ea typeface="Calibri" pitchFamily="34" charset="-122"/>
                <a:cs typeface="Calibri" pitchFamily="34" charset="-120"/>
              </a:rPr>
              <a:t>Final Recommendation</a:t>
            </a:r>
            <a:endParaRPr lang="en-US" sz="2800" dirty="0"/>
          </a:p>
        </p:txBody>
      </p:sp>
      <p:sp>
        <p:nvSpPr>
          <p:cNvPr id="3" name="Text 1"/>
          <p:cNvSpPr/>
          <p:nvPr/>
        </p:nvSpPr>
        <p:spPr>
          <a:xfrm>
            <a:off x="457200" y="640080"/>
            <a:ext cx="8229600" cy="27432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Specific guidance for Egyptian medical laboratory · 15,000 transactional messages/month</a:t>
            </a:r>
            <a:endParaRPr lang="en-US" sz="1200" dirty="0"/>
          </a:p>
        </p:txBody>
      </p:sp>
      <p:sp>
        <p:nvSpPr>
          <p:cNvPr id="4" name="Shape 2"/>
          <p:cNvSpPr/>
          <p:nvPr/>
        </p:nvSpPr>
        <p:spPr>
          <a:xfrm>
            <a:off x="365760" y="1024128"/>
            <a:ext cx="8412480" cy="1481328"/>
          </a:xfrm>
          <a:prstGeom prst="rect">
            <a:avLst/>
          </a:prstGeom>
          <a:solidFill>
            <a:srgbClr val="032D30"/>
          </a:solidFill>
          <a:ln w="12700">
            <a:solidFill>
              <a:srgbClr val="00A896"/>
            </a:solidFill>
            <a:prstDash val="solid"/>
          </a:ln>
          <a:effectLst>
            <a:outerShdw sx="100000" sy="100000" kx="0" ky="0" algn="bl" rotWithShape="0" blurRad="101600" dist="38100" dir="8100000">
              <a:srgbClr val="000000">
                <a:alpha val="10000"/>
              </a:srgbClr>
            </a:outerShdw>
          </a:effectLst>
        </p:spPr>
      </p:sp>
      <p:sp>
        <p:nvSpPr>
          <p:cNvPr id="5" name="Text 3"/>
          <p:cNvSpPr/>
          <p:nvPr/>
        </p:nvSpPr>
        <p:spPr>
          <a:xfrm>
            <a:off x="548640" y="1097280"/>
            <a:ext cx="8229600" cy="256032"/>
          </a:xfrm>
          <a:prstGeom prst="rect">
            <a:avLst/>
          </a:prstGeom>
          <a:noFill/>
          <a:ln/>
        </p:spPr>
        <p:txBody>
          <a:bodyPr wrap="square" lIns="0" tIns="0" rIns="0" bIns="0" rtlCol="0" anchor="ctr"/>
          <a:lstStyle/>
          <a:p>
            <a:pPr indent="0" marL="0">
              <a:buNone/>
            </a:pPr>
            <a:r>
              <a:rPr lang="en-US" sz="1000" b="1" spc="300" kern="0" dirty="0">
                <a:solidFill>
                  <a:srgbClr val="00A896"/>
                </a:solidFill>
                <a:latin typeface="Calibri" pitchFamily="34" charset="0"/>
                <a:ea typeface="Calibri" pitchFamily="34" charset="-122"/>
                <a:cs typeface="Calibri" pitchFamily="34" charset="-120"/>
              </a:rPr>
              <a:t>PRIMARY RECOMMENDATION</a:t>
            </a:r>
            <a:endParaRPr lang="en-US" sz="1000" dirty="0"/>
          </a:p>
        </p:txBody>
      </p:sp>
      <p:sp>
        <p:nvSpPr>
          <p:cNvPr id="6" name="Text 4"/>
          <p:cNvSpPr/>
          <p:nvPr/>
        </p:nvSpPr>
        <p:spPr>
          <a:xfrm>
            <a:off x="548640" y="1316736"/>
            <a:ext cx="5760720" cy="475488"/>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Meta WhatsApp Cloud API (Direct)</a:t>
            </a:r>
            <a:endParaRPr lang="en-US" sz="2600" dirty="0"/>
          </a:p>
        </p:txBody>
      </p:sp>
      <p:sp>
        <p:nvSpPr>
          <p:cNvPr id="7" name="Shape 5"/>
          <p:cNvSpPr/>
          <p:nvPr/>
        </p:nvSpPr>
        <p:spPr>
          <a:xfrm>
            <a:off x="6583680" y="1316736"/>
            <a:ext cx="1965960" cy="475488"/>
          </a:xfrm>
          <a:prstGeom prst="roundRect">
            <a:avLst>
              <a:gd name="adj" fmla="val 9615"/>
            </a:avLst>
          </a:prstGeom>
          <a:solidFill>
            <a:srgbClr val="27AE60"/>
          </a:solidFill>
          <a:ln w="12700">
            <a:solidFill>
              <a:srgbClr val="27AE60"/>
            </a:solidFill>
            <a:prstDash val="solid"/>
          </a:ln>
        </p:spPr>
      </p:sp>
      <p:sp>
        <p:nvSpPr>
          <p:cNvPr id="8" name="Text 6"/>
          <p:cNvSpPr/>
          <p:nvPr/>
        </p:nvSpPr>
        <p:spPr>
          <a:xfrm>
            <a:off x="6583680" y="1316736"/>
            <a:ext cx="1965960"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59% COST SAVING</a:t>
            </a:r>
            <a:endParaRPr lang="en-US" sz="1300" dirty="0"/>
          </a:p>
        </p:txBody>
      </p:sp>
      <p:sp>
        <p:nvSpPr>
          <p:cNvPr id="9" name="Text 7"/>
          <p:cNvSpPr/>
          <p:nvPr/>
        </p:nvSpPr>
        <p:spPr>
          <a:xfrm>
            <a:off x="548640" y="1810512"/>
            <a:ext cx="8046720" cy="5486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~3,700 EGP/month  ·  $0 platform fee  ·  Zero ban risk  ·  Full PDF + link support  ·  Official Meta infrastructure</a:t>
            </a:r>
            <a:endParaRPr lang="en-US" sz="1100" dirty="0"/>
          </a:p>
        </p:txBody>
      </p:sp>
      <p:sp>
        <p:nvSpPr>
          <p:cNvPr id="10" name="Text 8"/>
          <p:cNvSpPr/>
          <p:nvPr/>
        </p:nvSpPr>
        <p:spPr>
          <a:xfrm>
            <a:off x="365760" y="2633472"/>
            <a:ext cx="4114800" cy="274320"/>
          </a:xfrm>
          <a:prstGeom prst="rect">
            <a:avLst/>
          </a:prstGeom>
          <a:noFill/>
          <a:ln/>
        </p:spPr>
        <p:txBody>
          <a:bodyPr wrap="square" lIns="0" tIns="0" rIns="0" bIns="0" rtlCol="0" anchor="ctr"/>
          <a:lstStyle/>
          <a:p>
            <a:pPr indent="0" marL="0">
              <a:buNone/>
            </a:pPr>
            <a:r>
              <a:rPr lang="en-US" sz="1200" b="1" dirty="0">
                <a:solidFill>
                  <a:srgbClr val="02C39A"/>
                </a:solidFill>
                <a:latin typeface="Calibri" pitchFamily="34" charset="0"/>
                <a:ea typeface="Calibri" pitchFamily="34" charset="-122"/>
                <a:cs typeface="Calibri" pitchFamily="34" charset="-120"/>
              </a:rPr>
              <a:t>When to choose Meta Cloud API direct:</a:t>
            </a:r>
            <a:endParaRPr lang="en-US" sz="1200" dirty="0"/>
          </a:p>
        </p:txBody>
      </p:sp>
      <p:sp>
        <p:nvSpPr>
          <p:cNvPr id="11" name="Text 9"/>
          <p:cNvSpPr/>
          <p:nvPr/>
        </p:nvSpPr>
        <p:spPr>
          <a:xfrm>
            <a:off x="365760" y="2926080"/>
            <a:ext cx="4114800" cy="1280160"/>
          </a:xfrm>
          <a:prstGeom prst="rect">
            <a:avLst/>
          </a:prstGeom>
          <a:noFill/>
          <a:ln/>
        </p:spPr>
        <p:txBody>
          <a:bodyPr wrap="square" lIns="0" tIns="0" rIns="0" bIns="0" rtlCol="0" anchor="ctr"/>
          <a:lstStyle/>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Your team can manage a Node/Go/Python backend</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You have a clean Facebook account (or a colleague's)</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Cost minimization is top priority alongside reliability</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You want full control with no third-party dependency</a:t>
            </a:r>
            <a:endParaRPr lang="en-US" sz="1100" dirty="0"/>
          </a:p>
        </p:txBody>
      </p:sp>
      <p:sp>
        <p:nvSpPr>
          <p:cNvPr id="12" name="Text 10"/>
          <p:cNvSpPr/>
          <p:nvPr/>
        </p:nvSpPr>
        <p:spPr>
          <a:xfrm>
            <a:off x="4709160" y="2633472"/>
            <a:ext cx="4206240" cy="274320"/>
          </a:xfrm>
          <a:prstGeom prst="rect">
            <a:avLst/>
          </a:prstGeom>
          <a:noFill/>
          <a:ln/>
        </p:spPr>
        <p:txBody>
          <a:bodyPr wrap="square" lIns="0" tIns="0" rIns="0" bIns="0"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If ad ban blocks setup → use 360dialog or WATI:</a:t>
            </a:r>
            <a:endParaRPr lang="en-US" sz="1200" dirty="0"/>
          </a:p>
        </p:txBody>
      </p:sp>
      <p:sp>
        <p:nvSpPr>
          <p:cNvPr id="13" name="Text 11"/>
          <p:cNvSpPr/>
          <p:nvPr/>
        </p:nvSpPr>
        <p:spPr>
          <a:xfrm>
            <a:off x="4709160" y="2926080"/>
            <a:ext cx="4206240" cy="1280160"/>
          </a:xfrm>
          <a:prstGeom prst="rect">
            <a:avLst/>
          </a:prstGeom>
          <a:noFill/>
          <a:ln/>
        </p:spPr>
        <p:txBody>
          <a:bodyPr wrap="square" lIns="0" tIns="0" rIns="0" bIns="0" rtlCol="0" anchor="ctr"/>
          <a:lstStyle/>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Both offer embedded signup — their Meta BSP handles the WABA, bypassing your Business Manager restriction</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360dialog: $59/month extra, no markup on Meta fees, 24/7 engineer support</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WATI: $49/month + 20% Meta markup, but easiest onboarding flow</a:t>
            </a:r>
            <a:endParaRPr lang="en-US" sz="1100" dirty="0"/>
          </a:p>
        </p:txBody>
      </p:sp>
      <p:sp>
        <p:nvSpPr>
          <p:cNvPr id="14" name="Shape 12"/>
          <p:cNvSpPr/>
          <p:nvPr/>
        </p:nvSpPr>
        <p:spPr>
          <a:xfrm>
            <a:off x="365760" y="4407408"/>
            <a:ext cx="8412480" cy="548640"/>
          </a:xfrm>
          <a:prstGeom prst="rect">
            <a:avLst/>
          </a:prstGeom>
          <a:solidFill>
            <a:srgbClr val="2D0A0A"/>
          </a:solidFill>
          <a:ln w="12700">
            <a:solidFill>
              <a:srgbClr val="C0392B"/>
            </a:solidFill>
            <a:prstDash val="solid"/>
          </a:ln>
        </p:spPr>
      </p:sp>
      <p:sp>
        <p:nvSpPr>
          <p:cNvPr id="15" name="Text 13"/>
          <p:cNvSpPr/>
          <p:nvPr/>
        </p:nvSpPr>
        <p:spPr>
          <a:xfrm>
            <a:off x="502920" y="4443984"/>
            <a:ext cx="8229600" cy="493776"/>
          </a:xfrm>
          <a:prstGeom prst="rect">
            <a:avLst/>
          </a:prstGeom>
          <a:noFill/>
          <a:ln/>
        </p:spPr>
        <p:txBody>
          <a:bodyPr wrap="square" lIns="0" tIns="0" rIns="0" bIns="0" rtlCol="0" anchor="ctr"/>
          <a:lstStyle/>
          <a:p>
            <a:pPr indent="0" marL="0">
              <a:buNone/>
            </a:pPr>
            <a:r>
              <a:rPr lang="en-US" sz="1050" b="1" dirty="0">
                <a:solidFill>
                  <a:srgbClr val="C0392B"/>
                </a:solidFill>
                <a:latin typeface="Calibri" pitchFamily="34" charset="0"/>
                <a:ea typeface="Calibri" pitchFamily="34" charset="-122"/>
                <a:cs typeface="Calibri" pitchFamily="34" charset="-120"/>
              </a:rPr>
              <a:t>DO NOT USE: </a:t>
            </a:r>
            <a:pPr indent="0" marL="0">
              <a:buNone/>
            </a:pPr>
            <a:r>
              <a:rPr lang="en-US" sz="1050" dirty="0">
                <a:solidFill>
                  <a:srgbClr val="FFAAAA"/>
                </a:solidFill>
                <a:latin typeface="Calibri" pitchFamily="34" charset="0"/>
                <a:ea typeface="Calibri" pitchFamily="34" charset="-122"/>
                <a:cs typeface="Calibri" pitchFamily="34" charset="-120"/>
              </a:rPr>
              <a:t>Evolution API, WhatsMeow, Baileys, or any unofficial solution. This is a medical business. A ban = lab results don't reach patients. The ~93,000 EGP/year theoretical saving is not worth downtime, patient harm, or legal exposure.</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AFB"/>
        </a:solidFill>
      </p:bgPr>
    </p:bg>
    <p:spTree>
      <p:nvGrpSpPr>
        <p:cNvPr id="1" name=""/>
        <p:cNvGrpSpPr/>
        <p:nvPr/>
      </p:nvGrpSpPr>
      <p:grpSpPr>
        <a:xfrm>
          <a:off x="0" y="0"/>
          <a:ext cx="0" cy="0"/>
          <a:chOff x="0" y="0"/>
          <a:chExt cx="0" cy="0"/>
        </a:xfrm>
      </p:grpSpPr>
      <p:sp>
        <p:nvSpPr>
          <p:cNvPr id="2" name="Text 0"/>
          <p:cNvSpPr/>
          <p:nvPr/>
        </p:nvSpPr>
        <p:spPr>
          <a:xfrm>
            <a:off x="457200" y="164592"/>
            <a:ext cx="8229600" cy="420624"/>
          </a:xfrm>
          <a:prstGeom prst="rect">
            <a:avLst/>
          </a:prstGeom>
          <a:noFill/>
          <a:ln/>
        </p:spPr>
        <p:txBody>
          <a:bodyPr wrap="square" lIns="0" tIns="0" rIns="0" bIns="0" rtlCol="0" anchor="ctr"/>
          <a:lstStyle/>
          <a:p>
            <a:pPr indent="0" marL="0">
              <a:buNone/>
            </a:pPr>
            <a:r>
              <a:rPr lang="en-US" sz="2200" b="1" dirty="0">
                <a:solidFill>
                  <a:srgbClr val="028090"/>
                </a:solidFill>
                <a:latin typeface="Calibri" pitchFamily="34" charset="0"/>
                <a:ea typeface="Calibri" pitchFamily="34" charset="-122"/>
                <a:cs typeface="Calibri" pitchFamily="34" charset="-120"/>
              </a:rPr>
              <a:t>Appendix — Technical Implementation Notes</a:t>
            </a:r>
            <a:endParaRPr lang="en-US" sz="2200" dirty="0"/>
          </a:p>
        </p:txBody>
      </p:sp>
      <p:sp>
        <p:nvSpPr>
          <p:cNvPr id="3" name="Shape 1"/>
          <p:cNvSpPr/>
          <p:nvPr/>
        </p:nvSpPr>
        <p:spPr>
          <a:xfrm>
            <a:off x="274320" y="713232"/>
            <a:ext cx="4206240" cy="310896"/>
          </a:xfrm>
          <a:prstGeom prst="rect">
            <a:avLst/>
          </a:prstGeom>
          <a:solidFill>
            <a:srgbClr val="028090"/>
          </a:solidFill>
          <a:ln w="12700">
            <a:solidFill>
              <a:srgbClr val="028090"/>
            </a:solidFill>
            <a:prstDash val="solid"/>
          </a:ln>
        </p:spPr>
      </p:sp>
      <p:sp>
        <p:nvSpPr>
          <p:cNvPr id="4" name="Text 2"/>
          <p:cNvSpPr/>
          <p:nvPr/>
        </p:nvSpPr>
        <p:spPr>
          <a:xfrm>
            <a:off x="365760" y="731520"/>
            <a:ext cx="40233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Send PDF Document</a:t>
            </a:r>
            <a:endParaRPr lang="en-US" sz="1100" dirty="0"/>
          </a:p>
        </p:txBody>
      </p:sp>
      <p:sp>
        <p:nvSpPr>
          <p:cNvPr id="5" name="Shape 3"/>
          <p:cNvSpPr/>
          <p:nvPr/>
        </p:nvSpPr>
        <p:spPr>
          <a:xfrm>
            <a:off x="274320" y="1024128"/>
            <a:ext cx="4206240" cy="2880360"/>
          </a:xfrm>
          <a:prstGeom prst="rect">
            <a:avLst/>
          </a:prstGeom>
          <a:solidFill>
            <a:srgbClr val="021C1E"/>
          </a:solidFill>
          <a:ln w="12700">
            <a:solidFill>
              <a:srgbClr val="021C1E"/>
            </a:solidFill>
            <a:prstDash val="solid"/>
          </a:ln>
        </p:spPr>
      </p:sp>
      <p:sp>
        <p:nvSpPr>
          <p:cNvPr id="6" name="Text 4"/>
          <p:cNvSpPr/>
          <p:nvPr/>
        </p:nvSpPr>
        <p:spPr>
          <a:xfrm>
            <a:off x="384048" y="1097280"/>
            <a:ext cx="3986784" cy="2743200"/>
          </a:xfrm>
          <a:prstGeom prst="rect">
            <a:avLst/>
          </a:prstGeom>
          <a:noFill/>
          <a:ln/>
        </p:spPr>
        <p:txBody>
          <a:bodyPr wrap="square" lIns="0" tIns="0" rIns="0" bIns="0" rtlCol="0" anchor="ctr"/>
          <a:lstStyle/>
          <a:p>
            <a:pPr indent="0" marL="0">
              <a:buNone/>
            </a:pPr>
            <a:r>
              <a:rPr lang="en-US" sz="900" dirty="0">
                <a:solidFill>
                  <a:srgbClr val="98D8C8"/>
                </a:solidFill>
                <a:latin typeface="Consolas" pitchFamily="34" charset="0"/>
                <a:ea typeface="Consolas" pitchFamily="34" charset="-122"/>
                <a:cs typeface="Consolas" pitchFamily="34" charset="-120"/>
              </a:rPr>
              <a:t>POST /v21.0/{phone_id}/messages</a:t>
            </a:r>
            <a:endParaRPr lang="en-US" sz="900" dirty="0"/>
          </a:p>
          <a:p>
            <a:pPr indent="0" marL="0">
              <a:buNone/>
            </a:pPr>
            <a:r>
              <a:rPr lang="en-US" sz="900" dirty="0">
                <a:solidFill>
                  <a:srgbClr val="98D8C8"/>
                </a:solidFill>
                <a:latin typeface="Consolas" pitchFamily="34" charset="0"/>
                <a:ea typeface="Consolas" pitchFamily="34" charset="-122"/>
                <a:cs typeface="Consolas" pitchFamily="34" charset="-120"/>
              </a:rPr>
              <a:t>Authorization: Bearer {SYSTEM_USER_TOKEN}</a:t>
            </a:r>
            <a:endParaRPr lang="en-US" sz="900" dirty="0"/>
          </a:p>
          <a:p>
            <a:pPr indent="0" marL="0">
              <a:buNone/>
            </a:pPr>
            <a:endParaRPr lang="en-US" sz="900" dirty="0"/>
          </a:p>
          <a:p>
            <a:pPr indent="0" marL="0">
              <a:buNone/>
            </a:pPr>
            <a:r>
              <a:rPr lang="en-US" sz="900" dirty="0">
                <a:solidFill>
                  <a:srgbClr val="98D8C8"/>
                </a:solidFill>
                <a:latin typeface="Consolas" pitchFamily="34" charset="0"/>
                <a:ea typeface="Consolas" pitchFamily="34" charset="-122"/>
                <a:cs typeface="Consolas" pitchFamily="34" charset="-120"/>
              </a:rPr>
              <a:t>{"messaging_product":"whatsapp",</a:t>
            </a:r>
            <a:endParaRPr lang="en-US" sz="900" dirty="0"/>
          </a:p>
          <a:p>
            <a:pPr indent="0" marL="0">
              <a:buNone/>
            </a:pPr>
            <a:r>
              <a:rPr lang="en-US" sz="900" dirty="0">
                <a:solidFill>
                  <a:srgbClr val="98D8C8"/>
                </a:solidFill>
                <a:latin typeface="Consolas" pitchFamily="34" charset="0"/>
                <a:ea typeface="Consolas" pitchFamily="34" charset="-122"/>
                <a:cs typeface="Consolas" pitchFamily="34" charset="-120"/>
              </a:rPr>
              <a:t>  "to": "201XXXXXXXXX",</a:t>
            </a:r>
            <a:endParaRPr lang="en-US" sz="900" dirty="0"/>
          </a:p>
          <a:p>
            <a:pPr indent="0" marL="0">
              <a:buNone/>
            </a:pPr>
            <a:r>
              <a:rPr lang="en-US" sz="900" dirty="0">
                <a:solidFill>
                  <a:srgbClr val="98D8C8"/>
                </a:solidFill>
                <a:latin typeface="Consolas" pitchFamily="34" charset="0"/>
                <a:ea typeface="Consolas" pitchFamily="34" charset="-122"/>
                <a:cs typeface="Consolas" pitchFamily="34" charset="-120"/>
              </a:rPr>
              <a:t>  "type": "document",</a:t>
            </a:r>
            <a:endParaRPr lang="en-US" sz="900" dirty="0"/>
          </a:p>
          <a:p>
            <a:pPr indent="0" marL="0">
              <a:buNone/>
            </a:pPr>
            <a:r>
              <a:rPr lang="en-US" sz="900" dirty="0">
                <a:solidFill>
                  <a:srgbClr val="98D8C8"/>
                </a:solidFill>
                <a:latin typeface="Consolas" pitchFamily="34" charset="0"/>
                <a:ea typeface="Consolas" pitchFamily="34" charset="-122"/>
                <a:cs typeface="Consolas" pitchFamily="34" charset="-120"/>
              </a:rPr>
              <a:t>  "document": {</a:t>
            </a:r>
            <a:endParaRPr lang="en-US" sz="900" dirty="0"/>
          </a:p>
          <a:p>
            <a:pPr indent="0" marL="0">
              <a:buNone/>
            </a:pPr>
            <a:r>
              <a:rPr lang="en-US" sz="900" dirty="0">
                <a:solidFill>
                  <a:srgbClr val="98D8C8"/>
                </a:solidFill>
                <a:latin typeface="Consolas" pitchFamily="34" charset="0"/>
                <a:ea typeface="Consolas" pitchFamily="34" charset="-122"/>
                <a:cs typeface="Consolas" pitchFamily="34" charset="-120"/>
              </a:rPr>
              <a:t>    "link": "https://labs.example.com/result.pdf",</a:t>
            </a:r>
            <a:endParaRPr lang="en-US" sz="900" dirty="0"/>
          </a:p>
          <a:p>
            <a:pPr indent="0" marL="0">
              <a:buNone/>
            </a:pPr>
            <a:r>
              <a:rPr lang="en-US" sz="900" dirty="0">
                <a:solidFill>
                  <a:srgbClr val="98D8C8"/>
                </a:solidFill>
                <a:latin typeface="Consolas" pitchFamily="34" charset="0"/>
                <a:ea typeface="Consolas" pitchFamily="34" charset="-122"/>
                <a:cs typeface="Consolas" pitchFamily="34" charset="-120"/>
              </a:rPr>
              <a:t>    "filename": "Lab_Result_Patient.pdf"</a:t>
            </a:r>
            <a:endParaRPr lang="en-US" sz="900" dirty="0"/>
          </a:p>
          <a:p>
            <a:pPr indent="0" marL="0">
              <a:buNone/>
            </a:pPr>
            <a:r>
              <a:rPr lang="en-US" sz="900" dirty="0">
                <a:solidFill>
                  <a:srgbClr val="98D8C8"/>
                </a:solidFill>
                <a:latin typeface="Consolas" pitchFamily="34" charset="0"/>
                <a:ea typeface="Consolas" pitchFamily="34" charset="-122"/>
                <a:cs typeface="Consolas" pitchFamily="34" charset="-120"/>
              </a:rPr>
              <a:t>  }</a:t>
            </a:r>
            <a:endParaRPr lang="en-US" sz="900" dirty="0"/>
          </a:p>
          <a:p>
            <a:pPr indent="0" marL="0">
              <a:buNone/>
            </a:pPr>
            <a:r>
              <a:rPr lang="en-US" sz="900" dirty="0">
                <a:solidFill>
                  <a:srgbClr val="98D8C8"/>
                </a:solidFill>
                <a:latin typeface="Consolas" pitchFamily="34" charset="0"/>
                <a:ea typeface="Consolas" pitchFamily="34" charset="-122"/>
                <a:cs typeface="Consolas" pitchFamily="34" charset="-120"/>
              </a:rPr>
              <a:t>}</a:t>
            </a:r>
            <a:endParaRPr lang="en-US" sz="900" dirty="0"/>
          </a:p>
        </p:txBody>
      </p:sp>
      <p:sp>
        <p:nvSpPr>
          <p:cNvPr id="7" name="Shape 5"/>
          <p:cNvSpPr/>
          <p:nvPr/>
        </p:nvSpPr>
        <p:spPr>
          <a:xfrm>
            <a:off x="4709160" y="713232"/>
            <a:ext cx="4206240" cy="310896"/>
          </a:xfrm>
          <a:prstGeom prst="rect">
            <a:avLst/>
          </a:prstGeom>
          <a:solidFill>
            <a:srgbClr val="00A896"/>
          </a:solidFill>
          <a:ln w="12700">
            <a:solidFill>
              <a:srgbClr val="00A896"/>
            </a:solidFill>
            <a:prstDash val="solid"/>
          </a:ln>
        </p:spPr>
      </p:sp>
      <p:sp>
        <p:nvSpPr>
          <p:cNvPr id="8" name="Text 6"/>
          <p:cNvSpPr/>
          <p:nvPr/>
        </p:nvSpPr>
        <p:spPr>
          <a:xfrm>
            <a:off x="4800600" y="731520"/>
            <a:ext cx="40233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Utility Template Message</a:t>
            </a:r>
            <a:endParaRPr lang="en-US" sz="1100" dirty="0"/>
          </a:p>
        </p:txBody>
      </p:sp>
      <p:sp>
        <p:nvSpPr>
          <p:cNvPr id="9" name="Shape 7"/>
          <p:cNvSpPr/>
          <p:nvPr/>
        </p:nvSpPr>
        <p:spPr>
          <a:xfrm>
            <a:off x="4709160" y="1024128"/>
            <a:ext cx="4206240" cy="2880360"/>
          </a:xfrm>
          <a:prstGeom prst="rect">
            <a:avLst/>
          </a:prstGeom>
          <a:solidFill>
            <a:srgbClr val="021C1E"/>
          </a:solidFill>
          <a:ln w="12700">
            <a:solidFill>
              <a:srgbClr val="021C1E"/>
            </a:solidFill>
            <a:prstDash val="solid"/>
          </a:ln>
        </p:spPr>
      </p:sp>
      <p:sp>
        <p:nvSpPr>
          <p:cNvPr id="10" name="Text 8"/>
          <p:cNvSpPr/>
          <p:nvPr/>
        </p:nvSpPr>
        <p:spPr>
          <a:xfrm>
            <a:off x="4818888" y="1097280"/>
            <a:ext cx="3986784" cy="2743200"/>
          </a:xfrm>
          <a:prstGeom prst="rect">
            <a:avLst/>
          </a:prstGeom>
          <a:noFill/>
          <a:ln/>
        </p:spPr>
        <p:txBody>
          <a:bodyPr wrap="square" lIns="0" tIns="0" rIns="0" bIns="0" rtlCol="0" anchor="ctr"/>
          <a:lstStyle/>
          <a:p>
            <a:pPr indent="0" marL="0">
              <a:buNone/>
            </a:pPr>
            <a:r>
              <a:rPr lang="en-US" sz="900" dirty="0">
                <a:solidFill>
                  <a:srgbClr val="98D8C8"/>
                </a:solidFill>
                <a:latin typeface="Consolas" pitchFamily="34" charset="0"/>
                <a:ea typeface="Consolas" pitchFamily="34" charset="-122"/>
                <a:cs typeface="Consolas" pitchFamily="34" charset="-120"/>
              </a:rPr>
              <a:t>{"messaging_product":"whatsapp",</a:t>
            </a:r>
            <a:endParaRPr lang="en-US" sz="900" dirty="0"/>
          </a:p>
          <a:p>
            <a:pPr indent="0" marL="0">
              <a:buNone/>
            </a:pPr>
            <a:r>
              <a:rPr lang="en-US" sz="900" dirty="0">
                <a:solidFill>
                  <a:srgbClr val="98D8C8"/>
                </a:solidFill>
                <a:latin typeface="Consolas" pitchFamily="34" charset="0"/>
                <a:ea typeface="Consolas" pitchFamily="34" charset="-122"/>
                <a:cs typeface="Consolas" pitchFamily="34" charset="-120"/>
              </a:rPr>
              <a:t>  "to": "201XXXXXXXXX",</a:t>
            </a:r>
            <a:endParaRPr lang="en-US" sz="900" dirty="0"/>
          </a:p>
          <a:p>
            <a:pPr indent="0" marL="0">
              <a:buNone/>
            </a:pPr>
            <a:r>
              <a:rPr lang="en-US" sz="900" dirty="0">
                <a:solidFill>
                  <a:srgbClr val="98D8C8"/>
                </a:solidFill>
                <a:latin typeface="Consolas" pitchFamily="34" charset="0"/>
                <a:ea typeface="Consolas" pitchFamily="34" charset="-122"/>
                <a:cs typeface="Consolas" pitchFamily="34" charset="-120"/>
              </a:rPr>
              <a:t>  "type": "template",</a:t>
            </a:r>
            <a:endParaRPr lang="en-US" sz="900" dirty="0"/>
          </a:p>
          <a:p>
            <a:pPr indent="0" marL="0">
              <a:buNone/>
            </a:pPr>
            <a:r>
              <a:rPr lang="en-US" sz="900" dirty="0">
                <a:solidFill>
                  <a:srgbClr val="98D8C8"/>
                </a:solidFill>
                <a:latin typeface="Consolas" pitchFamily="34" charset="0"/>
                <a:ea typeface="Consolas" pitchFamily="34" charset="-122"/>
                <a:cs typeface="Consolas" pitchFamily="34" charset="-120"/>
              </a:rPr>
              <a:t>  "template": {</a:t>
            </a:r>
            <a:endParaRPr lang="en-US" sz="900" dirty="0"/>
          </a:p>
          <a:p>
            <a:pPr indent="0" marL="0">
              <a:buNone/>
            </a:pPr>
            <a:r>
              <a:rPr lang="en-US" sz="900" dirty="0">
                <a:solidFill>
                  <a:srgbClr val="98D8C8"/>
                </a:solidFill>
                <a:latin typeface="Consolas" pitchFamily="34" charset="0"/>
                <a:ea typeface="Consolas" pitchFamily="34" charset="-122"/>
                <a:cs typeface="Consolas" pitchFamily="34" charset="-120"/>
              </a:rPr>
              <a:t>    "name": "lab_result_ready",</a:t>
            </a:r>
            <a:endParaRPr lang="en-US" sz="900" dirty="0"/>
          </a:p>
          <a:p>
            <a:pPr indent="0" marL="0">
              <a:buNone/>
            </a:pPr>
            <a:r>
              <a:rPr lang="en-US" sz="900" dirty="0">
                <a:solidFill>
                  <a:srgbClr val="98D8C8"/>
                </a:solidFill>
                <a:latin typeface="Consolas" pitchFamily="34" charset="0"/>
                <a:ea typeface="Consolas" pitchFamily="34" charset="-122"/>
                <a:cs typeface="Consolas" pitchFamily="34" charset="-120"/>
              </a:rPr>
              <a:t>    "language": {"code": "ar"},</a:t>
            </a:r>
            <a:endParaRPr lang="en-US" sz="900" dirty="0"/>
          </a:p>
          <a:p>
            <a:pPr indent="0" marL="0">
              <a:buNone/>
            </a:pPr>
            <a:r>
              <a:rPr lang="en-US" sz="900" dirty="0">
                <a:solidFill>
                  <a:srgbClr val="98D8C8"/>
                </a:solidFill>
                <a:latin typeface="Consolas" pitchFamily="34" charset="0"/>
                <a:ea typeface="Consolas" pitchFamily="34" charset="-122"/>
                <a:cs typeface="Consolas" pitchFamily="34" charset="-120"/>
              </a:rPr>
              <a:t>    "components": [{</a:t>
            </a:r>
            <a:endParaRPr lang="en-US" sz="900" dirty="0"/>
          </a:p>
          <a:p>
            <a:pPr indent="0" marL="0">
              <a:buNone/>
            </a:pPr>
            <a:r>
              <a:rPr lang="en-US" sz="900" dirty="0">
                <a:solidFill>
                  <a:srgbClr val="98D8C8"/>
                </a:solidFill>
                <a:latin typeface="Consolas" pitchFamily="34" charset="0"/>
                <a:ea typeface="Consolas" pitchFamily="34" charset="-122"/>
                <a:cs typeface="Consolas" pitchFamily="34" charset="-120"/>
              </a:rPr>
              <a:t>      "type": "body",</a:t>
            </a:r>
            <a:endParaRPr lang="en-US" sz="900" dirty="0"/>
          </a:p>
          <a:p>
            <a:pPr indent="0" marL="0">
              <a:buNone/>
            </a:pPr>
            <a:r>
              <a:rPr lang="en-US" sz="900" dirty="0">
                <a:solidFill>
                  <a:srgbClr val="98D8C8"/>
                </a:solidFill>
                <a:latin typeface="Consolas" pitchFamily="34" charset="0"/>
                <a:ea typeface="Consolas" pitchFamily="34" charset="-122"/>
                <a:cs typeface="Consolas" pitchFamily="34" charset="-120"/>
              </a:rPr>
              <a:t>      "parameters": [</a:t>
            </a:r>
            <a:endParaRPr lang="en-US" sz="900" dirty="0"/>
          </a:p>
          <a:p>
            <a:pPr indent="0" marL="0">
              <a:buNone/>
            </a:pPr>
            <a:r>
              <a:rPr lang="en-US" sz="900" dirty="0">
                <a:solidFill>
                  <a:srgbClr val="98D8C8"/>
                </a:solidFill>
                <a:latin typeface="Consolas" pitchFamily="34" charset="0"/>
                <a:ea typeface="Consolas" pitchFamily="34" charset="-122"/>
                <a:cs typeface="Consolas" pitchFamily="34" charset="-120"/>
              </a:rPr>
              <a:t>        {"type":"text","text":"Ahmed Ali"}</a:t>
            </a:r>
            <a:endParaRPr lang="en-US" sz="900" dirty="0"/>
          </a:p>
          <a:p>
            <a:pPr indent="0" marL="0">
              <a:buNone/>
            </a:pPr>
            <a:r>
              <a:rPr lang="en-US" sz="900" dirty="0">
                <a:solidFill>
                  <a:srgbClr val="98D8C8"/>
                </a:solidFill>
                <a:latin typeface="Consolas" pitchFamily="34" charset="0"/>
                <a:ea typeface="Consolas" pitchFamily="34" charset="-122"/>
                <a:cs typeface="Consolas" pitchFamily="34" charset="-120"/>
              </a:rPr>
              <a:t>      ]</a:t>
            </a:r>
            <a:endParaRPr lang="en-US" sz="900" dirty="0"/>
          </a:p>
          <a:p>
            <a:pPr indent="0" marL="0">
              <a:buNone/>
            </a:pPr>
            <a:r>
              <a:rPr lang="en-US" sz="900" dirty="0">
                <a:solidFill>
                  <a:srgbClr val="98D8C8"/>
                </a:solidFill>
                <a:latin typeface="Consolas" pitchFamily="34" charset="0"/>
                <a:ea typeface="Consolas" pitchFamily="34" charset="-122"/>
                <a:cs typeface="Consolas" pitchFamily="34" charset="-120"/>
              </a:rPr>
              <a:t>    }]</a:t>
            </a:r>
            <a:endParaRPr lang="en-US" sz="900" dirty="0"/>
          </a:p>
          <a:p>
            <a:pPr indent="0" marL="0">
              <a:buNone/>
            </a:pPr>
            <a:r>
              <a:rPr lang="en-US" sz="900" dirty="0">
                <a:solidFill>
                  <a:srgbClr val="98D8C8"/>
                </a:solidFill>
                <a:latin typeface="Consolas" pitchFamily="34" charset="0"/>
                <a:ea typeface="Consolas" pitchFamily="34" charset="-122"/>
                <a:cs typeface="Consolas" pitchFamily="34" charset="-120"/>
              </a:rPr>
              <a:t>  }</a:t>
            </a:r>
            <a:endParaRPr lang="en-US" sz="900" dirty="0"/>
          </a:p>
          <a:p>
            <a:pPr indent="0" marL="0">
              <a:buNone/>
            </a:pPr>
            <a:r>
              <a:rPr lang="en-US" sz="900" dirty="0">
                <a:solidFill>
                  <a:srgbClr val="98D8C8"/>
                </a:solidFill>
                <a:latin typeface="Consolas" pitchFamily="34" charset="0"/>
                <a:ea typeface="Consolas" pitchFamily="34" charset="-122"/>
                <a:cs typeface="Consolas" pitchFamily="34" charset="-120"/>
              </a:rPr>
              <a:t>}</a:t>
            </a:r>
            <a:endParaRPr lang="en-US" sz="900" dirty="0"/>
          </a:p>
        </p:txBody>
      </p:sp>
      <p:sp>
        <p:nvSpPr>
          <p:cNvPr id="11" name="Text 9"/>
          <p:cNvSpPr/>
          <p:nvPr/>
        </p:nvSpPr>
        <p:spPr>
          <a:xfrm>
            <a:off x="274320" y="4005072"/>
            <a:ext cx="8595360" cy="274320"/>
          </a:xfrm>
          <a:prstGeom prst="rect">
            <a:avLst/>
          </a:prstGeom>
          <a:noFill/>
          <a:ln/>
        </p:spPr>
        <p:txBody>
          <a:bodyPr wrap="square" lIns="0" tIns="0" rIns="0" bIns="0" rtlCol="0" anchor="ctr"/>
          <a:lstStyle/>
          <a:p>
            <a:pPr indent="0" marL="0">
              <a:buNone/>
            </a:pPr>
            <a:r>
              <a:rPr lang="en-US" sz="1200" b="1" dirty="0">
                <a:solidFill>
                  <a:srgbClr val="1A2B2C"/>
                </a:solidFill>
                <a:latin typeface="Calibri" pitchFamily="34" charset="0"/>
                <a:ea typeface="Calibri" pitchFamily="34" charset="-122"/>
                <a:cs typeface="Calibri" pitchFamily="34" charset="-120"/>
              </a:rPr>
              <a:t>Key Production Requirements</a:t>
            </a:r>
            <a:endParaRPr lang="en-US" sz="1200" dirty="0"/>
          </a:p>
        </p:txBody>
      </p:sp>
      <p:sp>
        <p:nvSpPr>
          <p:cNvPr id="12" name="Text 10"/>
          <p:cNvSpPr/>
          <p:nvPr/>
        </p:nvSpPr>
        <p:spPr>
          <a:xfrm>
            <a:off x="274320" y="4297680"/>
            <a:ext cx="8595360" cy="804672"/>
          </a:xfrm>
          <a:prstGeom prst="rect">
            <a:avLst/>
          </a:prstGeom>
          <a:noFill/>
          <a:ln/>
        </p:spPr>
        <p:txBody>
          <a:bodyPr wrap="square" lIns="0" tIns="0" rIns="0" bIns="0" rtlCol="0" anchor="ctr"/>
          <a:lstStyle/>
          <a:p>
            <a:pPr marL="342900" indent="-342900">
              <a:buSzPct val="100000"/>
              <a:buChar char="•"/>
            </a:pPr>
            <a:r>
              <a:rPr lang="en-US" sz="1050" dirty="0">
                <a:solidFill>
                  <a:srgbClr val="1A2B2C"/>
                </a:solidFill>
                <a:latin typeface="Calibri" pitchFamily="34" charset="0"/>
                <a:ea typeface="Calibri" pitchFamily="34" charset="-122"/>
                <a:cs typeface="Calibri" pitchFamily="34" charset="-120"/>
              </a:rPr>
              <a:t>Facebook account: any account works for sandbox — advertising ban only blocks Business Portfolio creation, not developer access or API calls</a:t>
            </a:r>
            <a:endParaRPr lang="en-US" sz="1050" dirty="0"/>
          </a:p>
          <a:p>
            <a:pPr marL="342900" indent="-342900">
              <a:buSzPct val="100000"/>
              <a:buChar char="•"/>
            </a:pPr>
            <a:r>
              <a:rPr lang="en-US" sz="1050" dirty="0">
                <a:solidFill>
                  <a:srgbClr val="1A2B2C"/>
                </a:solidFill>
                <a:latin typeface="Calibri" pitchFamily="34" charset="0"/>
                <a:ea typeface="Calibri" pitchFamily="34" charset="-122"/>
                <a:cs typeface="Calibri" pitchFamily="34" charset="-120"/>
              </a:rPr>
              <a:t>Phone number: must be a fresh number never registered on WhatsApp. New SIM card or VoIP number (Twilio, Vonage) both work.</a:t>
            </a:r>
            <a:endParaRPr lang="en-US" sz="1050" dirty="0"/>
          </a:p>
          <a:p>
            <a:pPr marL="342900" indent="-342900">
              <a:buSzPct val="100000"/>
              <a:buChar char="•"/>
            </a:pPr>
            <a:r>
              <a:rPr lang="en-US" sz="1050" dirty="0">
                <a:solidFill>
                  <a:srgbClr val="1A2B2C"/>
                </a:solidFill>
                <a:latin typeface="Calibri" pitchFamily="34" charset="0"/>
                <a:ea typeface="Calibri" pitchFamily="34" charset="-122"/>
                <a:cs typeface="Calibri" pitchFamily="34" charset="-120"/>
              </a:rPr>
              <a:t>Permanent token: Business Manager → System Users → Generate non-expiring token → store in .env only, never in source code</a:t>
            </a:r>
            <a:endParaRPr lang="en-US" sz="1050" dirty="0"/>
          </a:p>
          <a:p>
            <a:pPr marL="342900" indent="-342900">
              <a:buSzPct val="100000"/>
              <a:buChar char="•"/>
            </a:pPr>
            <a:r>
              <a:rPr lang="en-US" sz="1050" dirty="0">
                <a:solidFill>
                  <a:srgbClr val="1A2B2C"/>
                </a:solidFill>
                <a:latin typeface="Calibri" pitchFamily="34" charset="0"/>
                <a:ea typeface="Calibri" pitchFamily="34" charset="-122"/>
                <a:cs typeface="Calibri" pitchFamily="34" charset="-120"/>
              </a:rPr>
              <a:t>Webhook: must be HTTPS, respond to GET ?hub.challenge within 200ms, handle POST events (delivery, read, reply) within 5 seconds</a:t>
            </a:r>
            <a:endParaRPr lang="en-US" sz="1050" dirty="0"/>
          </a:p>
          <a:p>
            <a:pPr marL="342900" indent="-342900">
              <a:buSzPct val="100000"/>
              <a:buChar char="•"/>
            </a:pPr>
            <a:r>
              <a:rPr lang="en-US" sz="1050" dirty="0">
                <a:solidFill>
                  <a:srgbClr val="1A2B2C"/>
                </a:solidFill>
                <a:latin typeface="Calibri" pitchFamily="34" charset="0"/>
                <a:ea typeface="Calibri" pitchFamily="34" charset="-122"/>
                <a:cs typeface="Calibri" pitchFamily="34" charset="-120"/>
              </a:rPr>
              <a:t>Template approval: submit via Meta Business Manager or Graph API · Arabic templates allowed · Utility approves in 24–48h typically</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21C1E"/>
        </a:solidFill>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032D30"/>
          </a:solidFill>
          <a:ln w="12700">
            <a:solidFill>
              <a:srgbClr val="032D30"/>
            </a:solidFill>
            <a:prstDash val="solid"/>
          </a:ln>
        </p:spPr>
      </p:sp>
      <p:sp>
        <p:nvSpPr>
          <p:cNvPr id="3" name="Shape 1"/>
          <p:cNvSpPr/>
          <p:nvPr/>
        </p:nvSpPr>
        <p:spPr>
          <a:xfrm>
            <a:off x="3200400" y="0"/>
            <a:ext cx="45720" cy="5143500"/>
          </a:xfrm>
          <a:prstGeom prst="rect">
            <a:avLst/>
          </a:prstGeom>
          <a:solidFill>
            <a:srgbClr val="028090"/>
          </a:solidFill>
          <a:ln w="12700">
            <a:solidFill>
              <a:srgbClr val="028090"/>
            </a:solidFill>
            <a:prstDash val="solid"/>
          </a:ln>
        </p:spPr>
      </p:sp>
      <p:sp>
        <p:nvSpPr>
          <p:cNvPr id="4" name="Text 2"/>
          <p:cNvSpPr/>
          <p:nvPr/>
        </p:nvSpPr>
        <p:spPr>
          <a:xfrm>
            <a:off x="182880" y="1645920"/>
            <a:ext cx="2834640" cy="1463040"/>
          </a:xfrm>
          <a:prstGeom prst="rect">
            <a:avLst/>
          </a:prstGeom>
          <a:noFill/>
          <a:ln/>
        </p:spPr>
        <p:txBody>
          <a:bodyPr wrap="square" lIns="0" tIns="0" rIns="0" bIns="0" rtlCol="0" anchor="ctr"/>
          <a:lstStyle/>
          <a:p>
            <a:pPr algn="ctr" indent="0" marL="0">
              <a:buNone/>
            </a:pPr>
            <a:r>
              <a:rPr lang="en-US" sz="3000" b="1" dirty="0">
                <a:solidFill>
                  <a:srgbClr val="00A896"/>
                </a:solidFill>
                <a:latin typeface="Calibri" pitchFamily="34" charset="0"/>
                <a:ea typeface="Calibri" pitchFamily="34" charset="-122"/>
                <a:cs typeface="Calibri" pitchFamily="34" charset="-120"/>
              </a:rPr>
              <a:t>Decision</a:t>
            </a:r>
            <a:endParaRPr lang="en-US" sz="3000" dirty="0"/>
          </a:p>
          <a:p>
            <a:pPr algn="ctr" indent="0" marL="0">
              <a:buNone/>
            </a:pPr>
            <a:r>
              <a:rPr lang="en-US" sz="3000" b="1" dirty="0">
                <a:solidFill>
                  <a:srgbClr val="00A896"/>
                </a:solidFill>
                <a:latin typeface="Calibri" pitchFamily="34" charset="0"/>
                <a:ea typeface="Calibri" pitchFamily="34" charset="-122"/>
                <a:cs typeface="Calibri" pitchFamily="34" charset="-120"/>
              </a:rPr>
              <a:t>Guide</a:t>
            </a:r>
            <a:endParaRPr lang="en-US" sz="3000" dirty="0"/>
          </a:p>
        </p:txBody>
      </p:sp>
      <p:sp>
        <p:nvSpPr>
          <p:cNvPr id="5" name="Text 3"/>
          <p:cNvSpPr/>
          <p:nvPr/>
        </p:nvSpPr>
        <p:spPr>
          <a:xfrm>
            <a:off x="3429000" y="566928"/>
            <a:ext cx="5486400" cy="256032"/>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You have DevOps capacity + clean FB account</a:t>
            </a:r>
            <a:endParaRPr lang="en-US" sz="1100" dirty="0"/>
          </a:p>
        </p:txBody>
      </p:sp>
      <p:sp>
        <p:nvSpPr>
          <p:cNvPr id="6" name="Text 4"/>
          <p:cNvSpPr/>
          <p:nvPr/>
        </p:nvSpPr>
        <p:spPr>
          <a:xfrm>
            <a:off x="3429000" y="804672"/>
            <a:ext cx="548640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Meta Cloud API direct — cheapest at 3,700 EGP/month</a:t>
            </a:r>
            <a:endParaRPr lang="en-US" sz="1150" dirty="0"/>
          </a:p>
        </p:txBody>
      </p:sp>
      <p:sp>
        <p:nvSpPr>
          <p:cNvPr id="7" name="Shape 5"/>
          <p:cNvSpPr/>
          <p:nvPr/>
        </p:nvSpPr>
        <p:spPr>
          <a:xfrm>
            <a:off x="3429000" y="1115568"/>
            <a:ext cx="5394960" cy="18288"/>
          </a:xfrm>
          <a:prstGeom prst="rect">
            <a:avLst/>
          </a:prstGeom>
          <a:solidFill>
            <a:srgbClr val="1A3A3C"/>
          </a:solidFill>
          <a:ln w="12700">
            <a:solidFill>
              <a:srgbClr val="1A3A3C"/>
            </a:solidFill>
            <a:prstDash val="solid"/>
          </a:ln>
        </p:spPr>
      </p:sp>
      <p:sp>
        <p:nvSpPr>
          <p:cNvPr id="8" name="Text 6"/>
          <p:cNvSpPr/>
          <p:nvPr/>
        </p:nvSpPr>
        <p:spPr>
          <a:xfrm>
            <a:off x="3429000" y="1298448"/>
            <a:ext cx="5486400" cy="256032"/>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Ad ban blocks you from Business Manager</a:t>
            </a:r>
            <a:endParaRPr lang="en-US" sz="1100" dirty="0"/>
          </a:p>
        </p:txBody>
      </p:sp>
      <p:sp>
        <p:nvSpPr>
          <p:cNvPr id="9" name="Text 7"/>
          <p:cNvSpPr/>
          <p:nvPr/>
        </p:nvSpPr>
        <p:spPr>
          <a:xfrm>
            <a:off x="3429000" y="1536192"/>
            <a:ext cx="548640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360dialog or WATI embedded signup — they bypass it</a:t>
            </a:r>
            <a:endParaRPr lang="en-US" sz="1150" dirty="0"/>
          </a:p>
        </p:txBody>
      </p:sp>
      <p:sp>
        <p:nvSpPr>
          <p:cNvPr id="10" name="Shape 8"/>
          <p:cNvSpPr/>
          <p:nvPr/>
        </p:nvSpPr>
        <p:spPr>
          <a:xfrm>
            <a:off x="3429000" y="1847088"/>
            <a:ext cx="5394960" cy="18288"/>
          </a:xfrm>
          <a:prstGeom prst="rect">
            <a:avLst/>
          </a:prstGeom>
          <a:solidFill>
            <a:srgbClr val="1A3A3C"/>
          </a:solidFill>
          <a:ln w="12700">
            <a:solidFill>
              <a:srgbClr val="1A3A3C"/>
            </a:solidFill>
            <a:prstDash val="solid"/>
          </a:ln>
        </p:spPr>
      </p:sp>
      <p:sp>
        <p:nvSpPr>
          <p:cNvPr id="11" name="Text 9"/>
          <p:cNvSpPr/>
          <p:nvPr/>
        </p:nvSpPr>
        <p:spPr>
          <a:xfrm>
            <a:off x="3429000" y="2029968"/>
            <a:ext cx="5486400" cy="256032"/>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You need 24/7 managed support</a:t>
            </a:r>
            <a:endParaRPr lang="en-US" sz="1100" dirty="0"/>
          </a:p>
        </p:txBody>
      </p:sp>
      <p:sp>
        <p:nvSpPr>
          <p:cNvPr id="12" name="Text 10"/>
          <p:cNvSpPr/>
          <p:nvPr/>
        </p:nvSpPr>
        <p:spPr>
          <a:xfrm>
            <a:off x="3429000" y="2267712"/>
            <a:ext cx="548640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360dialog — €49/month extra, engineer support, no msg markup</a:t>
            </a:r>
            <a:endParaRPr lang="en-US" sz="1150" dirty="0"/>
          </a:p>
        </p:txBody>
      </p:sp>
      <p:sp>
        <p:nvSpPr>
          <p:cNvPr id="13" name="Shape 11"/>
          <p:cNvSpPr/>
          <p:nvPr/>
        </p:nvSpPr>
        <p:spPr>
          <a:xfrm>
            <a:off x="3429000" y="2578608"/>
            <a:ext cx="5394960" cy="18288"/>
          </a:xfrm>
          <a:prstGeom prst="rect">
            <a:avLst/>
          </a:prstGeom>
          <a:solidFill>
            <a:srgbClr val="1A3A3C"/>
          </a:solidFill>
          <a:ln w="12700">
            <a:solidFill>
              <a:srgbClr val="1A3A3C"/>
            </a:solidFill>
            <a:prstDash val="solid"/>
          </a:ln>
        </p:spPr>
      </p:sp>
      <p:sp>
        <p:nvSpPr>
          <p:cNvPr id="14" name="Text 12"/>
          <p:cNvSpPr/>
          <p:nvPr/>
        </p:nvSpPr>
        <p:spPr>
          <a:xfrm>
            <a:off x="3429000" y="2761488"/>
            <a:ext cx="5486400" cy="256032"/>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You need team inbox for patient replies</a:t>
            </a:r>
            <a:endParaRPr lang="en-US" sz="1100" dirty="0"/>
          </a:p>
        </p:txBody>
      </p:sp>
      <p:sp>
        <p:nvSpPr>
          <p:cNvPr id="15" name="Text 13"/>
          <p:cNvSpPr/>
          <p:nvPr/>
        </p:nvSpPr>
        <p:spPr>
          <a:xfrm>
            <a:off x="3429000" y="2999232"/>
            <a:ext cx="548640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WATI — $49/month, easiest UI, 20% markup on Meta fees</a:t>
            </a:r>
            <a:endParaRPr lang="en-US" sz="1150" dirty="0"/>
          </a:p>
        </p:txBody>
      </p:sp>
      <p:sp>
        <p:nvSpPr>
          <p:cNvPr id="16" name="Shape 14"/>
          <p:cNvSpPr/>
          <p:nvPr/>
        </p:nvSpPr>
        <p:spPr>
          <a:xfrm>
            <a:off x="3429000" y="3310128"/>
            <a:ext cx="5394960" cy="18288"/>
          </a:xfrm>
          <a:prstGeom prst="rect">
            <a:avLst/>
          </a:prstGeom>
          <a:solidFill>
            <a:srgbClr val="1A3A3C"/>
          </a:solidFill>
          <a:ln w="12700">
            <a:solidFill>
              <a:srgbClr val="1A3A3C"/>
            </a:solidFill>
            <a:prstDash val="solid"/>
          </a:ln>
        </p:spPr>
      </p:sp>
      <p:sp>
        <p:nvSpPr>
          <p:cNvPr id="17" name="Text 15"/>
          <p:cNvSpPr/>
          <p:nvPr/>
        </p:nvSpPr>
        <p:spPr>
          <a:xfrm>
            <a:off x="3429000" y="3493008"/>
            <a:ext cx="5486400" cy="256032"/>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You're already on Twilio for other services</a:t>
            </a:r>
            <a:endParaRPr lang="en-US" sz="1100" dirty="0"/>
          </a:p>
        </p:txBody>
      </p:sp>
      <p:sp>
        <p:nvSpPr>
          <p:cNvPr id="18" name="Text 16"/>
          <p:cNvSpPr/>
          <p:nvPr/>
        </p:nvSpPr>
        <p:spPr>
          <a:xfrm>
            <a:off x="3429000" y="3730752"/>
            <a:ext cx="548640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Twilio — consolidated billing, but most expensive per message</a:t>
            </a:r>
            <a:endParaRPr lang="en-US" sz="1150" dirty="0"/>
          </a:p>
        </p:txBody>
      </p:sp>
      <p:sp>
        <p:nvSpPr>
          <p:cNvPr id="19" name="Shape 17"/>
          <p:cNvSpPr/>
          <p:nvPr/>
        </p:nvSpPr>
        <p:spPr>
          <a:xfrm>
            <a:off x="3429000" y="4041648"/>
            <a:ext cx="5394960" cy="18288"/>
          </a:xfrm>
          <a:prstGeom prst="rect">
            <a:avLst/>
          </a:prstGeom>
          <a:solidFill>
            <a:srgbClr val="1A3A3C"/>
          </a:solidFill>
          <a:ln w="12700">
            <a:solidFill>
              <a:srgbClr val="1A3A3C"/>
            </a:solidFill>
            <a:prstDash val="solid"/>
          </a:ln>
        </p:spPr>
      </p:sp>
      <p:sp>
        <p:nvSpPr>
          <p:cNvPr id="20" name="Text 18"/>
          <p:cNvSpPr/>
          <p:nvPr/>
        </p:nvSpPr>
        <p:spPr>
          <a:xfrm>
            <a:off x="3429000" y="4224528"/>
            <a:ext cx="5486400" cy="256032"/>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Under any circumstances</a:t>
            </a:r>
            <a:endParaRPr lang="en-US" sz="1100" dirty="0"/>
          </a:p>
        </p:txBody>
      </p:sp>
      <p:sp>
        <p:nvSpPr>
          <p:cNvPr id="21" name="Text 19"/>
          <p:cNvSpPr/>
          <p:nvPr/>
        </p:nvSpPr>
        <p:spPr>
          <a:xfrm>
            <a:off x="3429000" y="4462272"/>
            <a:ext cx="548640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Avoid all unofficial APIs for a medical business</a:t>
            </a:r>
            <a:endParaRPr lang="en-US" sz="1150" dirty="0"/>
          </a:p>
        </p:txBody>
      </p:sp>
      <p:sp>
        <p:nvSpPr>
          <p:cNvPr id="22" name="Shape 20"/>
          <p:cNvSpPr/>
          <p:nvPr/>
        </p:nvSpPr>
        <p:spPr>
          <a:xfrm>
            <a:off x="3429000" y="4754880"/>
            <a:ext cx="5394960" cy="292608"/>
          </a:xfrm>
          <a:prstGeom prst="rect">
            <a:avLst/>
          </a:prstGeom>
          <a:solidFill>
            <a:srgbClr val="028090"/>
          </a:solidFill>
          <a:ln w="12700">
            <a:solidFill>
              <a:srgbClr val="028090"/>
            </a:solidFill>
            <a:prstDash val="solid"/>
          </a:ln>
        </p:spPr>
      </p:sp>
      <p:sp>
        <p:nvSpPr>
          <p:cNvPr id="23" name="Text 21"/>
          <p:cNvSpPr/>
          <p:nvPr/>
        </p:nvSpPr>
        <p:spPr>
          <a:xfrm>
            <a:off x="3474720" y="4773168"/>
            <a:ext cx="5303520" cy="25603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Questions? Ready to talk architecture, BSP embedded signup, or demo setup.</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WhatsApp vs SMS — Egyptian Medical Laboratories (Updated)</dc:title>
  <dc:subject>PptxGenJS Presentation</dc:subject>
  <dc:creator>PptxGenJS</dc:creator>
  <cp:lastModifiedBy>PptxGenJS</cp:lastModifiedBy>
  <cp:revision>1</cp:revision>
  <dcterms:created xsi:type="dcterms:W3CDTF">2026-05-14T20:00:38Z</dcterms:created>
  <dcterms:modified xsi:type="dcterms:W3CDTF">2026-05-14T20:00:38Z</dcterms:modified>
</cp:coreProperties>
</file>